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62" r:id="rId2"/>
    <p:sldId id="263" r:id="rId3"/>
    <p:sldId id="264" r:id="rId4"/>
    <p:sldId id="256" r:id="rId5"/>
    <p:sldId id="265" r:id="rId6"/>
    <p:sldId id="266" r:id="rId7"/>
    <p:sldId id="267" r:id="rId8"/>
    <p:sldId id="268" r:id="rId9"/>
    <p:sldId id="269" r:id="rId10"/>
  </p:sldIdLst>
  <p:sldSz cx="18288000" cy="10287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Inter" panose="020B0604020202020204" charset="0"/>
      <p:regular r:id="rId16"/>
    </p:embeddedFont>
    <p:embeddedFont>
      <p:font typeface="Inter Bold" panose="020B0604020202020204" charset="0"/>
      <p:regular r:id="rId17"/>
    </p:embeddedFont>
    <p:embeddedFont>
      <p:font typeface="Inter Semi-Bold" panose="020B0604020202020204" charset="0"/>
      <p:regular r:id="rId18"/>
    </p:embeddedFont>
    <p:embeddedFont>
      <p:font typeface="Inter Ultra-Bold" panose="020B0604020202020204" charset="0"/>
      <p:regular r:id="rId19"/>
    </p:embeddedFont>
    <p:embeddedFont>
      <p:font typeface="Microsoft New Tai Lue" panose="020B0502040204020203" pitchFamily="34" charset="0"/>
      <p:regular r:id="rId20"/>
      <p:bold r:id="rId21"/>
    </p:embeddedFont>
    <p:embeddedFont>
      <p:font typeface="Microsoft Tai Le" panose="020B0502040204020203" pitchFamily="34" charset="0"/>
      <p:regular r:id="rId22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ya Rana" initials="AR" lastIdx="1" clrIdx="0">
    <p:extLst>
      <p:ext uri="{19B8F6BF-5375-455C-9EA6-DF929625EA0E}">
        <p15:presenceInfo xmlns:p15="http://schemas.microsoft.com/office/powerpoint/2012/main" userId="dbd8d4df3821e9e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0FB"/>
    <a:srgbClr val="031882"/>
    <a:srgbClr val="5757FF"/>
    <a:srgbClr val="0D0C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85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202F6C-F5B8-4E28-9F43-30B7B668D62D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9768A-C3B1-4951-BC0C-287F1CDD31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3843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9768A-C3B1-4951-BC0C-287F1CDD31C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00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9768A-C3B1-4951-BC0C-287F1CDD31C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110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26" Type="http://schemas.openxmlformats.org/officeDocument/2006/relationships/image" Target="../media/image41.png"/><Relationship Id="rId3" Type="http://schemas.openxmlformats.org/officeDocument/2006/relationships/image" Target="../media/image18.png"/><Relationship Id="rId21" Type="http://schemas.openxmlformats.org/officeDocument/2006/relationships/image" Target="../media/image36.png"/><Relationship Id="rId34" Type="http://schemas.openxmlformats.org/officeDocument/2006/relationships/image" Target="../media/image49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40.png"/><Relationship Id="rId33" Type="http://schemas.openxmlformats.org/officeDocument/2006/relationships/image" Target="../media/image48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29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24" Type="http://schemas.openxmlformats.org/officeDocument/2006/relationships/image" Target="../media/image39.png"/><Relationship Id="rId32" Type="http://schemas.openxmlformats.org/officeDocument/2006/relationships/image" Target="../media/image47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23" Type="http://schemas.openxmlformats.org/officeDocument/2006/relationships/image" Target="../media/image38.png"/><Relationship Id="rId28" Type="http://schemas.openxmlformats.org/officeDocument/2006/relationships/image" Target="../media/image43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31" Type="http://schemas.openxmlformats.org/officeDocument/2006/relationships/image" Target="../media/image46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7.png"/><Relationship Id="rId27" Type="http://schemas.openxmlformats.org/officeDocument/2006/relationships/image" Target="../media/image42.png"/><Relationship Id="rId30" Type="http://schemas.openxmlformats.org/officeDocument/2006/relationships/image" Target="../media/image45.png"/><Relationship Id="rId35" Type="http://schemas.openxmlformats.org/officeDocument/2006/relationships/image" Target="../media/image50.png"/><Relationship Id="rId8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1.png"/><Relationship Id="rId18" Type="http://schemas.openxmlformats.org/officeDocument/2006/relationships/image" Target="../media/image66.png"/><Relationship Id="rId26" Type="http://schemas.openxmlformats.org/officeDocument/2006/relationships/image" Target="../media/image74.png"/><Relationship Id="rId39" Type="http://schemas.openxmlformats.org/officeDocument/2006/relationships/image" Target="../media/image87.png"/><Relationship Id="rId21" Type="http://schemas.openxmlformats.org/officeDocument/2006/relationships/image" Target="../media/image69.png"/><Relationship Id="rId34" Type="http://schemas.openxmlformats.org/officeDocument/2006/relationships/image" Target="../media/image82.png"/><Relationship Id="rId42" Type="http://schemas.openxmlformats.org/officeDocument/2006/relationships/image" Target="../media/image90.png"/><Relationship Id="rId47" Type="http://schemas.openxmlformats.org/officeDocument/2006/relationships/image" Target="../media/image95.png"/><Relationship Id="rId50" Type="http://schemas.openxmlformats.org/officeDocument/2006/relationships/image" Target="../media/image98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64.png"/><Relationship Id="rId29" Type="http://schemas.openxmlformats.org/officeDocument/2006/relationships/image" Target="../media/image77.png"/><Relationship Id="rId11" Type="http://schemas.openxmlformats.org/officeDocument/2006/relationships/image" Target="../media/image59.png"/><Relationship Id="rId24" Type="http://schemas.openxmlformats.org/officeDocument/2006/relationships/image" Target="../media/image72.png"/><Relationship Id="rId32" Type="http://schemas.openxmlformats.org/officeDocument/2006/relationships/image" Target="../media/image80.png"/><Relationship Id="rId37" Type="http://schemas.openxmlformats.org/officeDocument/2006/relationships/image" Target="../media/image85.png"/><Relationship Id="rId40" Type="http://schemas.openxmlformats.org/officeDocument/2006/relationships/image" Target="../media/image88.png"/><Relationship Id="rId45" Type="http://schemas.openxmlformats.org/officeDocument/2006/relationships/image" Target="../media/image93.png"/><Relationship Id="rId5" Type="http://schemas.openxmlformats.org/officeDocument/2006/relationships/image" Target="../media/image53.png"/><Relationship Id="rId15" Type="http://schemas.openxmlformats.org/officeDocument/2006/relationships/image" Target="../media/image63.png"/><Relationship Id="rId23" Type="http://schemas.openxmlformats.org/officeDocument/2006/relationships/image" Target="../media/image71.png"/><Relationship Id="rId28" Type="http://schemas.openxmlformats.org/officeDocument/2006/relationships/image" Target="../media/image76.png"/><Relationship Id="rId36" Type="http://schemas.openxmlformats.org/officeDocument/2006/relationships/image" Target="../media/image84.png"/><Relationship Id="rId49" Type="http://schemas.openxmlformats.org/officeDocument/2006/relationships/image" Target="../media/image97.png"/><Relationship Id="rId10" Type="http://schemas.openxmlformats.org/officeDocument/2006/relationships/image" Target="../media/image58.png"/><Relationship Id="rId19" Type="http://schemas.openxmlformats.org/officeDocument/2006/relationships/image" Target="../media/image67.png"/><Relationship Id="rId31" Type="http://schemas.openxmlformats.org/officeDocument/2006/relationships/image" Target="../media/image79.png"/><Relationship Id="rId44" Type="http://schemas.openxmlformats.org/officeDocument/2006/relationships/image" Target="../media/image92.png"/><Relationship Id="rId52" Type="http://schemas.openxmlformats.org/officeDocument/2006/relationships/image" Target="../media/image100.jpe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Relationship Id="rId22" Type="http://schemas.openxmlformats.org/officeDocument/2006/relationships/image" Target="../media/image70.png"/><Relationship Id="rId27" Type="http://schemas.openxmlformats.org/officeDocument/2006/relationships/image" Target="../media/image75.png"/><Relationship Id="rId30" Type="http://schemas.openxmlformats.org/officeDocument/2006/relationships/image" Target="../media/image78.png"/><Relationship Id="rId35" Type="http://schemas.openxmlformats.org/officeDocument/2006/relationships/image" Target="../media/image83.png"/><Relationship Id="rId43" Type="http://schemas.openxmlformats.org/officeDocument/2006/relationships/image" Target="../media/image91.png"/><Relationship Id="rId48" Type="http://schemas.openxmlformats.org/officeDocument/2006/relationships/image" Target="../media/image96.png"/><Relationship Id="rId8" Type="http://schemas.openxmlformats.org/officeDocument/2006/relationships/image" Target="../media/image56.png"/><Relationship Id="rId51" Type="http://schemas.openxmlformats.org/officeDocument/2006/relationships/image" Target="../media/image99.png"/><Relationship Id="rId3" Type="http://schemas.openxmlformats.org/officeDocument/2006/relationships/image" Target="../media/image51.png"/><Relationship Id="rId12" Type="http://schemas.openxmlformats.org/officeDocument/2006/relationships/image" Target="../media/image60.png"/><Relationship Id="rId17" Type="http://schemas.openxmlformats.org/officeDocument/2006/relationships/image" Target="../media/image65.png"/><Relationship Id="rId25" Type="http://schemas.openxmlformats.org/officeDocument/2006/relationships/image" Target="../media/image73.png"/><Relationship Id="rId33" Type="http://schemas.openxmlformats.org/officeDocument/2006/relationships/image" Target="../media/image81.png"/><Relationship Id="rId38" Type="http://schemas.openxmlformats.org/officeDocument/2006/relationships/image" Target="../media/image86.png"/><Relationship Id="rId46" Type="http://schemas.openxmlformats.org/officeDocument/2006/relationships/image" Target="../media/image94.png"/><Relationship Id="rId20" Type="http://schemas.openxmlformats.org/officeDocument/2006/relationships/image" Target="../media/image68.png"/><Relationship Id="rId41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2.png"/><Relationship Id="rId18" Type="http://schemas.openxmlformats.org/officeDocument/2006/relationships/image" Target="../media/image117.png"/><Relationship Id="rId26" Type="http://schemas.openxmlformats.org/officeDocument/2006/relationships/image" Target="../media/image125.png"/><Relationship Id="rId39" Type="http://schemas.openxmlformats.org/officeDocument/2006/relationships/image" Target="../media/image138.png"/><Relationship Id="rId21" Type="http://schemas.openxmlformats.org/officeDocument/2006/relationships/image" Target="../media/image120.png"/><Relationship Id="rId34" Type="http://schemas.openxmlformats.org/officeDocument/2006/relationships/image" Target="../media/image133.png"/><Relationship Id="rId7" Type="http://schemas.openxmlformats.org/officeDocument/2006/relationships/image" Target="../media/image106.png"/><Relationship Id="rId2" Type="http://schemas.openxmlformats.org/officeDocument/2006/relationships/image" Target="../media/image101.png"/><Relationship Id="rId16" Type="http://schemas.openxmlformats.org/officeDocument/2006/relationships/image" Target="../media/image115.png"/><Relationship Id="rId20" Type="http://schemas.openxmlformats.org/officeDocument/2006/relationships/image" Target="../media/image119.png"/><Relationship Id="rId29" Type="http://schemas.openxmlformats.org/officeDocument/2006/relationships/image" Target="../media/image128.png"/><Relationship Id="rId41" Type="http://schemas.openxmlformats.org/officeDocument/2006/relationships/image" Target="../media/image1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5.png"/><Relationship Id="rId11" Type="http://schemas.openxmlformats.org/officeDocument/2006/relationships/image" Target="../media/image110.png"/><Relationship Id="rId24" Type="http://schemas.openxmlformats.org/officeDocument/2006/relationships/image" Target="../media/image123.png"/><Relationship Id="rId32" Type="http://schemas.openxmlformats.org/officeDocument/2006/relationships/image" Target="../media/image131.png"/><Relationship Id="rId37" Type="http://schemas.openxmlformats.org/officeDocument/2006/relationships/image" Target="../media/image136.png"/><Relationship Id="rId40" Type="http://schemas.openxmlformats.org/officeDocument/2006/relationships/image" Target="../media/image139.png"/><Relationship Id="rId5" Type="http://schemas.openxmlformats.org/officeDocument/2006/relationships/image" Target="../media/image104.png"/><Relationship Id="rId15" Type="http://schemas.openxmlformats.org/officeDocument/2006/relationships/image" Target="../media/image114.png"/><Relationship Id="rId23" Type="http://schemas.openxmlformats.org/officeDocument/2006/relationships/image" Target="../media/image122.png"/><Relationship Id="rId28" Type="http://schemas.openxmlformats.org/officeDocument/2006/relationships/image" Target="../media/image127.png"/><Relationship Id="rId36" Type="http://schemas.openxmlformats.org/officeDocument/2006/relationships/image" Target="../media/image135.png"/><Relationship Id="rId10" Type="http://schemas.openxmlformats.org/officeDocument/2006/relationships/image" Target="../media/image109.png"/><Relationship Id="rId19" Type="http://schemas.openxmlformats.org/officeDocument/2006/relationships/image" Target="../media/image118.png"/><Relationship Id="rId31" Type="http://schemas.openxmlformats.org/officeDocument/2006/relationships/image" Target="../media/image130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Relationship Id="rId14" Type="http://schemas.openxmlformats.org/officeDocument/2006/relationships/image" Target="../media/image113.png"/><Relationship Id="rId22" Type="http://schemas.openxmlformats.org/officeDocument/2006/relationships/image" Target="../media/image121.png"/><Relationship Id="rId27" Type="http://schemas.openxmlformats.org/officeDocument/2006/relationships/image" Target="../media/image126.png"/><Relationship Id="rId30" Type="http://schemas.openxmlformats.org/officeDocument/2006/relationships/image" Target="../media/image129.png"/><Relationship Id="rId35" Type="http://schemas.openxmlformats.org/officeDocument/2006/relationships/image" Target="../media/image134.png"/><Relationship Id="rId8" Type="http://schemas.openxmlformats.org/officeDocument/2006/relationships/image" Target="../media/image107.png"/><Relationship Id="rId3" Type="http://schemas.openxmlformats.org/officeDocument/2006/relationships/image" Target="../media/image102.png"/><Relationship Id="rId12" Type="http://schemas.openxmlformats.org/officeDocument/2006/relationships/image" Target="../media/image111.png"/><Relationship Id="rId17" Type="http://schemas.openxmlformats.org/officeDocument/2006/relationships/image" Target="../media/image116.png"/><Relationship Id="rId25" Type="http://schemas.openxmlformats.org/officeDocument/2006/relationships/image" Target="../media/image124.png"/><Relationship Id="rId33" Type="http://schemas.openxmlformats.org/officeDocument/2006/relationships/image" Target="../media/image132.png"/><Relationship Id="rId38" Type="http://schemas.openxmlformats.org/officeDocument/2006/relationships/image" Target="../media/image137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2.png"/><Relationship Id="rId18" Type="http://schemas.openxmlformats.org/officeDocument/2006/relationships/image" Target="../media/image157.png"/><Relationship Id="rId26" Type="http://schemas.openxmlformats.org/officeDocument/2006/relationships/image" Target="../media/image165.png"/><Relationship Id="rId39" Type="http://schemas.openxmlformats.org/officeDocument/2006/relationships/image" Target="../media/image178.png"/><Relationship Id="rId21" Type="http://schemas.openxmlformats.org/officeDocument/2006/relationships/image" Target="../media/image160.png"/><Relationship Id="rId34" Type="http://schemas.openxmlformats.org/officeDocument/2006/relationships/image" Target="../media/image173.png"/><Relationship Id="rId42" Type="http://schemas.openxmlformats.org/officeDocument/2006/relationships/image" Target="../media/image181.png"/><Relationship Id="rId47" Type="http://schemas.openxmlformats.org/officeDocument/2006/relationships/image" Target="../media/image186.png"/><Relationship Id="rId50" Type="http://schemas.openxmlformats.org/officeDocument/2006/relationships/image" Target="../media/image189.png"/><Relationship Id="rId55" Type="http://schemas.openxmlformats.org/officeDocument/2006/relationships/image" Target="../media/image194.png"/><Relationship Id="rId7" Type="http://schemas.openxmlformats.org/officeDocument/2006/relationships/image" Target="../media/image146.png"/><Relationship Id="rId2" Type="http://schemas.openxmlformats.org/officeDocument/2006/relationships/image" Target="../media/image141.png"/><Relationship Id="rId16" Type="http://schemas.openxmlformats.org/officeDocument/2006/relationships/image" Target="../media/image155.png"/><Relationship Id="rId29" Type="http://schemas.openxmlformats.org/officeDocument/2006/relationships/image" Target="../media/image168.png"/><Relationship Id="rId11" Type="http://schemas.openxmlformats.org/officeDocument/2006/relationships/image" Target="../media/image150.png"/><Relationship Id="rId24" Type="http://schemas.openxmlformats.org/officeDocument/2006/relationships/image" Target="../media/image163.png"/><Relationship Id="rId32" Type="http://schemas.openxmlformats.org/officeDocument/2006/relationships/image" Target="../media/image171.png"/><Relationship Id="rId37" Type="http://schemas.openxmlformats.org/officeDocument/2006/relationships/image" Target="../media/image176.png"/><Relationship Id="rId40" Type="http://schemas.openxmlformats.org/officeDocument/2006/relationships/image" Target="../media/image179.png"/><Relationship Id="rId45" Type="http://schemas.openxmlformats.org/officeDocument/2006/relationships/image" Target="../media/image184.png"/><Relationship Id="rId53" Type="http://schemas.openxmlformats.org/officeDocument/2006/relationships/image" Target="../media/image192.png"/><Relationship Id="rId58" Type="http://schemas.openxmlformats.org/officeDocument/2006/relationships/image" Target="../media/image197.png"/><Relationship Id="rId5" Type="http://schemas.openxmlformats.org/officeDocument/2006/relationships/image" Target="../media/image144.png"/><Relationship Id="rId61" Type="http://schemas.openxmlformats.org/officeDocument/2006/relationships/image" Target="../media/image200.png"/><Relationship Id="rId19" Type="http://schemas.openxmlformats.org/officeDocument/2006/relationships/image" Target="../media/image158.png"/><Relationship Id="rId14" Type="http://schemas.openxmlformats.org/officeDocument/2006/relationships/image" Target="../media/image153.png"/><Relationship Id="rId22" Type="http://schemas.openxmlformats.org/officeDocument/2006/relationships/image" Target="../media/image161.png"/><Relationship Id="rId27" Type="http://schemas.openxmlformats.org/officeDocument/2006/relationships/image" Target="../media/image166.png"/><Relationship Id="rId30" Type="http://schemas.openxmlformats.org/officeDocument/2006/relationships/image" Target="../media/image169.png"/><Relationship Id="rId35" Type="http://schemas.openxmlformats.org/officeDocument/2006/relationships/image" Target="../media/image174.png"/><Relationship Id="rId43" Type="http://schemas.openxmlformats.org/officeDocument/2006/relationships/image" Target="../media/image182.png"/><Relationship Id="rId48" Type="http://schemas.openxmlformats.org/officeDocument/2006/relationships/image" Target="../media/image187.png"/><Relationship Id="rId56" Type="http://schemas.openxmlformats.org/officeDocument/2006/relationships/image" Target="../media/image195.png"/><Relationship Id="rId8" Type="http://schemas.openxmlformats.org/officeDocument/2006/relationships/image" Target="../media/image147.png"/><Relationship Id="rId51" Type="http://schemas.openxmlformats.org/officeDocument/2006/relationships/image" Target="../media/image190.png"/><Relationship Id="rId3" Type="http://schemas.openxmlformats.org/officeDocument/2006/relationships/image" Target="../media/image142.png"/><Relationship Id="rId12" Type="http://schemas.openxmlformats.org/officeDocument/2006/relationships/image" Target="../media/image151.png"/><Relationship Id="rId17" Type="http://schemas.openxmlformats.org/officeDocument/2006/relationships/image" Target="../media/image156.png"/><Relationship Id="rId25" Type="http://schemas.openxmlformats.org/officeDocument/2006/relationships/image" Target="../media/image164.png"/><Relationship Id="rId33" Type="http://schemas.openxmlformats.org/officeDocument/2006/relationships/image" Target="../media/image172.png"/><Relationship Id="rId38" Type="http://schemas.openxmlformats.org/officeDocument/2006/relationships/image" Target="../media/image177.png"/><Relationship Id="rId46" Type="http://schemas.openxmlformats.org/officeDocument/2006/relationships/image" Target="../media/image185.png"/><Relationship Id="rId59" Type="http://schemas.openxmlformats.org/officeDocument/2006/relationships/image" Target="../media/image198.png"/><Relationship Id="rId20" Type="http://schemas.openxmlformats.org/officeDocument/2006/relationships/image" Target="../media/image159.png"/><Relationship Id="rId41" Type="http://schemas.openxmlformats.org/officeDocument/2006/relationships/image" Target="../media/image180.png"/><Relationship Id="rId54" Type="http://schemas.openxmlformats.org/officeDocument/2006/relationships/image" Target="../media/image1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5.png"/><Relationship Id="rId15" Type="http://schemas.openxmlformats.org/officeDocument/2006/relationships/image" Target="../media/image154.png"/><Relationship Id="rId23" Type="http://schemas.openxmlformats.org/officeDocument/2006/relationships/image" Target="../media/image162.png"/><Relationship Id="rId28" Type="http://schemas.openxmlformats.org/officeDocument/2006/relationships/image" Target="../media/image167.png"/><Relationship Id="rId36" Type="http://schemas.openxmlformats.org/officeDocument/2006/relationships/image" Target="../media/image175.png"/><Relationship Id="rId49" Type="http://schemas.openxmlformats.org/officeDocument/2006/relationships/image" Target="../media/image188.png"/><Relationship Id="rId57" Type="http://schemas.openxmlformats.org/officeDocument/2006/relationships/image" Target="../media/image196.png"/><Relationship Id="rId10" Type="http://schemas.openxmlformats.org/officeDocument/2006/relationships/image" Target="../media/image149.png"/><Relationship Id="rId31" Type="http://schemas.openxmlformats.org/officeDocument/2006/relationships/image" Target="../media/image170.png"/><Relationship Id="rId44" Type="http://schemas.openxmlformats.org/officeDocument/2006/relationships/image" Target="../media/image183.png"/><Relationship Id="rId52" Type="http://schemas.openxmlformats.org/officeDocument/2006/relationships/image" Target="../media/image191.png"/><Relationship Id="rId60" Type="http://schemas.openxmlformats.org/officeDocument/2006/relationships/image" Target="../media/image199.png"/><Relationship Id="rId4" Type="http://schemas.openxmlformats.org/officeDocument/2006/relationships/image" Target="../media/image143.png"/><Relationship Id="rId9" Type="http://schemas.openxmlformats.org/officeDocument/2006/relationships/image" Target="../media/image14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png"/><Relationship Id="rId13" Type="http://schemas.openxmlformats.org/officeDocument/2006/relationships/image" Target="../media/image212.png"/><Relationship Id="rId18" Type="http://schemas.openxmlformats.org/officeDocument/2006/relationships/image" Target="../media/image217.png"/><Relationship Id="rId3" Type="http://schemas.openxmlformats.org/officeDocument/2006/relationships/image" Target="../media/image202.png"/><Relationship Id="rId21" Type="http://schemas.openxmlformats.org/officeDocument/2006/relationships/image" Target="../media/image220.png"/><Relationship Id="rId7" Type="http://schemas.openxmlformats.org/officeDocument/2006/relationships/image" Target="../media/image206.png"/><Relationship Id="rId12" Type="http://schemas.openxmlformats.org/officeDocument/2006/relationships/image" Target="../media/image211.png"/><Relationship Id="rId17" Type="http://schemas.openxmlformats.org/officeDocument/2006/relationships/image" Target="../media/image216.png"/><Relationship Id="rId2" Type="http://schemas.openxmlformats.org/officeDocument/2006/relationships/image" Target="../media/image201.png"/><Relationship Id="rId16" Type="http://schemas.openxmlformats.org/officeDocument/2006/relationships/image" Target="../media/image215.png"/><Relationship Id="rId20" Type="http://schemas.openxmlformats.org/officeDocument/2006/relationships/image" Target="../media/image2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5.png"/><Relationship Id="rId11" Type="http://schemas.openxmlformats.org/officeDocument/2006/relationships/image" Target="../media/image210.png"/><Relationship Id="rId5" Type="http://schemas.openxmlformats.org/officeDocument/2006/relationships/image" Target="../media/image204.png"/><Relationship Id="rId15" Type="http://schemas.openxmlformats.org/officeDocument/2006/relationships/image" Target="../media/image214.png"/><Relationship Id="rId10" Type="http://schemas.openxmlformats.org/officeDocument/2006/relationships/image" Target="../media/image209.png"/><Relationship Id="rId19" Type="http://schemas.openxmlformats.org/officeDocument/2006/relationships/image" Target="../media/image218.png"/><Relationship Id="rId4" Type="http://schemas.openxmlformats.org/officeDocument/2006/relationships/image" Target="../media/image203.png"/><Relationship Id="rId9" Type="http://schemas.openxmlformats.org/officeDocument/2006/relationships/image" Target="../media/image208.png"/><Relationship Id="rId14" Type="http://schemas.openxmlformats.org/officeDocument/2006/relationships/image" Target="../media/image213.png"/><Relationship Id="rId22" Type="http://schemas.openxmlformats.org/officeDocument/2006/relationships/image" Target="../media/image2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png"/><Relationship Id="rId13" Type="http://schemas.openxmlformats.org/officeDocument/2006/relationships/image" Target="../media/image232.png"/><Relationship Id="rId18" Type="http://schemas.openxmlformats.org/officeDocument/2006/relationships/image" Target="../media/image237.png"/><Relationship Id="rId26" Type="http://schemas.openxmlformats.org/officeDocument/2006/relationships/image" Target="../media/image245.png"/><Relationship Id="rId3" Type="http://schemas.openxmlformats.org/officeDocument/2006/relationships/image" Target="../media/image222.png"/><Relationship Id="rId21" Type="http://schemas.openxmlformats.org/officeDocument/2006/relationships/image" Target="../media/image240.png"/><Relationship Id="rId7" Type="http://schemas.openxmlformats.org/officeDocument/2006/relationships/image" Target="../media/image226.png"/><Relationship Id="rId12" Type="http://schemas.openxmlformats.org/officeDocument/2006/relationships/image" Target="../media/image231.png"/><Relationship Id="rId17" Type="http://schemas.openxmlformats.org/officeDocument/2006/relationships/image" Target="../media/image236.png"/><Relationship Id="rId25" Type="http://schemas.openxmlformats.org/officeDocument/2006/relationships/image" Target="../media/image24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35.png"/><Relationship Id="rId20" Type="http://schemas.openxmlformats.org/officeDocument/2006/relationships/image" Target="../media/image2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5.png"/><Relationship Id="rId11" Type="http://schemas.openxmlformats.org/officeDocument/2006/relationships/image" Target="../media/image230.png"/><Relationship Id="rId24" Type="http://schemas.openxmlformats.org/officeDocument/2006/relationships/image" Target="../media/image243.png"/><Relationship Id="rId5" Type="http://schemas.openxmlformats.org/officeDocument/2006/relationships/image" Target="../media/image224.png"/><Relationship Id="rId15" Type="http://schemas.openxmlformats.org/officeDocument/2006/relationships/image" Target="../media/image234.png"/><Relationship Id="rId23" Type="http://schemas.openxmlformats.org/officeDocument/2006/relationships/image" Target="../media/image242.png"/><Relationship Id="rId10" Type="http://schemas.openxmlformats.org/officeDocument/2006/relationships/image" Target="../media/image229.png"/><Relationship Id="rId19" Type="http://schemas.openxmlformats.org/officeDocument/2006/relationships/image" Target="../media/image238.png"/><Relationship Id="rId4" Type="http://schemas.openxmlformats.org/officeDocument/2006/relationships/image" Target="../media/image223.png"/><Relationship Id="rId9" Type="http://schemas.openxmlformats.org/officeDocument/2006/relationships/image" Target="../media/image228.png"/><Relationship Id="rId14" Type="http://schemas.openxmlformats.org/officeDocument/2006/relationships/image" Target="../media/image233.png"/><Relationship Id="rId22" Type="http://schemas.openxmlformats.org/officeDocument/2006/relationships/image" Target="../media/image241.png"/><Relationship Id="rId27" Type="http://schemas.openxmlformats.org/officeDocument/2006/relationships/image" Target="../media/image24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3.png"/><Relationship Id="rId13" Type="http://schemas.openxmlformats.org/officeDocument/2006/relationships/image" Target="../media/image258.png"/><Relationship Id="rId18" Type="http://schemas.openxmlformats.org/officeDocument/2006/relationships/image" Target="../media/image263.png"/><Relationship Id="rId26" Type="http://schemas.openxmlformats.org/officeDocument/2006/relationships/image" Target="../media/image271.png"/><Relationship Id="rId3" Type="http://schemas.openxmlformats.org/officeDocument/2006/relationships/image" Target="../media/image248.png"/><Relationship Id="rId21" Type="http://schemas.openxmlformats.org/officeDocument/2006/relationships/image" Target="../media/image266.png"/><Relationship Id="rId7" Type="http://schemas.openxmlformats.org/officeDocument/2006/relationships/image" Target="../media/image252.png"/><Relationship Id="rId12" Type="http://schemas.openxmlformats.org/officeDocument/2006/relationships/image" Target="../media/image257.png"/><Relationship Id="rId17" Type="http://schemas.openxmlformats.org/officeDocument/2006/relationships/image" Target="../media/image262.png"/><Relationship Id="rId25" Type="http://schemas.openxmlformats.org/officeDocument/2006/relationships/image" Target="../media/image270.png"/><Relationship Id="rId2" Type="http://schemas.openxmlformats.org/officeDocument/2006/relationships/image" Target="../media/image247.png"/><Relationship Id="rId16" Type="http://schemas.openxmlformats.org/officeDocument/2006/relationships/image" Target="../media/image261.png"/><Relationship Id="rId20" Type="http://schemas.openxmlformats.org/officeDocument/2006/relationships/image" Target="../media/image265.png"/><Relationship Id="rId29" Type="http://schemas.openxmlformats.org/officeDocument/2006/relationships/image" Target="../media/image27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1.png"/><Relationship Id="rId11" Type="http://schemas.openxmlformats.org/officeDocument/2006/relationships/image" Target="../media/image256.png"/><Relationship Id="rId24" Type="http://schemas.openxmlformats.org/officeDocument/2006/relationships/image" Target="../media/image269.png"/><Relationship Id="rId32" Type="http://schemas.openxmlformats.org/officeDocument/2006/relationships/image" Target="../media/image277.png"/><Relationship Id="rId5" Type="http://schemas.openxmlformats.org/officeDocument/2006/relationships/image" Target="../media/image250.png"/><Relationship Id="rId15" Type="http://schemas.openxmlformats.org/officeDocument/2006/relationships/image" Target="../media/image260.png"/><Relationship Id="rId23" Type="http://schemas.openxmlformats.org/officeDocument/2006/relationships/image" Target="../media/image268.png"/><Relationship Id="rId28" Type="http://schemas.openxmlformats.org/officeDocument/2006/relationships/image" Target="../media/image273.png"/><Relationship Id="rId10" Type="http://schemas.openxmlformats.org/officeDocument/2006/relationships/image" Target="../media/image255.png"/><Relationship Id="rId19" Type="http://schemas.openxmlformats.org/officeDocument/2006/relationships/image" Target="../media/image264.png"/><Relationship Id="rId31" Type="http://schemas.openxmlformats.org/officeDocument/2006/relationships/image" Target="../media/image276.png"/><Relationship Id="rId4" Type="http://schemas.openxmlformats.org/officeDocument/2006/relationships/image" Target="../media/image249.png"/><Relationship Id="rId9" Type="http://schemas.openxmlformats.org/officeDocument/2006/relationships/image" Target="../media/image254.png"/><Relationship Id="rId14" Type="http://schemas.openxmlformats.org/officeDocument/2006/relationships/image" Target="../media/image259.png"/><Relationship Id="rId22" Type="http://schemas.openxmlformats.org/officeDocument/2006/relationships/image" Target="../media/image267.png"/><Relationship Id="rId27" Type="http://schemas.openxmlformats.org/officeDocument/2006/relationships/image" Target="../media/image272.png"/><Relationship Id="rId30" Type="http://schemas.openxmlformats.org/officeDocument/2006/relationships/image" Target="../media/image27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4.png"/><Relationship Id="rId13" Type="http://schemas.openxmlformats.org/officeDocument/2006/relationships/image" Target="../media/image289.png"/><Relationship Id="rId18" Type="http://schemas.openxmlformats.org/officeDocument/2006/relationships/image" Target="../media/image294.png"/><Relationship Id="rId3" Type="http://schemas.openxmlformats.org/officeDocument/2006/relationships/image" Target="../media/image279.png"/><Relationship Id="rId7" Type="http://schemas.openxmlformats.org/officeDocument/2006/relationships/image" Target="../media/image283.png"/><Relationship Id="rId12" Type="http://schemas.openxmlformats.org/officeDocument/2006/relationships/image" Target="../media/image288.png"/><Relationship Id="rId17" Type="http://schemas.openxmlformats.org/officeDocument/2006/relationships/image" Target="../media/image293.png"/><Relationship Id="rId2" Type="http://schemas.openxmlformats.org/officeDocument/2006/relationships/image" Target="../media/image278.png"/><Relationship Id="rId16" Type="http://schemas.openxmlformats.org/officeDocument/2006/relationships/image" Target="../media/image292.png"/><Relationship Id="rId20" Type="http://schemas.openxmlformats.org/officeDocument/2006/relationships/image" Target="../media/image2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2.png"/><Relationship Id="rId11" Type="http://schemas.openxmlformats.org/officeDocument/2006/relationships/image" Target="../media/image287.png"/><Relationship Id="rId5" Type="http://schemas.openxmlformats.org/officeDocument/2006/relationships/image" Target="../media/image281.png"/><Relationship Id="rId15" Type="http://schemas.openxmlformats.org/officeDocument/2006/relationships/image" Target="../media/image291.png"/><Relationship Id="rId10" Type="http://schemas.openxmlformats.org/officeDocument/2006/relationships/image" Target="../media/image286.png"/><Relationship Id="rId19" Type="http://schemas.openxmlformats.org/officeDocument/2006/relationships/image" Target="../media/image295.png"/><Relationship Id="rId4" Type="http://schemas.openxmlformats.org/officeDocument/2006/relationships/image" Target="../media/image280.png"/><Relationship Id="rId9" Type="http://schemas.openxmlformats.org/officeDocument/2006/relationships/image" Target="../media/image285.png"/><Relationship Id="rId14" Type="http://schemas.openxmlformats.org/officeDocument/2006/relationships/image" Target="../media/image2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735"/>
            <a:ext cx="18288000" cy="10292469"/>
          </a:xfrm>
          <a:custGeom>
            <a:avLst/>
            <a:gdLst/>
            <a:ahLst/>
            <a:cxnLst/>
            <a:rect l="l" t="t" r="r" b="b"/>
            <a:pathLst>
              <a:path w="15925800" h="8963025">
                <a:moveTo>
                  <a:pt x="0" y="0"/>
                </a:moveTo>
                <a:lnTo>
                  <a:pt x="15925800" y="0"/>
                </a:lnTo>
                <a:lnTo>
                  <a:pt x="15925800" y="8963025"/>
                </a:lnTo>
                <a:lnTo>
                  <a:pt x="0" y="89630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>
              <a:latin typeface="Microsoft New Tai Lue" panose="020B0502040204020203" pitchFamily="34" charset="0"/>
              <a:cs typeface="Microsoft New Tai Lue" panose="020B0502040204020203" pitchFamily="34" charset="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227669" y="295907"/>
            <a:ext cx="2841131" cy="4244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42"/>
              </a:lnSpc>
            </a:pPr>
            <a:r>
              <a:rPr lang="en-US" sz="2783" b="1" dirty="0">
                <a:solidFill>
                  <a:srgbClr val="0A74FF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Colossal-a-Pitch</a:t>
            </a:r>
          </a:p>
        </p:txBody>
      </p:sp>
      <p:sp>
        <p:nvSpPr>
          <p:cNvPr id="7" name="Freeform 7"/>
          <p:cNvSpPr/>
          <p:nvPr/>
        </p:nvSpPr>
        <p:spPr>
          <a:xfrm>
            <a:off x="207818" y="1282457"/>
            <a:ext cx="17872364" cy="229694"/>
          </a:xfrm>
          <a:custGeom>
            <a:avLst/>
            <a:gdLst/>
            <a:ahLst/>
            <a:cxnLst/>
            <a:rect l="l" t="t" r="r" b="b"/>
            <a:pathLst>
              <a:path w="15563850" h="200025">
                <a:moveTo>
                  <a:pt x="0" y="0"/>
                </a:moveTo>
                <a:lnTo>
                  <a:pt x="15563850" y="0"/>
                </a:lnTo>
                <a:lnTo>
                  <a:pt x="15563850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95876" y="1789024"/>
            <a:ext cx="7385111" cy="1614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972"/>
              </a:lnSpc>
            </a:pPr>
            <a:r>
              <a:rPr lang="en-US" sz="11972" b="1" spc="-356" dirty="0">
                <a:solidFill>
                  <a:srgbClr val="004DBB"/>
                </a:solidFill>
                <a:latin typeface="Microsoft New Tai Lue" panose="020B0502040204020203" pitchFamily="34" charset="0"/>
                <a:ea typeface="Poppins Bold"/>
                <a:cs typeface="Microsoft New Tai Lue" panose="020B0502040204020203" pitchFamily="34" charset="0"/>
                <a:sym typeface="Poppins Bold"/>
              </a:rPr>
              <a:t>APRAJITA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79730" y="3296741"/>
            <a:ext cx="8999634" cy="956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00"/>
              </a:lnSpc>
            </a:pPr>
            <a:r>
              <a:rPr lang="en-US" sz="7100" b="1" dirty="0">
                <a:solidFill>
                  <a:srgbClr val="051434"/>
                </a:solidFill>
                <a:latin typeface="Microsoft New Tai Lue" panose="020B0502040204020203" pitchFamily="34" charset="0"/>
                <a:ea typeface="Poppins Bold"/>
                <a:cs typeface="Microsoft New Tai Lue" panose="020B0502040204020203" pitchFamily="34" charset="0"/>
                <a:sym typeface="Poppins Bold"/>
              </a:rPr>
              <a:t>THE SURAKSHA KEY</a:t>
            </a:r>
          </a:p>
        </p:txBody>
      </p:sp>
      <p:sp>
        <p:nvSpPr>
          <p:cNvPr id="10" name="Freeform 10"/>
          <p:cNvSpPr/>
          <p:nvPr/>
        </p:nvSpPr>
        <p:spPr>
          <a:xfrm>
            <a:off x="645331" y="4290352"/>
            <a:ext cx="1542230" cy="437512"/>
          </a:xfrm>
          <a:custGeom>
            <a:avLst/>
            <a:gdLst/>
            <a:ahLst/>
            <a:cxnLst/>
            <a:rect l="l" t="t" r="r" b="b"/>
            <a:pathLst>
              <a:path w="1343025" h="381000">
                <a:moveTo>
                  <a:pt x="0" y="0"/>
                </a:moveTo>
                <a:lnTo>
                  <a:pt x="1343025" y="0"/>
                </a:lnTo>
                <a:lnTo>
                  <a:pt x="13430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65748" y="4835639"/>
            <a:ext cx="10397936" cy="1667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46"/>
              </a:lnSpc>
            </a:pPr>
            <a:r>
              <a:rPr lang="en-US" sz="2036" dirty="0">
                <a:solidFill>
                  <a:srgbClr val="292E4B"/>
                </a:solidFill>
                <a:latin typeface="Microsoft New Tai Lue" panose="020B0502040204020203" pitchFamily="34" charset="0"/>
                <a:ea typeface="Inter"/>
                <a:cs typeface="Microsoft New Tai Lue" panose="020B0502040204020203" pitchFamily="34" charset="0"/>
                <a:sym typeface="Inter"/>
              </a:rPr>
              <a:t>When danger strikes, reaching for a phone can be too slow or impossible.</a:t>
            </a:r>
          </a:p>
          <a:p>
            <a:pPr>
              <a:lnSpc>
                <a:spcPts val="2646"/>
              </a:lnSpc>
            </a:pPr>
            <a:r>
              <a:rPr lang="en-US" sz="2036" dirty="0">
                <a:solidFill>
                  <a:srgbClr val="292E4B"/>
                </a:solidFill>
                <a:latin typeface="Microsoft New Tai Lue" panose="020B0502040204020203" pitchFamily="34" charset="0"/>
                <a:ea typeface="Inter"/>
                <a:cs typeface="Microsoft New Tai Lue" panose="020B0502040204020203" pitchFamily="34" charset="0"/>
                <a:sym typeface="Inter"/>
              </a:rPr>
              <a:t> Existing safety systems rely on </a:t>
            </a:r>
            <a:r>
              <a:rPr lang="en-US" sz="2036" b="1" dirty="0">
                <a:solidFill>
                  <a:srgbClr val="292E4B"/>
                </a:solidFill>
                <a:latin typeface="Microsoft New Tai Lue" panose="020B0502040204020203" pitchFamily="34" charset="0"/>
                <a:ea typeface="Inter"/>
                <a:cs typeface="Microsoft New Tai Lue" panose="020B0502040204020203" pitchFamily="34" charset="0"/>
                <a:sym typeface="Inter"/>
              </a:rPr>
              <a:t>phones</a:t>
            </a:r>
            <a:r>
              <a:rPr lang="en-US" sz="2036" dirty="0">
                <a:solidFill>
                  <a:srgbClr val="292E4B"/>
                </a:solidFill>
                <a:latin typeface="Microsoft New Tai Lue" panose="020B0502040204020203" pitchFamily="34" charset="0"/>
                <a:ea typeface="Inter"/>
                <a:cs typeface="Microsoft New Tai Lue" panose="020B0502040204020203" pitchFamily="34" charset="0"/>
                <a:sym typeface="Inter"/>
              </a:rPr>
              <a:t>, </a:t>
            </a:r>
            <a:r>
              <a:rPr lang="en-US" sz="2036" b="1" dirty="0">
                <a:solidFill>
                  <a:srgbClr val="292E4B"/>
                </a:solidFill>
                <a:latin typeface="Microsoft New Tai Lue" panose="020B0502040204020203" pitchFamily="34" charset="0"/>
                <a:ea typeface="Inter"/>
                <a:cs typeface="Microsoft New Tai Lue" panose="020B0502040204020203" pitchFamily="34" charset="0"/>
                <a:sym typeface="Inter"/>
              </a:rPr>
              <a:t>GPS</a:t>
            </a:r>
            <a:r>
              <a:rPr lang="en-US" sz="2036" dirty="0">
                <a:solidFill>
                  <a:srgbClr val="292E4B"/>
                </a:solidFill>
                <a:latin typeface="Microsoft New Tai Lue" panose="020B0502040204020203" pitchFamily="34" charset="0"/>
                <a:ea typeface="Inter"/>
                <a:cs typeface="Microsoft New Tai Lue" panose="020B0502040204020203" pitchFamily="34" charset="0"/>
                <a:sym typeface="Inter"/>
              </a:rPr>
              <a:t>, and connectivity, which may fail when they matter most.</a:t>
            </a:r>
          </a:p>
          <a:p>
            <a:pPr>
              <a:lnSpc>
                <a:spcPts val="2646"/>
              </a:lnSpc>
            </a:pPr>
            <a:r>
              <a:rPr lang="en-US" sz="2036" dirty="0">
                <a:solidFill>
                  <a:srgbClr val="292E4B"/>
                </a:solidFill>
                <a:latin typeface="Microsoft New Tai Lue" panose="020B0502040204020203" pitchFamily="34" charset="0"/>
                <a:ea typeface="Inter"/>
                <a:cs typeface="Microsoft New Tai Lue" panose="020B0502040204020203" pitchFamily="34" charset="0"/>
                <a:sym typeface="Inter"/>
              </a:rPr>
              <a:t>Women need a discreet way to </a:t>
            </a:r>
            <a:r>
              <a:rPr lang="en-US" sz="2036" b="1" dirty="0">
                <a:solidFill>
                  <a:srgbClr val="292E4B"/>
                </a:solidFill>
                <a:latin typeface="Microsoft New Tai Lue" panose="020B0502040204020203" pitchFamily="34" charset="0"/>
                <a:ea typeface="Inter"/>
                <a:cs typeface="Microsoft New Tai Lue" panose="020B0502040204020203" pitchFamily="34" charset="0"/>
                <a:sym typeface="Inter"/>
              </a:rPr>
              <a:t>signal</a:t>
            </a:r>
            <a:r>
              <a:rPr lang="en-US" sz="2036" dirty="0">
                <a:solidFill>
                  <a:srgbClr val="292E4B"/>
                </a:solidFill>
                <a:latin typeface="Microsoft New Tai Lue" panose="020B0502040204020203" pitchFamily="34" charset="0"/>
                <a:ea typeface="Inter"/>
                <a:cs typeface="Microsoft New Tai Lue" panose="020B0502040204020203" pitchFamily="34" charset="0"/>
                <a:sym typeface="Inter"/>
              </a:rPr>
              <a:t>, share their </a:t>
            </a:r>
            <a:r>
              <a:rPr lang="en-US" sz="2036" b="1" dirty="0">
                <a:solidFill>
                  <a:srgbClr val="292E4B"/>
                </a:solidFill>
                <a:latin typeface="Microsoft New Tai Lue" panose="020B0502040204020203" pitchFamily="34" charset="0"/>
                <a:ea typeface="Inter"/>
                <a:cs typeface="Microsoft New Tai Lue" panose="020B0502040204020203" pitchFamily="34" charset="0"/>
                <a:sym typeface="Inter"/>
              </a:rPr>
              <a:t>location</a:t>
            </a:r>
            <a:r>
              <a:rPr lang="en-US" sz="2036" dirty="0">
                <a:solidFill>
                  <a:srgbClr val="292E4B"/>
                </a:solidFill>
                <a:latin typeface="Microsoft New Tai Lue" panose="020B0502040204020203" pitchFamily="34" charset="0"/>
                <a:ea typeface="Inter"/>
                <a:cs typeface="Microsoft New Tai Lue" panose="020B0502040204020203" pitchFamily="34" charset="0"/>
                <a:sym typeface="Inter"/>
              </a:rPr>
              <a:t>, and get </a:t>
            </a:r>
            <a:r>
              <a:rPr lang="en-US" sz="2036" b="1" dirty="0">
                <a:solidFill>
                  <a:srgbClr val="292E4B"/>
                </a:solidFill>
                <a:latin typeface="Microsoft New Tai Lue" panose="020B0502040204020203" pitchFamily="34" charset="0"/>
                <a:ea typeface="Inter"/>
                <a:cs typeface="Microsoft New Tai Lue" panose="020B0502040204020203" pitchFamily="34" charset="0"/>
                <a:sym typeface="Inter"/>
              </a:rPr>
              <a:t>help</a:t>
            </a:r>
            <a:r>
              <a:rPr lang="en-US" sz="2036" dirty="0">
                <a:solidFill>
                  <a:srgbClr val="292E4B"/>
                </a:solidFill>
                <a:latin typeface="Microsoft New Tai Lue" panose="020B0502040204020203" pitchFamily="34" charset="0"/>
                <a:ea typeface="Inter"/>
                <a:cs typeface="Microsoft New Tai Lue" panose="020B0502040204020203" pitchFamily="34" charset="0"/>
                <a:sym typeface="Inter"/>
              </a:rPr>
              <a:t> </a:t>
            </a:r>
            <a:r>
              <a:rPr lang="en-US" sz="2036" b="1" dirty="0">
                <a:solidFill>
                  <a:srgbClr val="292E4B"/>
                </a:solidFill>
                <a:latin typeface="Microsoft New Tai Lue" panose="020B0502040204020203" pitchFamily="34" charset="0"/>
                <a:ea typeface="Inter"/>
                <a:cs typeface="Microsoft New Tai Lue" panose="020B0502040204020203" pitchFamily="34" charset="0"/>
                <a:sym typeface="Inter"/>
              </a:rPr>
              <a:t>instantly</a:t>
            </a:r>
            <a:r>
              <a:rPr lang="en-US" sz="2036" dirty="0">
                <a:solidFill>
                  <a:srgbClr val="292E4B"/>
                </a:solidFill>
                <a:latin typeface="Microsoft New Tai Lue" panose="020B0502040204020203" pitchFamily="34" charset="0"/>
                <a:ea typeface="Inter"/>
                <a:cs typeface="Microsoft New Tai Lue" panose="020B0502040204020203" pitchFamily="34" charset="0"/>
                <a:sym typeface="Inter"/>
              </a:rPr>
              <a:t>.</a:t>
            </a:r>
          </a:p>
          <a:p>
            <a:pPr>
              <a:lnSpc>
                <a:spcPts val="2646"/>
              </a:lnSpc>
            </a:pPr>
            <a:r>
              <a:rPr lang="en-US" sz="2036" b="1" dirty="0">
                <a:solidFill>
                  <a:srgbClr val="292E4B"/>
                </a:solidFill>
                <a:latin typeface="Microsoft New Tai Lue" panose="020B0502040204020203" pitchFamily="34" charset="0"/>
                <a:ea typeface="Inter Bold"/>
                <a:cs typeface="Microsoft New Tai Lue" panose="020B0502040204020203" pitchFamily="34" charset="0"/>
                <a:sym typeface="Inter Bold"/>
              </a:rPr>
              <a:t>Because in an emergency, every second and every signal matters.</a:t>
            </a:r>
          </a:p>
        </p:txBody>
      </p:sp>
      <p:sp>
        <p:nvSpPr>
          <p:cNvPr id="12" name="Freeform 12"/>
          <p:cNvSpPr/>
          <p:nvPr/>
        </p:nvSpPr>
        <p:spPr>
          <a:xfrm>
            <a:off x="1301598" y="6641979"/>
            <a:ext cx="1093780" cy="1301598"/>
          </a:xfrm>
          <a:custGeom>
            <a:avLst/>
            <a:gdLst/>
            <a:ahLst/>
            <a:cxnLst/>
            <a:rect l="l" t="t" r="r" b="b"/>
            <a:pathLst>
              <a:path w="952500" h="1133475">
                <a:moveTo>
                  <a:pt x="0" y="0"/>
                </a:moveTo>
                <a:lnTo>
                  <a:pt x="952500" y="0"/>
                </a:lnTo>
                <a:lnTo>
                  <a:pt x="952500" y="1133475"/>
                </a:lnTo>
                <a:lnTo>
                  <a:pt x="0" y="11334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520355" y="6860735"/>
            <a:ext cx="667206" cy="864086"/>
          </a:xfrm>
          <a:custGeom>
            <a:avLst/>
            <a:gdLst/>
            <a:ahLst/>
            <a:cxnLst/>
            <a:rect l="l" t="t" r="r" b="b"/>
            <a:pathLst>
              <a:path w="581025" h="752475">
                <a:moveTo>
                  <a:pt x="0" y="0"/>
                </a:moveTo>
                <a:lnTo>
                  <a:pt x="581025" y="0"/>
                </a:lnTo>
                <a:lnTo>
                  <a:pt x="5810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17985" y="7971003"/>
            <a:ext cx="2678906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46"/>
              </a:lnSpc>
            </a:pPr>
            <a:r>
              <a:rPr lang="en-US" sz="2205" b="1">
                <a:solidFill>
                  <a:srgbClr val="051434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Discreet SOS</a:t>
            </a:r>
          </a:p>
        </p:txBody>
      </p:sp>
      <p:sp>
        <p:nvSpPr>
          <p:cNvPr id="15" name="Freeform 15"/>
          <p:cNvSpPr/>
          <p:nvPr/>
        </p:nvSpPr>
        <p:spPr>
          <a:xfrm>
            <a:off x="3259465" y="7287309"/>
            <a:ext cx="667206" cy="437512"/>
          </a:xfrm>
          <a:custGeom>
            <a:avLst/>
            <a:gdLst/>
            <a:ahLst/>
            <a:cxnLst/>
            <a:rect l="l" t="t" r="r" b="b"/>
            <a:pathLst>
              <a:path w="581025" h="381000">
                <a:moveTo>
                  <a:pt x="0" y="0"/>
                </a:moveTo>
                <a:lnTo>
                  <a:pt x="581025" y="0"/>
                </a:lnTo>
                <a:lnTo>
                  <a:pt x="5810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4779819" y="6641979"/>
            <a:ext cx="1323474" cy="1301598"/>
          </a:xfrm>
          <a:custGeom>
            <a:avLst/>
            <a:gdLst/>
            <a:ahLst/>
            <a:cxnLst/>
            <a:rect l="l" t="t" r="r" b="b"/>
            <a:pathLst>
              <a:path w="1152525" h="1133475">
                <a:moveTo>
                  <a:pt x="0" y="0"/>
                </a:moveTo>
                <a:lnTo>
                  <a:pt x="1152525" y="0"/>
                </a:lnTo>
                <a:lnTo>
                  <a:pt x="1152525" y="1133475"/>
                </a:lnTo>
                <a:lnTo>
                  <a:pt x="0" y="11334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4998575" y="6860735"/>
            <a:ext cx="667206" cy="864086"/>
          </a:xfrm>
          <a:custGeom>
            <a:avLst/>
            <a:gdLst/>
            <a:ahLst/>
            <a:cxnLst/>
            <a:rect l="l" t="t" r="r" b="b"/>
            <a:pathLst>
              <a:path w="581025" h="752475">
                <a:moveTo>
                  <a:pt x="0" y="0"/>
                </a:moveTo>
                <a:lnTo>
                  <a:pt x="581025" y="0"/>
                </a:lnTo>
                <a:lnTo>
                  <a:pt x="5810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4366618" y="7971003"/>
            <a:ext cx="2678906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46"/>
              </a:lnSpc>
            </a:pPr>
            <a:r>
              <a:rPr lang="en-US" sz="2205" b="1">
                <a:solidFill>
                  <a:srgbClr val="051434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Smart Location</a:t>
            </a:r>
          </a:p>
        </p:txBody>
      </p:sp>
      <p:sp>
        <p:nvSpPr>
          <p:cNvPr id="19" name="Freeform 19"/>
          <p:cNvSpPr/>
          <p:nvPr/>
        </p:nvSpPr>
        <p:spPr>
          <a:xfrm>
            <a:off x="6956441" y="7287309"/>
            <a:ext cx="667206" cy="437512"/>
          </a:xfrm>
          <a:custGeom>
            <a:avLst/>
            <a:gdLst/>
            <a:ahLst/>
            <a:cxnLst/>
            <a:rect l="l" t="t" r="r" b="b"/>
            <a:pathLst>
              <a:path w="581025" h="381000">
                <a:moveTo>
                  <a:pt x="0" y="0"/>
                </a:moveTo>
                <a:lnTo>
                  <a:pt x="581025" y="0"/>
                </a:lnTo>
                <a:lnTo>
                  <a:pt x="5810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8487732" y="6641979"/>
            <a:ext cx="1312536" cy="1301598"/>
          </a:xfrm>
          <a:custGeom>
            <a:avLst/>
            <a:gdLst/>
            <a:ahLst/>
            <a:cxnLst/>
            <a:rect l="l" t="t" r="r" b="b"/>
            <a:pathLst>
              <a:path w="1143000" h="1133475">
                <a:moveTo>
                  <a:pt x="0" y="0"/>
                </a:moveTo>
                <a:lnTo>
                  <a:pt x="1143000" y="0"/>
                </a:lnTo>
                <a:lnTo>
                  <a:pt x="1143000" y="1133475"/>
                </a:lnTo>
                <a:lnTo>
                  <a:pt x="0" y="11334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8706488" y="7068553"/>
            <a:ext cx="875024" cy="656268"/>
          </a:xfrm>
          <a:custGeom>
            <a:avLst/>
            <a:gdLst/>
            <a:ahLst/>
            <a:cxnLst/>
            <a:rect l="l" t="t" r="r" b="b"/>
            <a:pathLst>
              <a:path w="762000" h="571500">
                <a:moveTo>
                  <a:pt x="0" y="0"/>
                </a:moveTo>
                <a:lnTo>
                  <a:pt x="762000" y="0"/>
                </a:lnTo>
                <a:lnTo>
                  <a:pt x="7620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8036720" y="7971003"/>
            <a:ext cx="2678906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46"/>
              </a:lnSpc>
            </a:pPr>
            <a:r>
              <a:rPr lang="en-US" sz="2205" b="1">
                <a:solidFill>
                  <a:srgbClr val="051434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Rapid Response</a:t>
            </a:r>
          </a:p>
        </p:txBody>
      </p:sp>
      <p:sp>
        <p:nvSpPr>
          <p:cNvPr id="23" name="Freeform 23"/>
          <p:cNvSpPr/>
          <p:nvPr/>
        </p:nvSpPr>
        <p:spPr>
          <a:xfrm>
            <a:off x="12184709" y="1709032"/>
            <a:ext cx="5676718" cy="7733024"/>
          </a:xfrm>
          <a:custGeom>
            <a:avLst/>
            <a:gdLst/>
            <a:ahLst/>
            <a:cxnLst/>
            <a:rect l="l" t="t" r="r" b="b"/>
            <a:pathLst>
              <a:path w="4943475" h="6734175">
                <a:moveTo>
                  <a:pt x="0" y="0"/>
                </a:moveTo>
                <a:lnTo>
                  <a:pt x="4943475" y="0"/>
                </a:lnTo>
                <a:lnTo>
                  <a:pt x="4943475" y="6734175"/>
                </a:lnTo>
                <a:lnTo>
                  <a:pt x="0" y="67341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207818" y="8785788"/>
            <a:ext cx="17872364" cy="229694"/>
          </a:xfrm>
          <a:custGeom>
            <a:avLst/>
            <a:gdLst/>
            <a:ahLst/>
            <a:cxnLst/>
            <a:rect l="l" t="t" r="r" b="b"/>
            <a:pathLst>
              <a:path w="15563850" h="200025">
                <a:moveTo>
                  <a:pt x="0" y="0"/>
                </a:moveTo>
                <a:lnTo>
                  <a:pt x="15563850" y="0"/>
                </a:lnTo>
                <a:lnTo>
                  <a:pt x="15563850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000722" y="9186529"/>
            <a:ext cx="1726275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61"/>
              </a:lnSpc>
            </a:pPr>
            <a:r>
              <a:rPr lang="en-US" sz="1634" b="1">
                <a:solidFill>
                  <a:srgbClr val="69696D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TEAM MEMBERS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89297" y="9419803"/>
            <a:ext cx="1820743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24"/>
              </a:lnSpc>
            </a:pPr>
            <a:r>
              <a:rPr lang="en-US" sz="2436" b="1" dirty="0">
                <a:solidFill>
                  <a:srgbClr val="051434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Aditya Rana</a:t>
            </a:r>
          </a:p>
        </p:txBody>
      </p:sp>
      <p:sp>
        <p:nvSpPr>
          <p:cNvPr id="28" name="Freeform 28"/>
          <p:cNvSpPr/>
          <p:nvPr/>
        </p:nvSpPr>
        <p:spPr>
          <a:xfrm>
            <a:off x="4353244" y="9212361"/>
            <a:ext cx="218756" cy="875024"/>
          </a:xfrm>
          <a:custGeom>
            <a:avLst/>
            <a:gdLst/>
            <a:ahLst/>
            <a:cxnLst/>
            <a:rect l="l" t="t" r="r" b="b"/>
            <a:pathLst>
              <a:path w="190500" h="762000">
                <a:moveTo>
                  <a:pt x="0" y="0"/>
                </a:moveTo>
                <a:lnTo>
                  <a:pt x="190500" y="0"/>
                </a:lnTo>
                <a:lnTo>
                  <a:pt x="1905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5715000" y="9410700"/>
            <a:ext cx="1823078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24"/>
              </a:lnSpc>
            </a:pPr>
            <a:r>
              <a:rPr lang="en-US" sz="2436" b="1" dirty="0">
                <a:solidFill>
                  <a:srgbClr val="051434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Sakshi Garg</a:t>
            </a:r>
          </a:p>
        </p:txBody>
      </p:sp>
      <p:sp>
        <p:nvSpPr>
          <p:cNvPr id="31" name="Freeform 31"/>
          <p:cNvSpPr/>
          <p:nvPr/>
        </p:nvSpPr>
        <p:spPr>
          <a:xfrm>
            <a:off x="8487733" y="9212361"/>
            <a:ext cx="229694" cy="875024"/>
          </a:xfrm>
          <a:custGeom>
            <a:avLst/>
            <a:gdLst/>
            <a:ahLst/>
            <a:cxnLst/>
            <a:rect l="l" t="t" r="r" b="b"/>
            <a:pathLst>
              <a:path w="200025" h="762000">
                <a:moveTo>
                  <a:pt x="0" y="0"/>
                </a:moveTo>
                <a:lnTo>
                  <a:pt x="200025" y="0"/>
                </a:lnTo>
                <a:lnTo>
                  <a:pt x="20002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9906000" y="9438568"/>
            <a:ext cx="1910387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24"/>
              </a:lnSpc>
            </a:pPr>
            <a:r>
              <a:rPr lang="en-US" sz="2436" b="1" dirty="0">
                <a:solidFill>
                  <a:srgbClr val="051434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Yash Mathur</a:t>
            </a:r>
          </a:p>
        </p:txBody>
      </p:sp>
      <p:sp>
        <p:nvSpPr>
          <p:cNvPr id="34" name="Freeform 34"/>
          <p:cNvSpPr/>
          <p:nvPr/>
        </p:nvSpPr>
        <p:spPr>
          <a:xfrm>
            <a:off x="12840977" y="9212361"/>
            <a:ext cx="229694" cy="875024"/>
          </a:xfrm>
          <a:custGeom>
            <a:avLst/>
            <a:gdLst/>
            <a:ahLst/>
            <a:cxnLst/>
            <a:rect l="l" t="t" r="r" b="b"/>
            <a:pathLst>
              <a:path w="200025" h="762000">
                <a:moveTo>
                  <a:pt x="0" y="0"/>
                </a:moveTo>
                <a:lnTo>
                  <a:pt x="200025" y="0"/>
                </a:lnTo>
                <a:lnTo>
                  <a:pt x="20002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14597992" y="9438568"/>
            <a:ext cx="1861208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24"/>
              </a:lnSpc>
            </a:pPr>
            <a:r>
              <a:rPr lang="en-US" sz="2436" b="1" dirty="0" err="1">
                <a:solidFill>
                  <a:srgbClr val="051434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Avani</a:t>
            </a:r>
            <a:r>
              <a:rPr lang="en-US" sz="2436" b="1" dirty="0">
                <a:solidFill>
                  <a:srgbClr val="051434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 Tiwari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243709" y="763042"/>
            <a:ext cx="3486165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61"/>
              </a:lnSpc>
            </a:pPr>
            <a:r>
              <a:rPr lang="en-US" sz="1634" b="1" dirty="0" err="1">
                <a:solidFill>
                  <a:srgbClr val="292E4B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Avinya</a:t>
            </a:r>
            <a:r>
              <a:rPr lang="en-US" sz="1634" b="1" dirty="0">
                <a:solidFill>
                  <a:srgbClr val="292E4B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 26</a:t>
            </a:r>
          </a:p>
        </p:txBody>
      </p:sp>
      <p:sp>
        <p:nvSpPr>
          <p:cNvPr id="38" name="TextBox 6">
            <a:extLst>
              <a:ext uri="{FF2B5EF4-FFF2-40B4-BE49-F238E27FC236}">
                <a16:creationId xmlns:a16="http://schemas.microsoft.com/office/drawing/2014/main" id="{A8553348-32BB-409B-8F54-702F4417C95E}"/>
              </a:ext>
            </a:extLst>
          </p:cNvPr>
          <p:cNvSpPr txBox="1"/>
          <p:nvPr/>
        </p:nvSpPr>
        <p:spPr>
          <a:xfrm>
            <a:off x="405634" y="412330"/>
            <a:ext cx="2841131" cy="4244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42"/>
              </a:lnSpc>
            </a:pPr>
            <a:r>
              <a:rPr lang="en-US" sz="2783" b="1" dirty="0">
                <a:solidFill>
                  <a:srgbClr val="0A74FF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Team Gamma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735"/>
            <a:ext cx="18288000" cy="10292469"/>
          </a:xfrm>
          <a:custGeom>
            <a:avLst/>
            <a:gdLst/>
            <a:ahLst/>
            <a:cxnLst/>
            <a:rect l="l" t="t" r="r" b="b"/>
            <a:pathLst>
              <a:path w="15925800" h="8963025">
                <a:moveTo>
                  <a:pt x="0" y="0"/>
                </a:moveTo>
                <a:lnTo>
                  <a:pt x="15925800" y="0"/>
                </a:lnTo>
                <a:lnTo>
                  <a:pt x="15925800" y="8963025"/>
                </a:lnTo>
                <a:lnTo>
                  <a:pt x="0" y="89630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07818" y="1282457"/>
            <a:ext cx="17872364" cy="229694"/>
          </a:xfrm>
          <a:custGeom>
            <a:avLst/>
            <a:gdLst/>
            <a:ahLst/>
            <a:cxnLst/>
            <a:rect l="l" t="t" r="r" b="b"/>
            <a:pathLst>
              <a:path w="15563850" h="200025">
                <a:moveTo>
                  <a:pt x="0" y="0"/>
                </a:moveTo>
                <a:lnTo>
                  <a:pt x="15563850" y="0"/>
                </a:lnTo>
                <a:lnTo>
                  <a:pt x="15563850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86597" y="2208961"/>
            <a:ext cx="4918410" cy="1050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796"/>
              </a:lnSpc>
            </a:pPr>
            <a:r>
              <a:rPr lang="en-US" sz="7796" b="1" spc="-76" dirty="0">
                <a:solidFill>
                  <a:srgbClr val="0050C7"/>
                </a:solidFill>
                <a:latin typeface="Microsoft Tai Le" panose="020B0502040204020203" pitchFamily="34" charset="0"/>
                <a:ea typeface="Inter Heavy"/>
                <a:cs typeface="Microsoft Tai Le" panose="020B0502040204020203" pitchFamily="34" charset="0"/>
                <a:sym typeface="Inter Heavy"/>
              </a:rPr>
              <a:t>PROBLEM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7573" y="3196610"/>
            <a:ext cx="5820856" cy="956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00"/>
              </a:lnSpc>
            </a:pPr>
            <a:r>
              <a:rPr lang="en-US" sz="7100" b="1" spc="-69">
                <a:solidFill>
                  <a:srgbClr val="051634"/>
                </a:solidFill>
                <a:latin typeface="Microsoft Tai Le" panose="020B0502040204020203" pitchFamily="34" charset="0"/>
                <a:ea typeface="Inter Ultra-Bold"/>
                <a:cs typeface="Microsoft Tai Le" panose="020B0502040204020203" pitchFamily="34" charset="0"/>
                <a:sym typeface="Inter Ultra-Bold"/>
              </a:rPr>
              <a:t>STATEMENT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84108" y="4368504"/>
            <a:ext cx="5167388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46"/>
              </a:lnSpc>
            </a:pPr>
            <a:r>
              <a:rPr lang="en-US" sz="2036" spc="-20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When danger strikes, reaching for a phone can be too slow or impossible.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2965" y="5067300"/>
            <a:ext cx="5281790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46"/>
              </a:lnSpc>
            </a:pPr>
            <a:r>
              <a:rPr lang="en-US" sz="2036" spc="-20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Existing safety systems rely on phones, GPS, and connectivity, which may fail when they matter most.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2204" y="6134100"/>
            <a:ext cx="5357714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46"/>
              </a:lnSpc>
            </a:pPr>
            <a:r>
              <a:rPr lang="en-US" sz="2036" spc="-20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Women need a discreet way to signal, share their location, and get help instantly.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81608" y="6819900"/>
            <a:ext cx="5417390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46"/>
              </a:lnSpc>
            </a:pPr>
            <a:r>
              <a:rPr lang="en-US" sz="2036" b="1" spc="-20" dirty="0">
                <a:solidFill>
                  <a:srgbClr val="051634"/>
                </a:solidFill>
                <a:latin typeface="Microsoft Tai Le" panose="020B0502040204020203" pitchFamily="34" charset="0"/>
                <a:ea typeface="Inter Bold"/>
                <a:cs typeface="Microsoft Tai Le" panose="020B0502040204020203" pitchFamily="34" charset="0"/>
                <a:sym typeface="Inter Bold"/>
              </a:rPr>
              <a:t>Because in an emergency, every second and every signal matters.</a:t>
            </a:r>
          </a:p>
        </p:txBody>
      </p:sp>
      <p:sp>
        <p:nvSpPr>
          <p:cNvPr id="15" name="Freeform 15"/>
          <p:cNvSpPr/>
          <p:nvPr/>
        </p:nvSpPr>
        <p:spPr>
          <a:xfrm>
            <a:off x="207818" y="8140457"/>
            <a:ext cx="6759560" cy="1728172"/>
          </a:xfrm>
          <a:custGeom>
            <a:avLst/>
            <a:gdLst/>
            <a:ahLst/>
            <a:cxnLst/>
            <a:rect l="l" t="t" r="r" b="b"/>
            <a:pathLst>
              <a:path w="5886450" h="1504950">
                <a:moveTo>
                  <a:pt x="0" y="0"/>
                </a:moveTo>
                <a:lnTo>
                  <a:pt x="5886450" y="0"/>
                </a:lnTo>
                <a:lnTo>
                  <a:pt x="5886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864087" y="8140458"/>
            <a:ext cx="1104718" cy="1082842"/>
          </a:xfrm>
          <a:custGeom>
            <a:avLst/>
            <a:gdLst/>
            <a:ahLst/>
            <a:cxnLst/>
            <a:rect l="l" t="t" r="r" b="b"/>
            <a:pathLst>
              <a:path w="962025" h="942975">
                <a:moveTo>
                  <a:pt x="0" y="0"/>
                </a:moveTo>
                <a:lnTo>
                  <a:pt x="962025" y="0"/>
                </a:lnTo>
                <a:lnTo>
                  <a:pt x="9620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082843" y="8359213"/>
            <a:ext cx="448450" cy="656268"/>
          </a:xfrm>
          <a:custGeom>
            <a:avLst/>
            <a:gdLst/>
            <a:ahLst/>
            <a:cxnLst/>
            <a:rect l="l" t="t" r="r" b="b"/>
            <a:pathLst>
              <a:path w="390525" h="571500">
                <a:moveTo>
                  <a:pt x="0" y="0"/>
                </a:moveTo>
                <a:lnTo>
                  <a:pt x="390525" y="0"/>
                </a:lnTo>
                <a:lnTo>
                  <a:pt x="3905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2176622" y="8577969"/>
            <a:ext cx="437512" cy="437512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3040709" y="8140458"/>
            <a:ext cx="1104718" cy="1082842"/>
          </a:xfrm>
          <a:custGeom>
            <a:avLst/>
            <a:gdLst/>
            <a:ahLst/>
            <a:cxnLst/>
            <a:rect l="l" t="t" r="r" b="b"/>
            <a:pathLst>
              <a:path w="962025" h="942975">
                <a:moveTo>
                  <a:pt x="0" y="0"/>
                </a:moveTo>
                <a:lnTo>
                  <a:pt x="962025" y="0"/>
                </a:lnTo>
                <a:lnTo>
                  <a:pt x="9620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3259465" y="8359213"/>
            <a:ext cx="448450" cy="656268"/>
          </a:xfrm>
          <a:custGeom>
            <a:avLst/>
            <a:gdLst/>
            <a:ahLst/>
            <a:cxnLst/>
            <a:rect l="l" t="t" r="r" b="b"/>
            <a:pathLst>
              <a:path w="390525" h="571500">
                <a:moveTo>
                  <a:pt x="0" y="0"/>
                </a:moveTo>
                <a:lnTo>
                  <a:pt x="390525" y="0"/>
                </a:lnTo>
                <a:lnTo>
                  <a:pt x="3905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4353244" y="8577969"/>
            <a:ext cx="656268" cy="437512"/>
          </a:xfrm>
          <a:custGeom>
            <a:avLst/>
            <a:gdLst/>
            <a:ahLst/>
            <a:cxnLst/>
            <a:rect l="l" t="t" r="r" b="b"/>
            <a:pathLst>
              <a:path w="571500" h="381000">
                <a:moveTo>
                  <a:pt x="0" y="0"/>
                </a:moveTo>
                <a:lnTo>
                  <a:pt x="571500" y="0"/>
                </a:lnTo>
                <a:lnTo>
                  <a:pt x="5715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5217331" y="8140458"/>
            <a:ext cx="1104718" cy="1082842"/>
          </a:xfrm>
          <a:custGeom>
            <a:avLst/>
            <a:gdLst/>
            <a:ahLst/>
            <a:cxnLst/>
            <a:rect l="l" t="t" r="r" b="b"/>
            <a:pathLst>
              <a:path w="962025" h="942975">
                <a:moveTo>
                  <a:pt x="0" y="0"/>
                </a:moveTo>
                <a:lnTo>
                  <a:pt x="962025" y="0"/>
                </a:lnTo>
                <a:lnTo>
                  <a:pt x="9620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5436087" y="8359213"/>
            <a:ext cx="667206" cy="656268"/>
          </a:xfrm>
          <a:custGeom>
            <a:avLst/>
            <a:gdLst/>
            <a:ahLst/>
            <a:cxnLst/>
            <a:rect l="l" t="t" r="r" b="b"/>
            <a:pathLst>
              <a:path w="581025" h="571500">
                <a:moveTo>
                  <a:pt x="0" y="0"/>
                </a:moveTo>
                <a:lnTo>
                  <a:pt x="581025" y="0"/>
                </a:lnTo>
                <a:lnTo>
                  <a:pt x="5810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6919807" y="1709032"/>
            <a:ext cx="229694" cy="8378354"/>
          </a:xfrm>
          <a:custGeom>
            <a:avLst/>
            <a:gdLst/>
            <a:ahLst/>
            <a:cxnLst/>
            <a:rect l="l" t="t" r="r" b="b"/>
            <a:pathLst>
              <a:path w="200025" h="7296150">
                <a:moveTo>
                  <a:pt x="0" y="0"/>
                </a:moveTo>
                <a:lnTo>
                  <a:pt x="200025" y="0"/>
                </a:lnTo>
                <a:lnTo>
                  <a:pt x="200025" y="7296150"/>
                </a:lnTo>
                <a:lnTo>
                  <a:pt x="0" y="72961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7175197" y="1709032"/>
            <a:ext cx="10904986" cy="3445407"/>
          </a:xfrm>
          <a:custGeom>
            <a:avLst/>
            <a:gdLst/>
            <a:ahLst/>
            <a:cxnLst/>
            <a:rect l="l" t="t" r="r" b="b"/>
            <a:pathLst>
              <a:path w="9496425" h="3000375">
                <a:moveTo>
                  <a:pt x="0" y="0"/>
                </a:moveTo>
                <a:lnTo>
                  <a:pt x="9496425" y="0"/>
                </a:lnTo>
                <a:lnTo>
                  <a:pt x="9496425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6" name="TextBox 26"/>
          <p:cNvSpPr txBox="1"/>
          <p:nvPr/>
        </p:nvSpPr>
        <p:spPr>
          <a:xfrm>
            <a:off x="7671589" y="1916501"/>
            <a:ext cx="1687275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29"/>
              </a:lnSpc>
            </a:pPr>
            <a:r>
              <a:rPr lang="en-US" sz="3022" b="1" spc="-29">
                <a:solidFill>
                  <a:srgbClr val="0050C7"/>
                </a:solidFill>
                <a:latin typeface="Microsoft Tai Le" panose="020B0502040204020203" pitchFamily="34" charset="0"/>
                <a:ea typeface="Inter Bold"/>
                <a:cs typeface="Microsoft Tai Le" panose="020B0502040204020203" pitchFamily="34" charset="0"/>
                <a:sym typeface="Inter Bold"/>
              </a:rPr>
              <a:t>Our Idea: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617597" y="2473990"/>
            <a:ext cx="7086429" cy="226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9"/>
              </a:lnSpc>
            </a:pPr>
            <a:r>
              <a:rPr lang="en-US" sz="2000" b="1" spc="-15" dirty="0">
                <a:solidFill>
                  <a:srgbClr val="051634"/>
                </a:solidFill>
                <a:latin typeface="Microsoft Tai Le" panose="020B0502040204020203" pitchFamily="34" charset="0"/>
                <a:ea typeface="Inter Bold"/>
                <a:cs typeface="Microsoft Tai Le" panose="020B0502040204020203" pitchFamily="34" charset="0"/>
                <a:sym typeface="Inter Bold"/>
              </a:rPr>
              <a:t>SURAKSHA KEY</a:t>
            </a:r>
            <a:r>
              <a:rPr lang="en-US" sz="2000" spc="-15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 transforms an everyday keychain into a low-cost, offline-first safety lifeline. A discreet </a:t>
            </a:r>
            <a:r>
              <a:rPr lang="en-US" sz="2000" b="1" spc="-15" dirty="0">
                <a:solidFill>
                  <a:srgbClr val="051634"/>
                </a:solidFill>
                <a:latin typeface="Microsoft Tai Le" panose="020B0502040204020203" pitchFamily="34" charset="0"/>
                <a:ea typeface="Inter Bold"/>
                <a:cs typeface="Microsoft Tai Le" panose="020B0502040204020203" pitchFamily="34" charset="0"/>
                <a:sym typeface="Inter Bold"/>
              </a:rPr>
              <a:t>double-press </a:t>
            </a:r>
            <a:r>
              <a:rPr lang="en-US" sz="2000" spc="-15" dirty="0">
                <a:solidFill>
                  <a:srgbClr val="051634"/>
                </a:solidFill>
                <a:latin typeface="Microsoft Tai Le" panose="020B0502040204020203" pitchFamily="34" charset="0"/>
                <a:ea typeface="Inter Bold"/>
                <a:cs typeface="Microsoft Tai Le" panose="020B0502040204020203" pitchFamily="34" charset="0"/>
                <a:sym typeface="Inter Bold"/>
              </a:rPr>
              <a:t>or a sudden jerk</a:t>
            </a:r>
            <a:r>
              <a:rPr lang="en-US" sz="2000" spc="-15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 triggers </a:t>
            </a:r>
            <a:r>
              <a:rPr lang="en-US" sz="2000" b="1" spc="-15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SOS</a:t>
            </a:r>
            <a:r>
              <a:rPr lang="en-US" sz="2000" spc="-15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 , with </a:t>
            </a:r>
            <a:r>
              <a:rPr lang="en-US" sz="2000" b="1" spc="-15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GPS</a:t>
            </a:r>
            <a:r>
              <a:rPr lang="en-US" sz="2000" spc="-15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, </a:t>
            </a:r>
            <a:r>
              <a:rPr lang="en-US" sz="2000" b="1" spc="-15" dirty="0" err="1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SafeNodes</a:t>
            </a:r>
            <a:r>
              <a:rPr lang="en-US" sz="2000" spc="-15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 and </a:t>
            </a:r>
            <a:r>
              <a:rPr lang="en-US" sz="2000" b="1" spc="-15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last-known</a:t>
            </a:r>
            <a:r>
              <a:rPr lang="en-US" sz="2000" spc="-15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 location helping identify the </a:t>
            </a:r>
            <a:r>
              <a:rPr lang="en-US" sz="2000" b="1" spc="-15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user's</a:t>
            </a:r>
            <a:r>
              <a:rPr lang="en-US" sz="2000" spc="-15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 </a:t>
            </a:r>
            <a:r>
              <a:rPr lang="en-US" sz="2000" b="1" spc="-15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location</a:t>
            </a:r>
            <a:r>
              <a:rPr lang="en-US" sz="2000" spc="-15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 even </a:t>
            </a:r>
            <a:r>
              <a:rPr lang="en-US" sz="2000" b="1" spc="-15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indoors</a:t>
            </a:r>
            <a:r>
              <a:rPr lang="en-US" sz="2000" spc="-15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. Silent </a:t>
            </a:r>
            <a:r>
              <a:rPr lang="en-US" sz="2000" b="1" spc="-15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vibration</a:t>
            </a:r>
            <a:r>
              <a:rPr lang="en-US" sz="2000" spc="-15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 confirms the alert,. The system can notify </a:t>
            </a:r>
            <a:r>
              <a:rPr lang="en-US" sz="2000" b="1" spc="-15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trusted</a:t>
            </a:r>
            <a:r>
              <a:rPr lang="en-US" sz="2000" spc="-15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 </a:t>
            </a:r>
            <a:r>
              <a:rPr lang="en-US" sz="2000" b="1" spc="-15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contacts</a:t>
            </a:r>
            <a:r>
              <a:rPr lang="en-US" sz="2000" spc="-15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 and </a:t>
            </a:r>
            <a:r>
              <a:rPr lang="en-US" sz="2000" b="1" spc="-15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security</a:t>
            </a:r>
            <a:r>
              <a:rPr lang="en-US" sz="2000" spc="-15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, with </a:t>
            </a:r>
            <a:r>
              <a:rPr lang="en-US" sz="2000" b="1" spc="-15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false-alarm</a:t>
            </a:r>
            <a:r>
              <a:rPr lang="en-US" sz="2000" spc="-15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 </a:t>
            </a:r>
            <a:r>
              <a:rPr lang="en-US" sz="2000" b="1" spc="-15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protection</a:t>
            </a:r>
            <a:r>
              <a:rPr lang="en-US" sz="2000" spc="-15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 and rapid response </a:t>
            </a:r>
            <a:r>
              <a:rPr lang="en-US" sz="2000" b="1" spc="-15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tracking</a:t>
            </a:r>
            <a:r>
              <a:rPr lang="en-US" sz="2000" spc="-15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 designed to stay useful even when </a:t>
            </a:r>
            <a:r>
              <a:rPr lang="en-US" sz="2000" b="1" spc="-15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phone</a:t>
            </a:r>
            <a:r>
              <a:rPr lang="en-US" sz="2000" spc="-15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 </a:t>
            </a:r>
            <a:r>
              <a:rPr lang="en-US" sz="2000" b="1" spc="-15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access</a:t>
            </a:r>
            <a:r>
              <a:rPr lang="en-US" sz="2000" spc="-15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 or </a:t>
            </a:r>
            <a:r>
              <a:rPr lang="en-US" sz="2000" b="1" spc="-15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internet</a:t>
            </a:r>
            <a:r>
              <a:rPr lang="en-US" sz="2000" spc="-15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 </a:t>
            </a:r>
            <a:r>
              <a:rPr lang="en-US" sz="2000" b="1" spc="-15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connectivity</a:t>
            </a:r>
            <a:r>
              <a:rPr lang="en-US" sz="2000" spc="-15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 is </a:t>
            </a:r>
            <a:r>
              <a:rPr lang="en-US" sz="2000" b="1" spc="-15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limited</a:t>
            </a:r>
            <a:r>
              <a:rPr lang="en-US" sz="2000" spc="-15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.</a:t>
            </a:r>
          </a:p>
        </p:txBody>
      </p:sp>
      <p:sp>
        <p:nvSpPr>
          <p:cNvPr id="28" name="Freeform 28"/>
          <p:cNvSpPr/>
          <p:nvPr/>
        </p:nvSpPr>
        <p:spPr>
          <a:xfrm>
            <a:off x="14798842" y="1709032"/>
            <a:ext cx="3062584" cy="3664163"/>
          </a:xfrm>
          <a:custGeom>
            <a:avLst/>
            <a:gdLst/>
            <a:ahLst/>
            <a:cxnLst/>
            <a:rect l="l" t="t" r="r" b="b"/>
            <a:pathLst>
              <a:path w="2667000" h="3190875">
                <a:moveTo>
                  <a:pt x="0" y="0"/>
                </a:moveTo>
                <a:lnTo>
                  <a:pt x="2667000" y="0"/>
                </a:lnTo>
                <a:lnTo>
                  <a:pt x="2667000" y="3190875"/>
                </a:lnTo>
                <a:lnTo>
                  <a:pt x="0" y="31908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7175197" y="5570074"/>
            <a:ext cx="5895474" cy="1509416"/>
          </a:xfrm>
          <a:custGeom>
            <a:avLst/>
            <a:gdLst/>
            <a:ahLst/>
            <a:cxnLst/>
            <a:rect l="l" t="t" r="r" b="b"/>
            <a:pathLst>
              <a:path w="5133975" h="1314450">
                <a:moveTo>
                  <a:pt x="0" y="0"/>
                </a:moveTo>
                <a:lnTo>
                  <a:pt x="5133975" y="0"/>
                </a:lnTo>
                <a:lnTo>
                  <a:pt x="5133975" y="1314450"/>
                </a:lnTo>
                <a:lnTo>
                  <a:pt x="0" y="13144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7393953" y="5996648"/>
            <a:ext cx="667206" cy="656268"/>
          </a:xfrm>
          <a:custGeom>
            <a:avLst/>
            <a:gdLst/>
            <a:ahLst/>
            <a:cxnLst/>
            <a:rect l="l" t="t" r="r" b="b"/>
            <a:pathLst>
              <a:path w="581025" h="571500">
                <a:moveTo>
                  <a:pt x="0" y="0"/>
                </a:moveTo>
                <a:lnTo>
                  <a:pt x="581025" y="0"/>
                </a:lnTo>
                <a:lnTo>
                  <a:pt x="5810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8050220" y="5788831"/>
            <a:ext cx="1093780" cy="864086"/>
          </a:xfrm>
          <a:custGeom>
            <a:avLst/>
            <a:gdLst/>
            <a:ahLst/>
            <a:cxnLst/>
            <a:rect l="l" t="t" r="r" b="b"/>
            <a:pathLst>
              <a:path w="952500" h="752475">
                <a:moveTo>
                  <a:pt x="0" y="0"/>
                </a:moveTo>
                <a:lnTo>
                  <a:pt x="952500" y="0"/>
                </a:lnTo>
                <a:lnTo>
                  <a:pt x="952500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8268977" y="5788831"/>
            <a:ext cx="667206" cy="864086"/>
          </a:xfrm>
          <a:custGeom>
            <a:avLst/>
            <a:gdLst/>
            <a:ahLst/>
            <a:cxnLst/>
            <a:rect l="l" t="t" r="r" b="b"/>
            <a:pathLst>
              <a:path w="581025" h="752475">
                <a:moveTo>
                  <a:pt x="0" y="0"/>
                </a:moveTo>
                <a:lnTo>
                  <a:pt x="581025" y="0"/>
                </a:lnTo>
                <a:lnTo>
                  <a:pt x="5810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9213221" y="5830240"/>
            <a:ext cx="2900560" cy="213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3"/>
              </a:lnSpc>
            </a:pPr>
            <a:r>
              <a:rPr lang="en-US" sz="1287" b="1" spc="-11" dirty="0">
                <a:solidFill>
                  <a:srgbClr val="051634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3-STAGE EMERGENCY ACTIVATION</a:t>
            </a:r>
          </a:p>
        </p:txBody>
      </p:sp>
      <p:sp>
        <p:nvSpPr>
          <p:cNvPr id="34" name="Freeform 34"/>
          <p:cNvSpPr/>
          <p:nvPr/>
        </p:nvSpPr>
        <p:spPr>
          <a:xfrm>
            <a:off x="7175197" y="7068553"/>
            <a:ext cx="5895474" cy="1728172"/>
          </a:xfrm>
          <a:custGeom>
            <a:avLst/>
            <a:gdLst/>
            <a:ahLst/>
            <a:cxnLst/>
            <a:rect l="l" t="t" r="r" b="b"/>
            <a:pathLst>
              <a:path w="5133975" h="1504950">
                <a:moveTo>
                  <a:pt x="0" y="0"/>
                </a:moveTo>
                <a:lnTo>
                  <a:pt x="5133975" y="0"/>
                </a:lnTo>
                <a:lnTo>
                  <a:pt x="51339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7393953" y="7287309"/>
            <a:ext cx="667206" cy="864086"/>
          </a:xfrm>
          <a:custGeom>
            <a:avLst/>
            <a:gdLst/>
            <a:ahLst/>
            <a:cxnLst/>
            <a:rect l="l" t="t" r="r" b="b"/>
            <a:pathLst>
              <a:path w="581025" h="752475">
                <a:moveTo>
                  <a:pt x="0" y="0"/>
                </a:moveTo>
                <a:lnTo>
                  <a:pt x="581025" y="0"/>
                </a:lnTo>
                <a:lnTo>
                  <a:pt x="5810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8050220" y="7068553"/>
            <a:ext cx="1093780" cy="1082842"/>
          </a:xfrm>
          <a:custGeom>
            <a:avLst/>
            <a:gdLst/>
            <a:ahLst/>
            <a:cxnLst/>
            <a:rect l="l" t="t" r="r" b="b"/>
            <a:pathLst>
              <a:path w="952500" h="942975">
                <a:moveTo>
                  <a:pt x="0" y="0"/>
                </a:moveTo>
                <a:lnTo>
                  <a:pt x="952500" y="0"/>
                </a:lnTo>
                <a:lnTo>
                  <a:pt x="95250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8268977" y="7287309"/>
            <a:ext cx="667206" cy="864086"/>
          </a:xfrm>
          <a:custGeom>
            <a:avLst/>
            <a:gdLst/>
            <a:ahLst/>
            <a:cxnLst/>
            <a:rect l="l" t="t" r="r" b="b"/>
            <a:pathLst>
              <a:path w="581025" h="752475">
                <a:moveTo>
                  <a:pt x="0" y="0"/>
                </a:moveTo>
                <a:lnTo>
                  <a:pt x="581025" y="0"/>
                </a:lnTo>
                <a:lnTo>
                  <a:pt x="5810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9223678" y="7231643"/>
            <a:ext cx="1854942" cy="213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3"/>
              </a:lnSpc>
            </a:pPr>
            <a:r>
              <a:rPr lang="en-US" sz="1287" b="1" spc="-11">
                <a:solidFill>
                  <a:srgbClr val="051634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INTEGRATED GPS + 4G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208009" y="7517975"/>
            <a:ext cx="3421762" cy="582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38"/>
              </a:lnSpc>
            </a:pPr>
            <a:r>
              <a:rPr lang="en-US" sz="1400" spc="-11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Built-in GPS captures location, while 4G sends SOS and emergency information to the response system.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207650" y="8135797"/>
            <a:ext cx="3457744" cy="390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38"/>
              </a:lnSpc>
            </a:pPr>
            <a:r>
              <a:rPr lang="en-US" sz="1400" spc="-11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→ No need to depend on the phone for triggering the alert.</a:t>
            </a:r>
          </a:p>
        </p:txBody>
      </p:sp>
      <p:sp>
        <p:nvSpPr>
          <p:cNvPr id="41" name="Freeform 41"/>
          <p:cNvSpPr/>
          <p:nvPr/>
        </p:nvSpPr>
        <p:spPr>
          <a:xfrm>
            <a:off x="7175197" y="8577969"/>
            <a:ext cx="5895474" cy="1509416"/>
          </a:xfrm>
          <a:custGeom>
            <a:avLst/>
            <a:gdLst/>
            <a:ahLst/>
            <a:cxnLst/>
            <a:rect l="l" t="t" r="r" b="b"/>
            <a:pathLst>
              <a:path w="5133975" h="1314450">
                <a:moveTo>
                  <a:pt x="0" y="0"/>
                </a:moveTo>
                <a:lnTo>
                  <a:pt x="5133975" y="0"/>
                </a:lnTo>
                <a:lnTo>
                  <a:pt x="5133975" y="1314450"/>
                </a:lnTo>
                <a:lnTo>
                  <a:pt x="0" y="131445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7393953" y="9004543"/>
            <a:ext cx="667206" cy="656268"/>
          </a:xfrm>
          <a:custGeom>
            <a:avLst/>
            <a:gdLst/>
            <a:ahLst/>
            <a:cxnLst/>
            <a:rect l="l" t="t" r="r" b="b"/>
            <a:pathLst>
              <a:path w="581025" h="571500">
                <a:moveTo>
                  <a:pt x="0" y="0"/>
                </a:moveTo>
                <a:lnTo>
                  <a:pt x="581025" y="0"/>
                </a:lnTo>
                <a:lnTo>
                  <a:pt x="5810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8050220" y="8785787"/>
            <a:ext cx="1093780" cy="875024"/>
          </a:xfrm>
          <a:custGeom>
            <a:avLst/>
            <a:gdLst/>
            <a:ahLst/>
            <a:cxnLst/>
            <a:rect l="l" t="t" r="r" b="b"/>
            <a:pathLst>
              <a:path w="952500" h="762000">
                <a:moveTo>
                  <a:pt x="0" y="0"/>
                </a:moveTo>
                <a:lnTo>
                  <a:pt x="952500" y="0"/>
                </a:lnTo>
                <a:lnTo>
                  <a:pt x="9525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8268977" y="8785787"/>
            <a:ext cx="667206" cy="875024"/>
          </a:xfrm>
          <a:custGeom>
            <a:avLst/>
            <a:gdLst/>
            <a:ahLst/>
            <a:cxnLst/>
            <a:rect l="l" t="t" r="r" b="b"/>
            <a:pathLst>
              <a:path w="581025" h="762000">
                <a:moveTo>
                  <a:pt x="0" y="0"/>
                </a:moveTo>
                <a:lnTo>
                  <a:pt x="581025" y="0"/>
                </a:lnTo>
                <a:lnTo>
                  <a:pt x="58102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45" name="TextBox 45"/>
          <p:cNvSpPr txBox="1"/>
          <p:nvPr/>
        </p:nvSpPr>
        <p:spPr>
          <a:xfrm>
            <a:off x="9208155" y="9115272"/>
            <a:ext cx="3668908" cy="390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38"/>
              </a:lnSpc>
            </a:pPr>
            <a:r>
              <a:rPr lang="en-US" sz="1400" spc="-11" dirty="0" err="1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SafeNodes</a:t>
            </a:r>
            <a:r>
              <a:rPr lang="en-US" sz="1400" spc="-11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 help identify the user's location/zone when GPS is unreliable indoors.</a:t>
            </a:r>
          </a:p>
        </p:txBody>
      </p:sp>
      <p:sp>
        <p:nvSpPr>
          <p:cNvPr id="46" name="Freeform 46"/>
          <p:cNvSpPr/>
          <p:nvPr/>
        </p:nvSpPr>
        <p:spPr>
          <a:xfrm>
            <a:off x="12840977" y="5570074"/>
            <a:ext cx="5239206" cy="1509416"/>
          </a:xfrm>
          <a:custGeom>
            <a:avLst/>
            <a:gdLst/>
            <a:ahLst/>
            <a:cxnLst/>
            <a:rect l="l" t="t" r="r" b="b"/>
            <a:pathLst>
              <a:path w="4562475" h="1314450">
                <a:moveTo>
                  <a:pt x="0" y="0"/>
                </a:moveTo>
                <a:lnTo>
                  <a:pt x="4562475" y="0"/>
                </a:lnTo>
                <a:lnTo>
                  <a:pt x="4562475" y="1314450"/>
                </a:lnTo>
                <a:lnTo>
                  <a:pt x="0" y="131445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13059732" y="5996648"/>
            <a:ext cx="656268" cy="656268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13716000" y="5788831"/>
            <a:ext cx="875024" cy="864086"/>
          </a:xfrm>
          <a:custGeom>
            <a:avLst/>
            <a:gdLst/>
            <a:ahLst/>
            <a:cxnLst/>
            <a:rect l="l" t="t" r="r" b="b"/>
            <a:pathLst>
              <a:path w="762000" h="752475">
                <a:moveTo>
                  <a:pt x="0" y="0"/>
                </a:moveTo>
                <a:lnTo>
                  <a:pt x="762000" y="0"/>
                </a:lnTo>
                <a:lnTo>
                  <a:pt x="762000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13923819" y="5996648"/>
            <a:ext cx="448450" cy="656268"/>
          </a:xfrm>
          <a:custGeom>
            <a:avLst/>
            <a:gdLst/>
            <a:ahLst/>
            <a:cxnLst/>
            <a:rect l="l" t="t" r="r" b="b"/>
            <a:pathLst>
              <a:path w="390525" h="571500">
                <a:moveTo>
                  <a:pt x="0" y="0"/>
                </a:moveTo>
                <a:lnTo>
                  <a:pt x="390525" y="0"/>
                </a:lnTo>
                <a:lnTo>
                  <a:pt x="3905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12840977" y="7068553"/>
            <a:ext cx="5239206" cy="1728172"/>
          </a:xfrm>
          <a:custGeom>
            <a:avLst/>
            <a:gdLst/>
            <a:ahLst/>
            <a:cxnLst/>
            <a:rect l="l" t="t" r="r" b="b"/>
            <a:pathLst>
              <a:path w="4562475" h="1504950">
                <a:moveTo>
                  <a:pt x="0" y="0"/>
                </a:moveTo>
                <a:lnTo>
                  <a:pt x="4562475" y="0"/>
                </a:lnTo>
                <a:lnTo>
                  <a:pt x="45624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13059732" y="7506065"/>
            <a:ext cx="656268" cy="645330"/>
          </a:xfrm>
          <a:custGeom>
            <a:avLst/>
            <a:gdLst/>
            <a:ahLst/>
            <a:cxnLst/>
            <a:rect l="l" t="t" r="r" b="b"/>
            <a:pathLst>
              <a:path w="571500" h="561975">
                <a:moveTo>
                  <a:pt x="0" y="0"/>
                </a:moveTo>
                <a:lnTo>
                  <a:pt x="571500" y="0"/>
                </a:lnTo>
                <a:lnTo>
                  <a:pt x="571500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</p:sp>
      <p:sp>
        <p:nvSpPr>
          <p:cNvPr id="52" name="Freeform 52"/>
          <p:cNvSpPr/>
          <p:nvPr/>
        </p:nvSpPr>
        <p:spPr>
          <a:xfrm>
            <a:off x="13716000" y="7287309"/>
            <a:ext cx="875024" cy="864086"/>
          </a:xfrm>
          <a:custGeom>
            <a:avLst/>
            <a:gdLst/>
            <a:ahLst/>
            <a:cxnLst/>
            <a:rect l="l" t="t" r="r" b="b"/>
            <a:pathLst>
              <a:path w="762000" h="752475">
                <a:moveTo>
                  <a:pt x="0" y="0"/>
                </a:moveTo>
                <a:lnTo>
                  <a:pt x="762000" y="0"/>
                </a:lnTo>
                <a:lnTo>
                  <a:pt x="762000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>
            <a:off x="13923819" y="7287309"/>
            <a:ext cx="667206" cy="864086"/>
          </a:xfrm>
          <a:custGeom>
            <a:avLst/>
            <a:gdLst/>
            <a:ahLst/>
            <a:cxnLst/>
            <a:rect l="l" t="t" r="r" b="b"/>
            <a:pathLst>
              <a:path w="581025" h="752475">
                <a:moveTo>
                  <a:pt x="0" y="0"/>
                </a:moveTo>
                <a:lnTo>
                  <a:pt x="581025" y="0"/>
                </a:lnTo>
                <a:lnTo>
                  <a:pt x="5810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/>
            </a:stretch>
          </a:blipFill>
        </p:spPr>
      </p:sp>
      <p:sp>
        <p:nvSpPr>
          <p:cNvPr id="54" name="TextBox 54"/>
          <p:cNvSpPr txBox="1"/>
          <p:nvPr/>
        </p:nvSpPr>
        <p:spPr>
          <a:xfrm>
            <a:off x="14714893" y="7306987"/>
            <a:ext cx="1909231" cy="213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3"/>
              </a:lnSpc>
            </a:pPr>
            <a:r>
              <a:rPr lang="en-US" sz="1287" b="1" spc="-11">
                <a:solidFill>
                  <a:srgbClr val="051634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OFFLINE-FIRST SAFETY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4701854" y="7589222"/>
            <a:ext cx="3378328" cy="7752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62"/>
              </a:lnSpc>
            </a:pPr>
            <a:r>
              <a:rPr lang="en-US" sz="1400" spc="-10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When 4G connectivity is unavailable, the system can retain last-known location and emergency status until communication is restored.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067800" y="6071365"/>
            <a:ext cx="3809263" cy="390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38"/>
              </a:lnSpc>
            </a:pPr>
            <a:r>
              <a:rPr lang="en-US" sz="1400" spc="-11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1st Press → Activate + 2nd Press → SOS</a:t>
            </a:r>
          </a:p>
          <a:p>
            <a:pPr>
              <a:lnSpc>
                <a:spcPts val="1538"/>
              </a:lnSpc>
            </a:pPr>
            <a:r>
              <a:rPr lang="en-US" sz="1400" spc="-11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• Emergency SMS + 3rd Press → Buzzer + Flash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207950" y="6508362"/>
            <a:ext cx="3427632" cy="390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38"/>
              </a:lnSpc>
            </a:pPr>
            <a:r>
              <a:rPr lang="en-US" sz="1400" spc="-11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A progressive alert system gives the user control over how urgently to respond.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4701851" y="6082301"/>
            <a:ext cx="3213368" cy="547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16"/>
              </a:lnSpc>
            </a:pPr>
            <a:r>
              <a:rPr lang="en-US" sz="1400" spc="-10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Start silently with an emergency signal,</a:t>
            </a:r>
          </a:p>
          <a:p>
            <a:pPr>
              <a:lnSpc>
                <a:spcPts val="1416"/>
              </a:lnSpc>
            </a:pPr>
            <a:r>
              <a:rPr lang="en-US" sz="1400" spc="-10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then escalate to buzzer when attention is needed.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208643" y="9548161"/>
            <a:ext cx="3358437" cy="368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02"/>
              </a:lnSpc>
            </a:pPr>
            <a:r>
              <a:rPr lang="en-US" sz="1400" spc="-10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→ Extends location awareness beyond outdoor GPS.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4503694" y="6722080"/>
            <a:ext cx="3378331" cy="1885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2"/>
              </a:lnSpc>
            </a:pPr>
            <a:r>
              <a:rPr lang="en-US" sz="1400" spc="-10" dirty="0">
                <a:solidFill>
                  <a:srgbClr val="051634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→ One device, multiple levels of response.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4965894" y="9205675"/>
            <a:ext cx="1687256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8"/>
              </a:lnSpc>
            </a:pPr>
            <a:r>
              <a:rPr lang="en-US" sz="1722" b="1" spc="-16">
                <a:solidFill>
                  <a:srgbClr val="051634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Rapid Response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9218171" y="8874148"/>
            <a:ext cx="2405471" cy="213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3"/>
              </a:lnSpc>
            </a:pPr>
            <a:r>
              <a:rPr lang="en-US" sz="1287" b="1" spc="-11">
                <a:solidFill>
                  <a:srgbClr val="051634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SAFENODE INDOOR SUPPORT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4708180" y="5875446"/>
            <a:ext cx="2580491" cy="213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3"/>
              </a:lnSpc>
            </a:pPr>
            <a:r>
              <a:rPr lang="en-US" sz="1287" b="1" spc="-11" dirty="0">
                <a:solidFill>
                  <a:srgbClr val="051634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DISCREET → VISIBLE RESPONSE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2716635" y="9205675"/>
            <a:ext cx="1585030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8"/>
              </a:lnSpc>
            </a:pPr>
            <a:r>
              <a:rPr lang="en-US" sz="1722" b="1" spc="-16">
                <a:solidFill>
                  <a:srgbClr val="051634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Smart Location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655874" y="9205675"/>
            <a:ext cx="1385287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8"/>
              </a:lnSpc>
            </a:pPr>
            <a:r>
              <a:rPr lang="en-US" sz="1722" b="1" spc="-16">
                <a:solidFill>
                  <a:srgbClr val="051634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Discreet SOS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562099" y="7578217"/>
            <a:ext cx="297729" cy="301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1827" b="1" spc="-17">
                <a:solidFill>
                  <a:srgbClr val="0072FF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02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560181" y="9070033"/>
            <a:ext cx="301567" cy="301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1827" b="1" spc="-17">
                <a:solidFill>
                  <a:srgbClr val="0072FF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03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3182278" y="6101470"/>
            <a:ext cx="308778" cy="301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1827" b="1" spc="-17">
                <a:solidFill>
                  <a:srgbClr val="0072FF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04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7543800" y="6132982"/>
            <a:ext cx="351740" cy="3011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1827" b="1" spc="-17" dirty="0">
                <a:solidFill>
                  <a:srgbClr val="0072FF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01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3188617" y="7593286"/>
            <a:ext cx="296100" cy="301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1827" b="1" spc="-17">
                <a:solidFill>
                  <a:srgbClr val="0072FF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05</a:t>
            </a:r>
          </a:p>
        </p:txBody>
      </p:sp>
      <p:sp>
        <p:nvSpPr>
          <p:cNvPr id="76" name="TextBox 6">
            <a:extLst>
              <a:ext uri="{FF2B5EF4-FFF2-40B4-BE49-F238E27FC236}">
                <a16:creationId xmlns:a16="http://schemas.microsoft.com/office/drawing/2014/main" id="{A5F6838B-C5EA-4040-9C8C-1462C59CC4CD}"/>
              </a:ext>
            </a:extLst>
          </p:cNvPr>
          <p:cNvSpPr txBox="1"/>
          <p:nvPr/>
        </p:nvSpPr>
        <p:spPr>
          <a:xfrm>
            <a:off x="14227669" y="295907"/>
            <a:ext cx="2841131" cy="4244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42"/>
              </a:lnSpc>
            </a:pPr>
            <a:r>
              <a:rPr lang="en-US" sz="2783" b="1" dirty="0">
                <a:solidFill>
                  <a:srgbClr val="0A74FF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Colossal-a-Pitch</a:t>
            </a:r>
          </a:p>
        </p:txBody>
      </p:sp>
      <p:sp>
        <p:nvSpPr>
          <p:cNvPr id="77" name="TextBox 37">
            <a:extLst>
              <a:ext uri="{FF2B5EF4-FFF2-40B4-BE49-F238E27FC236}">
                <a16:creationId xmlns:a16="http://schemas.microsoft.com/office/drawing/2014/main" id="{E9A8461E-7941-4F7F-925C-2932721C49E7}"/>
              </a:ext>
            </a:extLst>
          </p:cNvPr>
          <p:cNvSpPr txBox="1"/>
          <p:nvPr/>
        </p:nvSpPr>
        <p:spPr>
          <a:xfrm>
            <a:off x="14243709" y="763042"/>
            <a:ext cx="3486165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61"/>
              </a:lnSpc>
            </a:pPr>
            <a:r>
              <a:rPr lang="en-US" sz="1634" b="1" dirty="0" err="1">
                <a:solidFill>
                  <a:srgbClr val="292E4B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Avinya</a:t>
            </a:r>
            <a:r>
              <a:rPr lang="en-US" sz="1634" b="1" dirty="0">
                <a:solidFill>
                  <a:srgbClr val="292E4B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 26</a:t>
            </a:r>
          </a:p>
        </p:txBody>
      </p:sp>
      <p:sp>
        <p:nvSpPr>
          <p:cNvPr id="78" name="TextBox 6">
            <a:extLst>
              <a:ext uri="{FF2B5EF4-FFF2-40B4-BE49-F238E27FC236}">
                <a16:creationId xmlns:a16="http://schemas.microsoft.com/office/drawing/2014/main" id="{0409D03A-F6CC-48F6-B4C0-9D7559423ACC}"/>
              </a:ext>
            </a:extLst>
          </p:cNvPr>
          <p:cNvSpPr txBox="1"/>
          <p:nvPr/>
        </p:nvSpPr>
        <p:spPr>
          <a:xfrm>
            <a:off x="405634" y="412330"/>
            <a:ext cx="2841131" cy="4244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42"/>
              </a:lnSpc>
            </a:pPr>
            <a:r>
              <a:rPr lang="en-US" sz="2783" b="1" dirty="0">
                <a:solidFill>
                  <a:srgbClr val="0A74FF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Team Gamma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207818" y="1282457"/>
            <a:ext cx="17872364" cy="229694"/>
          </a:xfrm>
          <a:custGeom>
            <a:avLst/>
            <a:gdLst/>
            <a:ahLst/>
            <a:cxnLst/>
            <a:rect l="l" t="t" r="r" b="b"/>
            <a:pathLst>
              <a:path w="15563850" h="200025">
                <a:moveTo>
                  <a:pt x="0" y="0"/>
                </a:moveTo>
                <a:lnTo>
                  <a:pt x="15563850" y="0"/>
                </a:lnTo>
                <a:lnTo>
                  <a:pt x="15563850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13281" y="1569102"/>
            <a:ext cx="4928933" cy="876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543"/>
              </a:lnSpc>
            </a:pPr>
            <a:r>
              <a:rPr lang="en-US" sz="6543" b="1" spc="-131">
                <a:solidFill>
                  <a:srgbClr val="0054E0"/>
                </a:solidFill>
                <a:latin typeface="Microsoft New Tai Lue" panose="020B0502040204020203" pitchFamily="34" charset="0"/>
                <a:ea typeface="Inter Heavy"/>
                <a:cs typeface="Microsoft New Tai Lue" panose="020B0502040204020203" pitchFamily="34" charset="0"/>
                <a:sym typeface="Inter Heavy"/>
              </a:rPr>
              <a:t>TECHNICAL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4193" y="2307477"/>
            <a:ext cx="4837783" cy="876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543"/>
              </a:lnSpc>
            </a:pPr>
            <a:r>
              <a:rPr lang="en-US" sz="6543" b="1" spc="-131">
                <a:solidFill>
                  <a:srgbClr val="050F32"/>
                </a:solidFill>
                <a:latin typeface="Microsoft New Tai Lue" panose="020B0502040204020203" pitchFamily="34" charset="0"/>
                <a:ea typeface="Inter Heavy"/>
                <a:cs typeface="Microsoft New Tai Lue" panose="020B0502040204020203" pitchFamily="34" charset="0"/>
                <a:sym typeface="Inter Heavy"/>
              </a:rPr>
              <a:t>APPROACH</a:t>
            </a:r>
          </a:p>
        </p:txBody>
      </p:sp>
      <p:sp>
        <p:nvSpPr>
          <p:cNvPr id="10" name="Freeform 10"/>
          <p:cNvSpPr/>
          <p:nvPr/>
        </p:nvSpPr>
        <p:spPr>
          <a:xfrm>
            <a:off x="426575" y="2999692"/>
            <a:ext cx="1104718" cy="229694"/>
          </a:xfrm>
          <a:custGeom>
            <a:avLst/>
            <a:gdLst/>
            <a:ahLst/>
            <a:cxnLst/>
            <a:rect l="l" t="t" r="r" b="b"/>
            <a:pathLst>
              <a:path w="962025" h="200025">
                <a:moveTo>
                  <a:pt x="0" y="0"/>
                </a:moveTo>
                <a:lnTo>
                  <a:pt x="962025" y="0"/>
                </a:lnTo>
                <a:lnTo>
                  <a:pt x="962025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36872" y="3309678"/>
            <a:ext cx="2569835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5"/>
              </a:lnSpc>
            </a:pPr>
            <a:r>
              <a:rPr lang="en-US" sz="2337" b="1" spc="-46">
                <a:solidFill>
                  <a:srgbClr val="0066FF"/>
                </a:solidFill>
                <a:latin typeface="Microsoft New Tai Lue" panose="020B0502040204020203" pitchFamily="34" charset="0"/>
                <a:ea typeface="Inter Bold"/>
                <a:cs typeface="Microsoft New Tai Lue" panose="020B0502040204020203" pitchFamily="34" charset="0"/>
                <a:sym typeface="Inter Bold"/>
              </a:rPr>
              <a:t>Technology Used:</a:t>
            </a:r>
          </a:p>
        </p:txBody>
      </p:sp>
      <p:sp>
        <p:nvSpPr>
          <p:cNvPr id="12" name="Freeform 12"/>
          <p:cNvSpPr/>
          <p:nvPr/>
        </p:nvSpPr>
        <p:spPr>
          <a:xfrm>
            <a:off x="426575" y="3645022"/>
            <a:ext cx="1104718" cy="1082842"/>
          </a:xfrm>
          <a:custGeom>
            <a:avLst/>
            <a:gdLst/>
            <a:ahLst/>
            <a:cxnLst/>
            <a:rect l="l" t="t" r="r" b="b"/>
            <a:pathLst>
              <a:path w="962025" h="942975">
                <a:moveTo>
                  <a:pt x="0" y="0"/>
                </a:moveTo>
                <a:lnTo>
                  <a:pt x="962025" y="0"/>
                </a:lnTo>
                <a:lnTo>
                  <a:pt x="9620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45331" y="3852840"/>
            <a:ext cx="667206" cy="656268"/>
          </a:xfrm>
          <a:custGeom>
            <a:avLst/>
            <a:gdLst/>
            <a:ahLst/>
            <a:cxnLst/>
            <a:rect l="l" t="t" r="r" b="b"/>
            <a:pathLst>
              <a:path w="581025" h="571500">
                <a:moveTo>
                  <a:pt x="0" y="0"/>
                </a:moveTo>
                <a:lnTo>
                  <a:pt x="581025" y="0"/>
                </a:lnTo>
                <a:lnTo>
                  <a:pt x="5810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821054" y="3742543"/>
            <a:ext cx="590261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7"/>
              </a:lnSpc>
            </a:pPr>
            <a:r>
              <a:rPr lang="en-US" sz="1700" b="1" spc="-45" dirty="0">
                <a:solidFill>
                  <a:srgbClr val="050F32"/>
                </a:solidFill>
                <a:latin typeface="Microsoft New Tai Lue" panose="020B0502040204020203" pitchFamily="34" charset="0"/>
                <a:ea typeface="Inter Bold"/>
                <a:cs typeface="Microsoft New Tai Lue" panose="020B0502040204020203" pitchFamily="34" charset="0"/>
                <a:sym typeface="Inter Bold"/>
              </a:rPr>
              <a:t>ESP32 – Core Controller</a:t>
            </a:r>
          </a:p>
          <a:p>
            <a:pPr>
              <a:lnSpc>
                <a:spcPts val="1817"/>
              </a:lnSpc>
            </a:pPr>
            <a:r>
              <a:rPr lang="en-US" sz="1700" spc="-45" dirty="0">
                <a:solidFill>
                  <a:srgbClr val="050F32"/>
                </a:solidFill>
                <a:latin typeface="Microsoft New Tai Lue" panose="020B0502040204020203" pitchFamily="34" charset="0"/>
                <a:ea typeface="Inter"/>
                <a:cs typeface="Microsoft New Tai Lue" panose="020B0502040204020203" pitchFamily="34" charset="0"/>
                <a:sym typeface="Inter"/>
              </a:rPr>
              <a:t>Acts as the brain of SURAKSHA KEY, processing button inputs, sensor data and managing the emergency sequence. Controls GPS, 4G, MPU6050, buzzer, and vibration modules.</a:t>
            </a:r>
          </a:p>
        </p:txBody>
      </p:sp>
      <p:sp>
        <p:nvSpPr>
          <p:cNvPr id="15" name="Freeform 15"/>
          <p:cNvSpPr/>
          <p:nvPr/>
        </p:nvSpPr>
        <p:spPr>
          <a:xfrm>
            <a:off x="426574" y="4716926"/>
            <a:ext cx="7415828" cy="218756"/>
          </a:xfrm>
          <a:custGeom>
            <a:avLst/>
            <a:gdLst/>
            <a:ahLst/>
            <a:cxnLst/>
            <a:rect l="l" t="t" r="r" b="b"/>
            <a:pathLst>
              <a:path w="6457950" h="190500">
                <a:moveTo>
                  <a:pt x="0" y="0"/>
                </a:moveTo>
                <a:lnTo>
                  <a:pt x="6457950" y="0"/>
                </a:lnTo>
                <a:lnTo>
                  <a:pt x="645795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426575" y="4716926"/>
            <a:ext cx="1104718" cy="1082842"/>
          </a:xfrm>
          <a:custGeom>
            <a:avLst/>
            <a:gdLst/>
            <a:ahLst/>
            <a:cxnLst/>
            <a:rect l="l" t="t" r="r" b="b"/>
            <a:pathLst>
              <a:path w="962025" h="942975">
                <a:moveTo>
                  <a:pt x="0" y="0"/>
                </a:moveTo>
                <a:lnTo>
                  <a:pt x="962025" y="0"/>
                </a:lnTo>
                <a:lnTo>
                  <a:pt x="9620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645331" y="4924744"/>
            <a:ext cx="667206" cy="656268"/>
          </a:xfrm>
          <a:custGeom>
            <a:avLst/>
            <a:gdLst/>
            <a:ahLst/>
            <a:cxnLst/>
            <a:rect l="l" t="t" r="r" b="b"/>
            <a:pathLst>
              <a:path w="581025" h="571500">
                <a:moveTo>
                  <a:pt x="0" y="0"/>
                </a:moveTo>
                <a:lnTo>
                  <a:pt x="581025" y="0"/>
                </a:lnTo>
                <a:lnTo>
                  <a:pt x="5810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817762" y="4812431"/>
            <a:ext cx="626134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7"/>
              </a:lnSpc>
            </a:pPr>
            <a:r>
              <a:rPr lang="en-US" sz="1700" b="1" spc="-45">
                <a:solidFill>
                  <a:srgbClr val="050F32"/>
                </a:solidFill>
                <a:latin typeface="Microsoft New Tai Lue" panose="020B0502040204020203" pitchFamily="34" charset="0"/>
                <a:ea typeface="Inter Bold"/>
                <a:cs typeface="Microsoft New Tai Lue" panose="020B0502040204020203" pitchFamily="34" charset="0"/>
                <a:sym typeface="Inter Bold"/>
              </a:rPr>
              <a:t>A7670C 4G – Communication Module</a:t>
            </a:r>
          </a:p>
          <a:p>
            <a:pPr>
              <a:lnSpc>
                <a:spcPts val="1817"/>
              </a:lnSpc>
            </a:pPr>
            <a:r>
              <a:rPr lang="en-US" sz="1700" spc="-45">
                <a:solidFill>
                  <a:srgbClr val="050F32"/>
                </a:solidFill>
                <a:latin typeface="Microsoft New Tai Lue" panose="020B0502040204020203" pitchFamily="34" charset="0"/>
                <a:ea typeface="Inter"/>
                <a:cs typeface="Microsoft New Tai Lue" panose="020B0502040204020203" pitchFamily="34" charset="0"/>
                <a:sym typeface="Inter"/>
              </a:rPr>
              <a:t>Provides a loud buzzer to transmit SOS alerts, emergency SMS and GPS location. Enables direct communication without relying on the user's smartphone.</a:t>
            </a:r>
          </a:p>
        </p:txBody>
      </p:sp>
      <p:sp>
        <p:nvSpPr>
          <p:cNvPr id="19" name="Freeform 19"/>
          <p:cNvSpPr/>
          <p:nvPr/>
        </p:nvSpPr>
        <p:spPr>
          <a:xfrm>
            <a:off x="426574" y="5788830"/>
            <a:ext cx="7415828" cy="218756"/>
          </a:xfrm>
          <a:custGeom>
            <a:avLst/>
            <a:gdLst/>
            <a:ahLst/>
            <a:cxnLst/>
            <a:rect l="l" t="t" r="r" b="b"/>
            <a:pathLst>
              <a:path w="6457950" h="190500">
                <a:moveTo>
                  <a:pt x="0" y="0"/>
                </a:moveTo>
                <a:lnTo>
                  <a:pt x="6457950" y="0"/>
                </a:lnTo>
                <a:lnTo>
                  <a:pt x="645795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426575" y="5788831"/>
            <a:ext cx="1104718" cy="864086"/>
          </a:xfrm>
          <a:custGeom>
            <a:avLst/>
            <a:gdLst/>
            <a:ahLst/>
            <a:cxnLst/>
            <a:rect l="l" t="t" r="r" b="b"/>
            <a:pathLst>
              <a:path w="962025" h="752475">
                <a:moveTo>
                  <a:pt x="0" y="0"/>
                </a:moveTo>
                <a:lnTo>
                  <a:pt x="962025" y="0"/>
                </a:lnTo>
                <a:lnTo>
                  <a:pt x="9620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645331" y="5788831"/>
            <a:ext cx="667206" cy="864086"/>
          </a:xfrm>
          <a:custGeom>
            <a:avLst/>
            <a:gdLst/>
            <a:ahLst/>
            <a:cxnLst/>
            <a:rect l="l" t="t" r="r" b="b"/>
            <a:pathLst>
              <a:path w="581025" h="752475">
                <a:moveTo>
                  <a:pt x="0" y="0"/>
                </a:moveTo>
                <a:lnTo>
                  <a:pt x="581025" y="0"/>
                </a:lnTo>
                <a:lnTo>
                  <a:pt x="5810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814987" y="5927526"/>
            <a:ext cx="6563580" cy="7001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7"/>
              </a:lnSpc>
            </a:pPr>
            <a:r>
              <a:rPr lang="en-US" sz="1700" b="1" spc="-45">
                <a:solidFill>
                  <a:srgbClr val="050F32"/>
                </a:solidFill>
                <a:latin typeface="Microsoft New Tai Lue" panose="020B0502040204020203" pitchFamily="34" charset="0"/>
                <a:ea typeface="Inter Bold"/>
                <a:cs typeface="Microsoft New Tai Lue" panose="020B0502040204020203" pitchFamily="34" charset="0"/>
                <a:sym typeface="Inter Bold"/>
              </a:rPr>
              <a:t>GPS Button – Emergency Alert</a:t>
            </a:r>
          </a:p>
          <a:p>
            <a:pPr>
              <a:lnSpc>
                <a:spcPts val="1817"/>
              </a:lnSpc>
            </a:pPr>
            <a:r>
              <a:rPr lang="en-US" sz="1700" spc="-45">
                <a:solidFill>
                  <a:srgbClr val="050F32"/>
                </a:solidFill>
                <a:latin typeface="Microsoft New Tai Lue" panose="020B0502040204020203" pitchFamily="34" charset="0"/>
                <a:ea typeface="Inter"/>
                <a:cs typeface="Microsoft New Tai Lue" panose="020B0502040204020203" pitchFamily="34" charset="0"/>
                <a:sym typeface="Inter"/>
              </a:rPr>
              <a:t>Captures the user's latitude and longitude during an emergency. Provides location data for SOS alerts, live tracking and rapid response.</a:t>
            </a:r>
          </a:p>
        </p:txBody>
      </p:sp>
      <p:sp>
        <p:nvSpPr>
          <p:cNvPr id="23" name="Freeform 23"/>
          <p:cNvSpPr/>
          <p:nvPr/>
        </p:nvSpPr>
        <p:spPr>
          <a:xfrm>
            <a:off x="426574" y="6641979"/>
            <a:ext cx="7415828" cy="229694"/>
          </a:xfrm>
          <a:custGeom>
            <a:avLst/>
            <a:gdLst/>
            <a:ahLst/>
            <a:cxnLst/>
            <a:rect l="l" t="t" r="r" b="b"/>
            <a:pathLst>
              <a:path w="6457950" h="200025">
                <a:moveTo>
                  <a:pt x="0" y="0"/>
                </a:moveTo>
                <a:lnTo>
                  <a:pt x="6457950" y="0"/>
                </a:lnTo>
                <a:lnTo>
                  <a:pt x="6457950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426575" y="6641978"/>
            <a:ext cx="1104718" cy="875024"/>
          </a:xfrm>
          <a:custGeom>
            <a:avLst/>
            <a:gdLst/>
            <a:ahLst/>
            <a:cxnLst/>
            <a:rect l="l" t="t" r="r" b="b"/>
            <a:pathLst>
              <a:path w="962025" h="762000">
                <a:moveTo>
                  <a:pt x="0" y="0"/>
                </a:moveTo>
                <a:lnTo>
                  <a:pt x="962025" y="0"/>
                </a:lnTo>
                <a:lnTo>
                  <a:pt x="96202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645331" y="6641978"/>
            <a:ext cx="885962" cy="875024"/>
          </a:xfrm>
          <a:custGeom>
            <a:avLst/>
            <a:gdLst/>
            <a:ahLst/>
            <a:cxnLst/>
            <a:rect l="l" t="t" r="r" b="b"/>
            <a:pathLst>
              <a:path w="771525" h="762000">
                <a:moveTo>
                  <a:pt x="0" y="0"/>
                </a:moveTo>
                <a:lnTo>
                  <a:pt x="771525" y="0"/>
                </a:lnTo>
                <a:lnTo>
                  <a:pt x="77152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825647" y="6801519"/>
            <a:ext cx="5402234" cy="7001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7"/>
              </a:lnSpc>
            </a:pPr>
            <a:r>
              <a:rPr lang="en-US" sz="1700" b="1" spc="-45" dirty="0">
                <a:solidFill>
                  <a:srgbClr val="050F32"/>
                </a:solidFill>
                <a:latin typeface="Microsoft New Tai Lue" panose="020B0502040204020203" pitchFamily="34" charset="0"/>
                <a:ea typeface="Inter Bold"/>
                <a:cs typeface="Microsoft New Tai Lue" panose="020B0502040204020203" pitchFamily="34" charset="0"/>
                <a:sym typeface="Inter Bold"/>
              </a:rPr>
              <a:t>MPU650 – Motion &amp; Fall Detection</a:t>
            </a:r>
          </a:p>
          <a:p>
            <a:pPr>
              <a:lnSpc>
                <a:spcPts val="1817"/>
              </a:lnSpc>
            </a:pPr>
            <a:r>
              <a:rPr lang="en-US" sz="1700" spc="-45" dirty="0">
                <a:solidFill>
                  <a:srgbClr val="050F32"/>
                </a:solidFill>
                <a:latin typeface="Microsoft New Tai Lue" panose="020B0502040204020203" pitchFamily="34" charset="0"/>
                <a:ea typeface="Inter"/>
                <a:cs typeface="Microsoft New Tai Lue" panose="020B0502040204020203" pitchFamily="34" charset="0"/>
                <a:sym typeface="Inter"/>
              </a:rPr>
              <a:t>Detects sudden jerks, falls or abnormal motion patterns to automatically trigger the emergency sequence.</a:t>
            </a:r>
          </a:p>
        </p:txBody>
      </p:sp>
      <p:sp>
        <p:nvSpPr>
          <p:cNvPr id="27" name="Freeform 27"/>
          <p:cNvSpPr/>
          <p:nvPr/>
        </p:nvSpPr>
        <p:spPr>
          <a:xfrm>
            <a:off x="426574" y="7506065"/>
            <a:ext cx="7415828" cy="218756"/>
          </a:xfrm>
          <a:custGeom>
            <a:avLst/>
            <a:gdLst/>
            <a:ahLst/>
            <a:cxnLst/>
            <a:rect l="l" t="t" r="r" b="b"/>
            <a:pathLst>
              <a:path w="6457950" h="190500">
                <a:moveTo>
                  <a:pt x="0" y="0"/>
                </a:moveTo>
                <a:lnTo>
                  <a:pt x="6457950" y="0"/>
                </a:lnTo>
                <a:lnTo>
                  <a:pt x="645795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426575" y="7506065"/>
            <a:ext cx="1104718" cy="864086"/>
          </a:xfrm>
          <a:custGeom>
            <a:avLst/>
            <a:gdLst/>
            <a:ahLst/>
            <a:cxnLst/>
            <a:rect l="l" t="t" r="r" b="b"/>
            <a:pathLst>
              <a:path w="962025" h="752475">
                <a:moveTo>
                  <a:pt x="0" y="0"/>
                </a:moveTo>
                <a:lnTo>
                  <a:pt x="962025" y="0"/>
                </a:lnTo>
                <a:lnTo>
                  <a:pt x="9620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645331" y="7506065"/>
            <a:ext cx="667206" cy="864086"/>
          </a:xfrm>
          <a:custGeom>
            <a:avLst/>
            <a:gdLst/>
            <a:ahLst/>
            <a:cxnLst/>
            <a:rect l="l" t="t" r="r" b="b"/>
            <a:pathLst>
              <a:path w="581025" h="752475">
                <a:moveTo>
                  <a:pt x="0" y="0"/>
                </a:moveTo>
                <a:lnTo>
                  <a:pt x="581025" y="0"/>
                </a:lnTo>
                <a:lnTo>
                  <a:pt x="5810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818107" y="7645375"/>
            <a:ext cx="6223655" cy="7001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7"/>
              </a:lnSpc>
            </a:pPr>
            <a:r>
              <a:rPr lang="en-US" sz="1700" b="1" spc="-45">
                <a:solidFill>
                  <a:srgbClr val="050F32"/>
                </a:solidFill>
                <a:latin typeface="Microsoft New Tai Lue" panose="020B0502040204020203" pitchFamily="34" charset="0"/>
                <a:ea typeface="Inter Bold"/>
                <a:cs typeface="Microsoft New Tai Lue" panose="020B0502040204020203" pitchFamily="34" charset="0"/>
                <a:sym typeface="Inter Bold"/>
              </a:rPr>
              <a:t>Push Button – 3-Stage SOS Trigger</a:t>
            </a:r>
          </a:p>
          <a:p>
            <a:pPr>
              <a:lnSpc>
                <a:spcPts val="1817"/>
              </a:lnSpc>
            </a:pPr>
            <a:r>
              <a:rPr lang="en-US" sz="1700" spc="-45">
                <a:solidFill>
                  <a:srgbClr val="050F32"/>
                </a:solidFill>
                <a:latin typeface="Microsoft New Tai Lue" panose="020B0502040204020203" pitchFamily="34" charset="0"/>
                <a:ea typeface="Inter"/>
                <a:cs typeface="Microsoft New Tai Lue" panose="020B0502040204020203" pitchFamily="34" charset="0"/>
                <a:sym typeface="Inter"/>
              </a:rPr>
              <a:t>Detects sequential prizes to activate, trigger SOS, and escalate the emergency alert. Provides simple, fast and discreet control.</a:t>
            </a:r>
          </a:p>
        </p:txBody>
      </p:sp>
      <p:sp>
        <p:nvSpPr>
          <p:cNvPr id="31" name="Freeform 31"/>
          <p:cNvSpPr/>
          <p:nvPr/>
        </p:nvSpPr>
        <p:spPr>
          <a:xfrm>
            <a:off x="426574" y="8359213"/>
            <a:ext cx="7415828" cy="229694"/>
          </a:xfrm>
          <a:custGeom>
            <a:avLst/>
            <a:gdLst/>
            <a:ahLst/>
            <a:cxnLst/>
            <a:rect l="l" t="t" r="r" b="b"/>
            <a:pathLst>
              <a:path w="6457950" h="200025">
                <a:moveTo>
                  <a:pt x="0" y="0"/>
                </a:moveTo>
                <a:lnTo>
                  <a:pt x="6457950" y="0"/>
                </a:lnTo>
                <a:lnTo>
                  <a:pt x="6457950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426575" y="8359214"/>
            <a:ext cx="1104718" cy="864086"/>
          </a:xfrm>
          <a:custGeom>
            <a:avLst/>
            <a:gdLst/>
            <a:ahLst/>
            <a:cxnLst/>
            <a:rect l="l" t="t" r="r" b="b"/>
            <a:pathLst>
              <a:path w="962025" h="752475">
                <a:moveTo>
                  <a:pt x="0" y="0"/>
                </a:moveTo>
                <a:lnTo>
                  <a:pt x="962025" y="0"/>
                </a:lnTo>
                <a:lnTo>
                  <a:pt x="9620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645331" y="8577970"/>
            <a:ext cx="667206" cy="645330"/>
          </a:xfrm>
          <a:custGeom>
            <a:avLst/>
            <a:gdLst/>
            <a:ahLst/>
            <a:cxnLst/>
            <a:rect l="l" t="t" r="r" b="b"/>
            <a:pathLst>
              <a:path w="581025" h="561975">
                <a:moveTo>
                  <a:pt x="0" y="0"/>
                </a:moveTo>
                <a:lnTo>
                  <a:pt x="581025" y="0"/>
                </a:lnTo>
                <a:lnTo>
                  <a:pt x="581025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1826955" y="8489230"/>
            <a:ext cx="5259763" cy="7001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7"/>
              </a:lnSpc>
            </a:pPr>
            <a:r>
              <a:rPr lang="en-US" sz="1700" b="1" spc="-45">
                <a:solidFill>
                  <a:srgbClr val="050F32"/>
                </a:solidFill>
                <a:latin typeface="Microsoft New Tai Lue" panose="020B0502040204020203" pitchFamily="34" charset="0"/>
                <a:ea typeface="Inter Bold"/>
                <a:cs typeface="Microsoft New Tai Lue" panose="020B0502040204020203" pitchFamily="34" charset="0"/>
                <a:sym typeface="Inter Bold"/>
              </a:rPr>
              <a:t>Buzzer &amp; Lich – Emergency Alert</a:t>
            </a:r>
          </a:p>
          <a:p>
            <a:pPr>
              <a:lnSpc>
                <a:spcPts val="1817"/>
              </a:lnSpc>
            </a:pPr>
            <a:r>
              <a:rPr lang="en-US" sz="1700" spc="-45">
                <a:solidFill>
                  <a:srgbClr val="050F32"/>
                </a:solidFill>
                <a:latin typeface="Microsoft New Tai Lue" panose="020B0502040204020203" pitchFamily="34" charset="0"/>
                <a:ea typeface="Inter"/>
                <a:cs typeface="Microsoft New Tai Lue" panose="020B0502040204020203" pitchFamily="34" charset="0"/>
                <a:sym typeface="Inter"/>
              </a:rPr>
              <a:t>Activates a loud buzzer to activate the emergency  </a:t>
            </a:r>
          </a:p>
          <a:p>
            <a:pPr>
              <a:lnSpc>
                <a:spcPts val="1817"/>
              </a:lnSpc>
            </a:pPr>
            <a:r>
              <a:rPr lang="en-US" sz="1700" spc="-45">
                <a:solidFill>
                  <a:srgbClr val="050F32"/>
                </a:solidFill>
                <a:latin typeface="Microsoft New Tai Lue" panose="020B0502040204020203" pitchFamily="34" charset="0"/>
                <a:ea typeface="Inter"/>
                <a:cs typeface="Microsoft New Tai Lue" panose="020B0502040204020203" pitchFamily="34" charset="0"/>
                <a:sym typeface="Inter"/>
              </a:rPr>
              <a:t>escalation. Provides instant audible and visible attention.</a:t>
            </a:r>
          </a:p>
        </p:txBody>
      </p:sp>
      <p:sp>
        <p:nvSpPr>
          <p:cNvPr id="35" name="Freeform 35"/>
          <p:cNvSpPr/>
          <p:nvPr/>
        </p:nvSpPr>
        <p:spPr>
          <a:xfrm>
            <a:off x="426574" y="9212362"/>
            <a:ext cx="7415828" cy="229694"/>
          </a:xfrm>
          <a:custGeom>
            <a:avLst/>
            <a:gdLst/>
            <a:ahLst/>
            <a:cxnLst/>
            <a:rect l="l" t="t" r="r" b="b"/>
            <a:pathLst>
              <a:path w="6457950" h="200025">
                <a:moveTo>
                  <a:pt x="0" y="0"/>
                </a:moveTo>
                <a:lnTo>
                  <a:pt x="6457950" y="0"/>
                </a:lnTo>
                <a:lnTo>
                  <a:pt x="6457950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426575" y="9212361"/>
            <a:ext cx="1104718" cy="875024"/>
          </a:xfrm>
          <a:custGeom>
            <a:avLst/>
            <a:gdLst/>
            <a:ahLst/>
            <a:cxnLst/>
            <a:rect l="l" t="t" r="r" b="b"/>
            <a:pathLst>
              <a:path w="962025" h="762000">
                <a:moveTo>
                  <a:pt x="0" y="0"/>
                </a:moveTo>
                <a:lnTo>
                  <a:pt x="962025" y="0"/>
                </a:lnTo>
                <a:lnTo>
                  <a:pt x="96202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645331" y="9431117"/>
            <a:ext cx="667206" cy="656268"/>
          </a:xfrm>
          <a:custGeom>
            <a:avLst/>
            <a:gdLst/>
            <a:ahLst/>
            <a:cxnLst/>
            <a:rect l="l" t="t" r="r" b="b"/>
            <a:pathLst>
              <a:path w="581025" h="571500">
                <a:moveTo>
                  <a:pt x="0" y="0"/>
                </a:moveTo>
                <a:lnTo>
                  <a:pt x="581025" y="0"/>
                </a:lnTo>
                <a:lnTo>
                  <a:pt x="5810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1820365" y="9333086"/>
            <a:ext cx="5977776" cy="931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7"/>
              </a:lnSpc>
            </a:pPr>
            <a:r>
              <a:rPr lang="en-US" sz="1700" b="1" spc="-45">
                <a:solidFill>
                  <a:srgbClr val="050F32"/>
                </a:solidFill>
                <a:latin typeface="Microsoft New Tai Lue" panose="020B0502040204020203" pitchFamily="34" charset="0"/>
                <a:ea typeface="Inter Bold"/>
                <a:cs typeface="Microsoft New Tai Lue" panose="020B0502040204020203" pitchFamily="34" charset="0"/>
                <a:sym typeface="Inter Bold"/>
              </a:rPr>
              <a:t>Mobile App + Dash-Board – Emergency Monitoring</a:t>
            </a:r>
          </a:p>
          <a:p>
            <a:pPr>
              <a:lnSpc>
                <a:spcPts val="1817"/>
              </a:lnSpc>
            </a:pPr>
            <a:r>
              <a:rPr lang="en-US" sz="1700" spc="-45">
                <a:solidFill>
                  <a:srgbClr val="050F32"/>
                </a:solidFill>
                <a:latin typeface="Microsoft New Tai Lue" panose="020B0502040204020203" pitchFamily="34" charset="0"/>
                <a:ea typeface="Inter"/>
                <a:cs typeface="Microsoft New Tai Lue" panose="020B0502040204020203" pitchFamily="34" charset="0"/>
                <a:sym typeface="Inter"/>
              </a:rPr>
              <a:t>The app shares location, manages trusted contacts and tracks active SOS alerts. The dashboard gives authorized responders real-time alerts, location and emergency status for faster action.</a:t>
            </a:r>
          </a:p>
        </p:txBody>
      </p:sp>
      <p:sp>
        <p:nvSpPr>
          <p:cNvPr id="39" name="Freeform 39"/>
          <p:cNvSpPr/>
          <p:nvPr/>
        </p:nvSpPr>
        <p:spPr>
          <a:xfrm>
            <a:off x="8050221" y="1501214"/>
            <a:ext cx="229694" cy="8586172"/>
          </a:xfrm>
          <a:custGeom>
            <a:avLst/>
            <a:gdLst/>
            <a:ahLst/>
            <a:cxnLst/>
            <a:rect l="l" t="t" r="r" b="b"/>
            <a:pathLst>
              <a:path w="200025" h="7477125">
                <a:moveTo>
                  <a:pt x="0" y="0"/>
                </a:moveTo>
                <a:lnTo>
                  <a:pt x="200025" y="0"/>
                </a:lnTo>
                <a:lnTo>
                  <a:pt x="200025" y="7477125"/>
                </a:lnTo>
                <a:lnTo>
                  <a:pt x="0" y="747712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40" name="TextBox 40"/>
          <p:cNvSpPr txBox="1"/>
          <p:nvPr/>
        </p:nvSpPr>
        <p:spPr>
          <a:xfrm>
            <a:off x="8220952" y="1576761"/>
            <a:ext cx="3007898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5"/>
              </a:lnSpc>
            </a:pPr>
            <a:r>
              <a:rPr lang="en-US" sz="2337" b="1" spc="-46">
                <a:solidFill>
                  <a:srgbClr val="0066FF"/>
                </a:solidFill>
                <a:latin typeface="Microsoft New Tai Lue" panose="020B0502040204020203" pitchFamily="34" charset="0"/>
                <a:ea typeface="Inter Bold"/>
                <a:cs typeface="Microsoft New Tai Lue" panose="020B0502040204020203" pitchFamily="34" charset="0"/>
                <a:sym typeface="Inter Bold"/>
              </a:rPr>
              <a:t>System Architecture:</a:t>
            </a:r>
          </a:p>
        </p:txBody>
      </p:sp>
      <p:sp>
        <p:nvSpPr>
          <p:cNvPr id="41" name="Freeform 41"/>
          <p:cNvSpPr/>
          <p:nvPr/>
        </p:nvSpPr>
        <p:spPr>
          <a:xfrm>
            <a:off x="8268977" y="1927787"/>
            <a:ext cx="9811206" cy="3871981"/>
          </a:xfrm>
          <a:custGeom>
            <a:avLst/>
            <a:gdLst/>
            <a:ahLst/>
            <a:cxnLst/>
            <a:rect l="l" t="t" r="r" b="b"/>
            <a:pathLst>
              <a:path w="8543925" h="3371850">
                <a:moveTo>
                  <a:pt x="0" y="0"/>
                </a:moveTo>
                <a:lnTo>
                  <a:pt x="8543925" y="0"/>
                </a:lnTo>
                <a:lnTo>
                  <a:pt x="8543925" y="3371850"/>
                </a:lnTo>
                <a:lnTo>
                  <a:pt x="0" y="337185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Freeform 42"/>
          <p:cNvSpPr/>
          <p:nvPr/>
        </p:nvSpPr>
        <p:spPr>
          <a:xfrm>
            <a:off x="8487732" y="1927788"/>
            <a:ext cx="2843828" cy="864086"/>
          </a:xfrm>
          <a:custGeom>
            <a:avLst/>
            <a:gdLst/>
            <a:ahLst/>
            <a:cxnLst/>
            <a:rect l="l" t="t" r="r" b="b"/>
            <a:pathLst>
              <a:path w="2476500" h="752475">
                <a:moveTo>
                  <a:pt x="0" y="0"/>
                </a:moveTo>
                <a:lnTo>
                  <a:pt x="2476500" y="0"/>
                </a:lnTo>
                <a:lnTo>
                  <a:pt x="2476500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8925244" y="2146544"/>
            <a:ext cx="437512" cy="645330"/>
          </a:xfrm>
          <a:custGeom>
            <a:avLst/>
            <a:gdLst/>
            <a:ahLst/>
            <a:cxnLst/>
            <a:rect l="l" t="t" r="r" b="b"/>
            <a:pathLst>
              <a:path w="381000" h="561975">
                <a:moveTo>
                  <a:pt x="0" y="0"/>
                </a:moveTo>
                <a:lnTo>
                  <a:pt x="381000" y="0"/>
                </a:lnTo>
                <a:lnTo>
                  <a:pt x="381000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8487732" y="2780935"/>
            <a:ext cx="2843828" cy="875024"/>
          </a:xfrm>
          <a:custGeom>
            <a:avLst/>
            <a:gdLst/>
            <a:ahLst/>
            <a:cxnLst/>
            <a:rect l="l" t="t" r="r" b="b"/>
            <a:pathLst>
              <a:path w="2476500" h="762000">
                <a:moveTo>
                  <a:pt x="0" y="0"/>
                </a:moveTo>
                <a:lnTo>
                  <a:pt x="2476500" y="0"/>
                </a:lnTo>
                <a:lnTo>
                  <a:pt x="24765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8925244" y="2780935"/>
            <a:ext cx="437512" cy="656268"/>
          </a:xfrm>
          <a:custGeom>
            <a:avLst/>
            <a:gdLst/>
            <a:ahLst/>
            <a:cxnLst/>
            <a:rect l="l" t="t" r="r" b="b"/>
            <a:pathLst>
              <a:path w="381000" h="571500">
                <a:moveTo>
                  <a:pt x="0" y="0"/>
                </a:moveTo>
                <a:lnTo>
                  <a:pt x="381000" y="0"/>
                </a:lnTo>
                <a:lnTo>
                  <a:pt x="3810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</p:sp>
      <p:sp>
        <p:nvSpPr>
          <p:cNvPr id="46" name="TextBox 46"/>
          <p:cNvSpPr txBox="1"/>
          <p:nvPr/>
        </p:nvSpPr>
        <p:spPr>
          <a:xfrm>
            <a:off x="9682398" y="3189128"/>
            <a:ext cx="1524245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40"/>
              </a:lnSpc>
            </a:pPr>
            <a:r>
              <a:rPr lang="en-US" sz="1283" spc="-38">
                <a:solidFill>
                  <a:srgbClr val="050F32"/>
                </a:solidFill>
                <a:latin typeface="Microsoft New Tai Lue" panose="020B0502040204020203" pitchFamily="34" charset="0"/>
                <a:ea typeface="Inter"/>
                <a:cs typeface="Microsoft New Tai Lue" panose="020B0502040204020203" pitchFamily="34" charset="0"/>
                <a:sym typeface="Inter"/>
              </a:rPr>
              <a:t>(Real-Time Location)</a:t>
            </a:r>
          </a:p>
        </p:txBody>
      </p:sp>
      <p:sp>
        <p:nvSpPr>
          <p:cNvPr id="47" name="Freeform 47"/>
          <p:cNvSpPr/>
          <p:nvPr/>
        </p:nvSpPr>
        <p:spPr>
          <a:xfrm>
            <a:off x="8487732" y="3426266"/>
            <a:ext cx="2843828" cy="1082842"/>
          </a:xfrm>
          <a:custGeom>
            <a:avLst/>
            <a:gdLst/>
            <a:ahLst/>
            <a:cxnLst/>
            <a:rect l="l" t="t" r="r" b="b"/>
            <a:pathLst>
              <a:path w="2476500" h="942975">
                <a:moveTo>
                  <a:pt x="0" y="0"/>
                </a:moveTo>
                <a:lnTo>
                  <a:pt x="2476500" y="0"/>
                </a:lnTo>
                <a:lnTo>
                  <a:pt x="247650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8925244" y="3645022"/>
            <a:ext cx="437512" cy="656268"/>
          </a:xfrm>
          <a:custGeom>
            <a:avLst/>
            <a:gdLst/>
            <a:ahLst/>
            <a:cxnLst/>
            <a:rect l="l" t="t" r="r" b="b"/>
            <a:pathLst>
              <a:path w="381000" h="571500">
                <a:moveTo>
                  <a:pt x="0" y="0"/>
                </a:moveTo>
                <a:lnTo>
                  <a:pt x="381000" y="0"/>
                </a:lnTo>
                <a:lnTo>
                  <a:pt x="3810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8487732" y="4290352"/>
            <a:ext cx="2843828" cy="1082842"/>
          </a:xfrm>
          <a:custGeom>
            <a:avLst/>
            <a:gdLst/>
            <a:ahLst/>
            <a:cxnLst/>
            <a:rect l="l" t="t" r="r" b="b"/>
            <a:pathLst>
              <a:path w="2476500" h="942975">
                <a:moveTo>
                  <a:pt x="0" y="0"/>
                </a:moveTo>
                <a:lnTo>
                  <a:pt x="2476500" y="0"/>
                </a:lnTo>
                <a:lnTo>
                  <a:pt x="247650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8706488" y="4498170"/>
            <a:ext cx="875024" cy="656268"/>
          </a:xfrm>
          <a:custGeom>
            <a:avLst/>
            <a:gdLst/>
            <a:ahLst/>
            <a:cxnLst/>
            <a:rect l="l" t="t" r="r" b="b"/>
            <a:pathLst>
              <a:path w="762000" h="571500">
                <a:moveTo>
                  <a:pt x="0" y="0"/>
                </a:moveTo>
                <a:lnTo>
                  <a:pt x="762000" y="0"/>
                </a:lnTo>
                <a:lnTo>
                  <a:pt x="7620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11747196" y="2146543"/>
            <a:ext cx="2625072" cy="2362565"/>
          </a:xfrm>
          <a:custGeom>
            <a:avLst/>
            <a:gdLst/>
            <a:ahLst/>
            <a:cxnLst/>
            <a:rect l="l" t="t" r="r" b="b"/>
            <a:pathLst>
              <a:path w="2286000" h="2057400">
                <a:moveTo>
                  <a:pt x="0" y="0"/>
                </a:moveTo>
                <a:lnTo>
                  <a:pt x="2286000" y="0"/>
                </a:lnTo>
                <a:lnTo>
                  <a:pt x="22860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/>
            </a:stretch>
          </a:blipFill>
        </p:spPr>
      </p:sp>
      <p:sp>
        <p:nvSpPr>
          <p:cNvPr id="52" name="Freeform 52"/>
          <p:cNvSpPr/>
          <p:nvPr/>
        </p:nvSpPr>
        <p:spPr>
          <a:xfrm>
            <a:off x="12622221" y="2780935"/>
            <a:ext cx="885962" cy="656268"/>
          </a:xfrm>
          <a:custGeom>
            <a:avLst/>
            <a:gdLst/>
            <a:ahLst/>
            <a:cxnLst/>
            <a:rect l="l" t="t" r="r" b="b"/>
            <a:pathLst>
              <a:path w="771525" h="571500">
                <a:moveTo>
                  <a:pt x="0" y="0"/>
                </a:moveTo>
                <a:lnTo>
                  <a:pt x="771525" y="0"/>
                </a:lnTo>
                <a:lnTo>
                  <a:pt x="7715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>
            <a:off x="11101866" y="2354362"/>
            <a:ext cx="875024" cy="229694"/>
          </a:xfrm>
          <a:custGeom>
            <a:avLst/>
            <a:gdLst/>
            <a:ahLst/>
            <a:cxnLst/>
            <a:rect l="l" t="t" r="r" b="b"/>
            <a:pathLst>
              <a:path w="762000" h="200025">
                <a:moveTo>
                  <a:pt x="0" y="0"/>
                </a:moveTo>
                <a:lnTo>
                  <a:pt x="762000" y="0"/>
                </a:lnTo>
                <a:lnTo>
                  <a:pt x="762000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11101866" y="2999691"/>
            <a:ext cx="875024" cy="437512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0"/>
                </a:moveTo>
                <a:lnTo>
                  <a:pt x="762000" y="0"/>
                </a:lnTo>
                <a:lnTo>
                  <a:pt x="762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/>
            </a:stretch>
          </a:blipFill>
        </p:spPr>
      </p:sp>
      <p:sp>
        <p:nvSpPr>
          <p:cNvPr id="55" name="Freeform 55"/>
          <p:cNvSpPr/>
          <p:nvPr/>
        </p:nvSpPr>
        <p:spPr>
          <a:xfrm>
            <a:off x="11101866" y="3852840"/>
            <a:ext cx="875024" cy="229694"/>
          </a:xfrm>
          <a:custGeom>
            <a:avLst/>
            <a:gdLst/>
            <a:ahLst/>
            <a:cxnLst/>
            <a:rect l="l" t="t" r="r" b="b"/>
            <a:pathLst>
              <a:path w="762000" h="200025">
                <a:moveTo>
                  <a:pt x="0" y="0"/>
                </a:moveTo>
                <a:lnTo>
                  <a:pt x="762000" y="0"/>
                </a:lnTo>
                <a:lnTo>
                  <a:pt x="762000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/>
            </a:stretch>
          </a:blipFill>
        </p:spPr>
      </p:sp>
      <p:sp>
        <p:nvSpPr>
          <p:cNvPr id="56" name="Freeform 56"/>
          <p:cNvSpPr/>
          <p:nvPr/>
        </p:nvSpPr>
        <p:spPr>
          <a:xfrm>
            <a:off x="11101866" y="4498170"/>
            <a:ext cx="875024" cy="437512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0"/>
                </a:moveTo>
                <a:lnTo>
                  <a:pt x="762000" y="0"/>
                </a:lnTo>
                <a:lnTo>
                  <a:pt x="762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>
              <a:fillRect/>
            </a:stretch>
          </a:blipFill>
        </p:spPr>
      </p:sp>
      <p:sp>
        <p:nvSpPr>
          <p:cNvPr id="57" name="Freeform 57"/>
          <p:cNvSpPr/>
          <p:nvPr/>
        </p:nvSpPr>
        <p:spPr>
          <a:xfrm>
            <a:off x="11528440" y="4716926"/>
            <a:ext cx="3937608" cy="1082842"/>
          </a:xfrm>
          <a:custGeom>
            <a:avLst/>
            <a:gdLst/>
            <a:ahLst/>
            <a:cxnLst/>
            <a:rect l="l" t="t" r="r" b="b"/>
            <a:pathLst>
              <a:path w="3429000" h="942975">
                <a:moveTo>
                  <a:pt x="0" y="0"/>
                </a:moveTo>
                <a:lnTo>
                  <a:pt x="3429000" y="0"/>
                </a:lnTo>
                <a:lnTo>
                  <a:pt x="342900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>
              <a:fillRect/>
            </a:stretch>
          </a:blipFill>
        </p:spPr>
      </p:sp>
      <p:sp>
        <p:nvSpPr>
          <p:cNvPr id="58" name="Freeform 58"/>
          <p:cNvSpPr/>
          <p:nvPr/>
        </p:nvSpPr>
        <p:spPr>
          <a:xfrm>
            <a:off x="11747197" y="4924744"/>
            <a:ext cx="448450" cy="656268"/>
          </a:xfrm>
          <a:custGeom>
            <a:avLst/>
            <a:gdLst/>
            <a:ahLst/>
            <a:cxnLst/>
            <a:rect l="l" t="t" r="r" b="b"/>
            <a:pathLst>
              <a:path w="390525" h="571500">
                <a:moveTo>
                  <a:pt x="0" y="0"/>
                </a:moveTo>
                <a:lnTo>
                  <a:pt x="390525" y="0"/>
                </a:lnTo>
                <a:lnTo>
                  <a:pt x="3905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>
              <a:fillRect/>
            </a:stretch>
          </a:blipFill>
        </p:spPr>
      </p:sp>
      <p:sp>
        <p:nvSpPr>
          <p:cNvPr id="59" name="Freeform 59"/>
          <p:cNvSpPr/>
          <p:nvPr/>
        </p:nvSpPr>
        <p:spPr>
          <a:xfrm>
            <a:off x="12184709" y="4924744"/>
            <a:ext cx="667206" cy="656268"/>
          </a:xfrm>
          <a:custGeom>
            <a:avLst/>
            <a:gdLst/>
            <a:ahLst/>
            <a:cxnLst/>
            <a:rect l="l" t="t" r="r" b="b"/>
            <a:pathLst>
              <a:path w="581025" h="571500">
                <a:moveTo>
                  <a:pt x="0" y="0"/>
                </a:moveTo>
                <a:lnTo>
                  <a:pt x="581025" y="0"/>
                </a:lnTo>
                <a:lnTo>
                  <a:pt x="5810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>
              <a:fillRect/>
            </a:stretch>
          </a:blipFill>
        </p:spPr>
      </p:sp>
      <p:sp>
        <p:nvSpPr>
          <p:cNvPr id="60" name="Freeform 60"/>
          <p:cNvSpPr/>
          <p:nvPr/>
        </p:nvSpPr>
        <p:spPr>
          <a:xfrm>
            <a:off x="12840977" y="4290352"/>
            <a:ext cx="448450" cy="645330"/>
          </a:xfrm>
          <a:custGeom>
            <a:avLst/>
            <a:gdLst/>
            <a:ahLst/>
            <a:cxnLst/>
            <a:rect l="l" t="t" r="r" b="b"/>
            <a:pathLst>
              <a:path w="390525" h="561975">
                <a:moveTo>
                  <a:pt x="0" y="0"/>
                </a:moveTo>
                <a:lnTo>
                  <a:pt x="390525" y="0"/>
                </a:lnTo>
                <a:lnTo>
                  <a:pt x="390525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>
              <a:fillRect/>
            </a:stretch>
          </a:blipFill>
        </p:spPr>
      </p:sp>
      <p:sp>
        <p:nvSpPr>
          <p:cNvPr id="61" name="Freeform 61"/>
          <p:cNvSpPr/>
          <p:nvPr/>
        </p:nvSpPr>
        <p:spPr>
          <a:xfrm>
            <a:off x="15017598" y="1927788"/>
            <a:ext cx="2625072" cy="1082842"/>
          </a:xfrm>
          <a:custGeom>
            <a:avLst/>
            <a:gdLst/>
            <a:ahLst/>
            <a:cxnLst/>
            <a:rect l="l" t="t" r="r" b="b"/>
            <a:pathLst>
              <a:path w="2286000" h="942975">
                <a:moveTo>
                  <a:pt x="0" y="0"/>
                </a:moveTo>
                <a:lnTo>
                  <a:pt x="2286000" y="0"/>
                </a:lnTo>
                <a:lnTo>
                  <a:pt x="228600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>
              <a:fillRect/>
            </a:stretch>
          </a:blipFill>
        </p:spPr>
      </p:sp>
      <p:sp>
        <p:nvSpPr>
          <p:cNvPr id="62" name="Freeform 62"/>
          <p:cNvSpPr/>
          <p:nvPr/>
        </p:nvSpPr>
        <p:spPr>
          <a:xfrm>
            <a:off x="15236355" y="2146544"/>
            <a:ext cx="667206" cy="645330"/>
          </a:xfrm>
          <a:custGeom>
            <a:avLst/>
            <a:gdLst/>
            <a:ahLst/>
            <a:cxnLst/>
            <a:rect l="l" t="t" r="r" b="b"/>
            <a:pathLst>
              <a:path w="581025" h="561975">
                <a:moveTo>
                  <a:pt x="0" y="0"/>
                </a:moveTo>
                <a:lnTo>
                  <a:pt x="581025" y="0"/>
                </a:lnTo>
                <a:lnTo>
                  <a:pt x="581025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>
              <a:fillRect/>
            </a:stretch>
          </a:blipFill>
        </p:spPr>
      </p:sp>
      <p:sp>
        <p:nvSpPr>
          <p:cNvPr id="63" name="TextBox 63"/>
          <p:cNvSpPr txBox="1"/>
          <p:nvPr/>
        </p:nvSpPr>
        <p:spPr>
          <a:xfrm>
            <a:off x="16063065" y="2556236"/>
            <a:ext cx="1037161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40"/>
              </a:lnSpc>
            </a:pPr>
            <a:r>
              <a:rPr lang="en-US" sz="1283" spc="-38">
                <a:solidFill>
                  <a:srgbClr val="050F32"/>
                </a:solidFill>
                <a:latin typeface="Microsoft New Tai Lue" panose="020B0502040204020203" pitchFamily="34" charset="0"/>
                <a:ea typeface="Inter"/>
                <a:cs typeface="Microsoft New Tai Lue" panose="020B0502040204020203" pitchFamily="34" charset="0"/>
                <a:sym typeface="Inter"/>
              </a:rPr>
              <a:t>(Audible Alert)</a:t>
            </a:r>
          </a:p>
        </p:txBody>
      </p:sp>
      <p:sp>
        <p:nvSpPr>
          <p:cNvPr id="64" name="Freeform 64"/>
          <p:cNvSpPr/>
          <p:nvPr/>
        </p:nvSpPr>
        <p:spPr>
          <a:xfrm>
            <a:off x="15017598" y="2780936"/>
            <a:ext cx="2625072" cy="1082842"/>
          </a:xfrm>
          <a:custGeom>
            <a:avLst/>
            <a:gdLst/>
            <a:ahLst/>
            <a:cxnLst/>
            <a:rect l="l" t="t" r="r" b="b"/>
            <a:pathLst>
              <a:path w="2286000" h="942975">
                <a:moveTo>
                  <a:pt x="0" y="0"/>
                </a:moveTo>
                <a:lnTo>
                  <a:pt x="2286000" y="0"/>
                </a:lnTo>
                <a:lnTo>
                  <a:pt x="228600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>
              <a:fillRect/>
            </a:stretch>
          </a:blipFill>
        </p:spPr>
      </p:sp>
      <p:sp>
        <p:nvSpPr>
          <p:cNvPr id="65" name="Freeform 65"/>
          <p:cNvSpPr/>
          <p:nvPr/>
        </p:nvSpPr>
        <p:spPr>
          <a:xfrm>
            <a:off x="15236355" y="2999691"/>
            <a:ext cx="667206" cy="656268"/>
          </a:xfrm>
          <a:custGeom>
            <a:avLst/>
            <a:gdLst/>
            <a:ahLst/>
            <a:cxnLst/>
            <a:rect l="l" t="t" r="r" b="b"/>
            <a:pathLst>
              <a:path w="581025" h="571500">
                <a:moveTo>
                  <a:pt x="0" y="0"/>
                </a:moveTo>
                <a:lnTo>
                  <a:pt x="581025" y="0"/>
                </a:lnTo>
                <a:lnTo>
                  <a:pt x="5810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>
              <a:fillRect/>
            </a:stretch>
          </a:blipFill>
        </p:spPr>
      </p:sp>
      <p:sp>
        <p:nvSpPr>
          <p:cNvPr id="66" name="TextBox 66"/>
          <p:cNvSpPr txBox="1"/>
          <p:nvPr/>
        </p:nvSpPr>
        <p:spPr>
          <a:xfrm>
            <a:off x="16064200" y="3415159"/>
            <a:ext cx="923784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40"/>
              </a:lnSpc>
            </a:pPr>
            <a:r>
              <a:rPr lang="en-US" sz="1283" spc="-38">
                <a:solidFill>
                  <a:srgbClr val="050F32"/>
                </a:solidFill>
                <a:latin typeface="Microsoft New Tai Lue" panose="020B0502040204020203" pitchFamily="34" charset="0"/>
                <a:ea typeface="Inter"/>
                <a:cs typeface="Microsoft New Tai Lue" panose="020B0502040204020203" pitchFamily="34" charset="0"/>
                <a:sym typeface="Inter"/>
              </a:rPr>
              <a:t>(Visual Alert)</a:t>
            </a:r>
          </a:p>
        </p:txBody>
      </p:sp>
      <p:sp>
        <p:nvSpPr>
          <p:cNvPr id="67" name="Freeform 67"/>
          <p:cNvSpPr/>
          <p:nvPr/>
        </p:nvSpPr>
        <p:spPr>
          <a:xfrm>
            <a:off x="15017598" y="3852840"/>
            <a:ext cx="2625072" cy="875024"/>
          </a:xfrm>
          <a:custGeom>
            <a:avLst/>
            <a:gdLst/>
            <a:ahLst/>
            <a:cxnLst/>
            <a:rect l="l" t="t" r="r" b="b"/>
            <a:pathLst>
              <a:path w="2286000" h="762000">
                <a:moveTo>
                  <a:pt x="0" y="0"/>
                </a:moveTo>
                <a:lnTo>
                  <a:pt x="2286000" y="0"/>
                </a:lnTo>
                <a:lnTo>
                  <a:pt x="2286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>
              <a:fillRect/>
            </a:stretch>
          </a:blipFill>
        </p:spPr>
      </p:sp>
      <p:sp>
        <p:nvSpPr>
          <p:cNvPr id="68" name="Freeform 68"/>
          <p:cNvSpPr/>
          <p:nvPr/>
        </p:nvSpPr>
        <p:spPr>
          <a:xfrm>
            <a:off x="15236355" y="4071596"/>
            <a:ext cx="667206" cy="437512"/>
          </a:xfrm>
          <a:custGeom>
            <a:avLst/>
            <a:gdLst/>
            <a:ahLst/>
            <a:cxnLst/>
            <a:rect l="l" t="t" r="r" b="b"/>
            <a:pathLst>
              <a:path w="581025" h="381000">
                <a:moveTo>
                  <a:pt x="0" y="0"/>
                </a:moveTo>
                <a:lnTo>
                  <a:pt x="581025" y="0"/>
                </a:lnTo>
                <a:lnTo>
                  <a:pt x="5810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>
              <a:fillRect/>
            </a:stretch>
          </a:blipFill>
        </p:spPr>
      </p:sp>
      <p:sp>
        <p:nvSpPr>
          <p:cNvPr id="69" name="TextBox 69"/>
          <p:cNvSpPr txBox="1"/>
          <p:nvPr/>
        </p:nvSpPr>
        <p:spPr>
          <a:xfrm>
            <a:off x="16061741" y="4063120"/>
            <a:ext cx="1169695" cy="385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40"/>
              </a:lnSpc>
            </a:pPr>
            <a:r>
              <a:rPr lang="en-US" sz="1283" b="1" spc="-38">
                <a:solidFill>
                  <a:srgbClr val="050F32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Vibration Motor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6060695" y="4304222"/>
            <a:ext cx="1274346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40"/>
              </a:lnSpc>
            </a:pPr>
            <a:r>
              <a:rPr lang="en-US" sz="1283" spc="-38">
                <a:solidFill>
                  <a:srgbClr val="050F32"/>
                </a:solidFill>
                <a:latin typeface="Microsoft New Tai Lue" panose="020B0502040204020203" pitchFamily="34" charset="0"/>
                <a:ea typeface="Inter"/>
                <a:cs typeface="Microsoft New Tai Lue" panose="020B0502040204020203" pitchFamily="34" charset="0"/>
                <a:sym typeface="Inter"/>
              </a:rPr>
              <a:t>(Silent Feedback)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8298020" y="6042099"/>
            <a:ext cx="3337929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06"/>
              </a:lnSpc>
            </a:pPr>
            <a:r>
              <a:rPr lang="en-US" sz="2088" b="1" spc="-41">
                <a:solidFill>
                  <a:srgbClr val="0066FF"/>
                </a:solidFill>
                <a:latin typeface="Microsoft New Tai Lue" panose="020B0502040204020203" pitchFamily="34" charset="0"/>
                <a:ea typeface="Inter Bold"/>
                <a:cs typeface="Microsoft New Tai Lue" panose="020B0502040204020203" pitchFamily="34" charset="0"/>
                <a:sym typeface="Inter Bold"/>
              </a:rPr>
              <a:t>Flow Chart (3-Stage SOS):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3574287" y="6033008"/>
            <a:ext cx="3455783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84"/>
              </a:lnSpc>
            </a:pPr>
            <a:r>
              <a:rPr lang="en-US" sz="1985" b="1" spc="-39" dirty="0">
                <a:solidFill>
                  <a:srgbClr val="0066FF"/>
                </a:solidFill>
                <a:latin typeface="Microsoft New Tai Lue" panose="020B0502040204020203" pitchFamily="34" charset="0"/>
                <a:ea typeface="Inter Bold"/>
                <a:cs typeface="Microsoft New Tai Lue" panose="020B0502040204020203" pitchFamily="34" charset="0"/>
                <a:sym typeface="Inter Bold"/>
              </a:rPr>
              <a:t>Prototype / Hardware Model: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12973387" y="5328903"/>
            <a:ext cx="1930873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40"/>
              </a:lnSpc>
            </a:pPr>
            <a:r>
              <a:rPr lang="en-US" sz="1283" spc="-38">
                <a:solidFill>
                  <a:srgbClr val="050F32"/>
                </a:solidFill>
                <a:latin typeface="Microsoft New Tai Lue" panose="020B0502040204020203" pitchFamily="34" charset="0"/>
                <a:ea typeface="Inter"/>
                <a:cs typeface="Microsoft New Tai Lue" panose="020B0502040204020203" pitchFamily="34" charset="0"/>
                <a:sym typeface="Inter"/>
              </a:rPr>
              <a:t>(Location Tracing &amp; Alerts)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12973910" y="5072733"/>
            <a:ext cx="1878558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40"/>
              </a:lnSpc>
            </a:pPr>
            <a:r>
              <a:rPr lang="en-US" sz="1283" b="1" spc="-38">
                <a:solidFill>
                  <a:srgbClr val="050F32"/>
                </a:solidFill>
                <a:latin typeface="Microsoft New Tai Lue" panose="020B0502040204020203" pitchFamily="34" charset="0"/>
                <a:ea typeface="Inter Bold"/>
                <a:cs typeface="Microsoft New Tai Lue" panose="020B0502040204020203" pitchFamily="34" charset="0"/>
                <a:sym typeface="Inter Bold"/>
              </a:rPr>
              <a:t>Mobile App + Dashboard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9681072" y="4846701"/>
            <a:ext cx="1656851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40"/>
              </a:lnSpc>
            </a:pPr>
            <a:r>
              <a:rPr lang="en-US" sz="1283" spc="-38">
                <a:solidFill>
                  <a:srgbClr val="050F32"/>
                </a:solidFill>
                <a:latin typeface="Microsoft New Tai Lue" panose="020B0502040204020203" pitchFamily="34" charset="0"/>
                <a:ea typeface="Inter"/>
                <a:cs typeface="Microsoft New Tai Lue" panose="020B0502040204020203" pitchFamily="34" charset="0"/>
                <a:sym typeface="Inter"/>
              </a:rPr>
              <a:t>(Motion/Fall Detection)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9684956" y="2465823"/>
            <a:ext cx="1268558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40"/>
              </a:lnSpc>
            </a:pPr>
            <a:r>
              <a:rPr lang="en-US" sz="1283" spc="-38">
                <a:solidFill>
                  <a:srgbClr val="050F32"/>
                </a:solidFill>
                <a:latin typeface="Microsoft New Tai Lue" panose="020B0502040204020203" pitchFamily="34" charset="0"/>
                <a:ea typeface="Inter"/>
                <a:cs typeface="Microsoft New Tai Lue" panose="020B0502040204020203" pitchFamily="34" charset="0"/>
                <a:sym typeface="Inter"/>
              </a:rPr>
              <a:t>(3-Stage Trigger)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9685050" y="3987776"/>
            <a:ext cx="1259029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40"/>
              </a:lnSpc>
            </a:pPr>
            <a:r>
              <a:rPr lang="en-US" sz="1283" spc="-38">
                <a:solidFill>
                  <a:srgbClr val="050F32"/>
                </a:solidFill>
                <a:latin typeface="Microsoft New Tai Lue" panose="020B0502040204020203" pitchFamily="34" charset="0"/>
                <a:ea typeface="Inter"/>
                <a:cs typeface="Microsoft New Tai Lue" panose="020B0502040204020203" pitchFamily="34" charset="0"/>
                <a:sym typeface="Inter"/>
              </a:rPr>
              <a:t>(Communication)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12444724" y="3746674"/>
            <a:ext cx="1218920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40"/>
              </a:lnSpc>
            </a:pPr>
            <a:r>
              <a:rPr lang="en-US" sz="1283" spc="-38">
                <a:solidFill>
                  <a:srgbClr val="050F32"/>
                </a:solidFill>
                <a:latin typeface="Microsoft New Tai Lue" panose="020B0502040204020203" pitchFamily="34" charset="0"/>
                <a:ea typeface="Inter"/>
                <a:cs typeface="Microsoft New Tai Lue" panose="020B0502040204020203" pitchFamily="34" charset="0"/>
                <a:sym typeface="Inter"/>
              </a:rPr>
              <a:t>(Core Controller)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6065329" y="3174058"/>
            <a:ext cx="810903" cy="193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40"/>
              </a:lnSpc>
            </a:pPr>
            <a:r>
              <a:rPr lang="en-US" sz="1283" b="1" spc="-38">
                <a:solidFill>
                  <a:srgbClr val="050F32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Flash Light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9688372" y="2948025"/>
            <a:ext cx="926893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40"/>
              </a:lnSpc>
            </a:pPr>
            <a:r>
              <a:rPr lang="en-US" sz="1283" b="1" spc="-38">
                <a:solidFill>
                  <a:srgbClr val="050F32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GPS Module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9688505" y="2224722"/>
            <a:ext cx="913523" cy="193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40"/>
              </a:lnSpc>
            </a:pPr>
            <a:r>
              <a:rPr lang="en-US" sz="1283" b="1" spc="-38">
                <a:solidFill>
                  <a:srgbClr val="050F32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Push Button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9688858" y="3746674"/>
            <a:ext cx="878316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40"/>
              </a:lnSpc>
            </a:pPr>
            <a:r>
              <a:rPr lang="en-US" sz="1283" b="1" spc="-38">
                <a:solidFill>
                  <a:srgbClr val="050F32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A7670C 4G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9689922" y="4590530"/>
            <a:ext cx="771871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40"/>
              </a:lnSpc>
            </a:pPr>
            <a:r>
              <a:rPr lang="en-US" sz="1283" b="1" spc="-38">
                <a:solidFill>
                  <a:srgbClr val="050F32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MPU6050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12805136" y="3501442"/>
            <a:ext cx="589968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7"/>
              </a:lnSpc>
            </a:pPr>
            <a:r>
              <a:rPr lang="en-US" sz="1513" b="1" spc="-45">
                <a:solidFill>
                  <a:srgbClr val="050F32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ESP32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6068170" y="2300065"/>
            <a:ext cx="526857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40"/>
              </a:lnSpc>
            </a:pPr>
            <a:r>
              <a:rPr lang="en-US" sz="1283" b="1" spc="-38">
                <a:solidFill>
                  <a:srgbClr val="050F32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Buzzer</a:t>
            </a:r>
          </a:p>
        </p:txBody>
      </p:sp>
      <p:pic>
        <p:nvPicPr>
          <p:cNvPr id="162" name="Picture 161">
            <a:extLst>
              <a:ext uri="{FF2B5EF4-FFF2-40B4-BE49-F238E27FC236}">
                <a16:creationId xmlns:a16="http://schemas.microsoft.com/office/drawing/2014/main" id="{283760C7-B445-4C99-A44D-D0DA8DF8DF7C}"/>
              </a:ext>
            </a:extLst>
          </p:cNvPr>
          <p:cNvPicPr>
            <a:picLocks noChangeAspect="1"/>
          </p:cNvPicPr>
          <p:nvPr/>
        </p:nvPicPr>
        <p:blipFill>
          <a:blip r:embed="rId5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482" y="6351209"/>
            <a:ext cx="4861879" cy="3874873"/>
          </a:xfrm>
          <a:prstGeom prst="rect">
            <a:avLst/>
          </a:prstGeom>
        </p:spPr>
      </p:pic>
      <p:sp>
        <p:nvSpPr>
          <p:cNvPr id="163" name="TextBox 6">
            <a:extLst>
              <a:ext uri="{FF2B5EF4-FFF2-40B4-BE49-F238E27FC236}">
                <a16:creationId xmlns:a16="http://schemas.microsoft.com/office/drawing/2014/main" id="{75C6AF57-BEB7-4235-BFEC-E40FE667A5DE}"/>
              </a:ext>
            </a:extLst>
          </p:cNvPr>
          <p:cNvSpPr txBox="1"/>
          <p:nvPr/>
        </p:nvSpPr>
        <p:spPr>
          <a:xfrm>
            <a:off x="14227669" y="295907"/>
            <a:ext cx="2841131" cy="4244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42"/>
              </a:lnSpc>
            </a:pPr>
            <a:r>
              <a:rPr lang="en-US" sz="2783" b="1" dirty="0">
                <a:solidFill>
                  <a:srgbClr val="0A74FF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Colossal-a-Pitch</a:t>
            </a:r>
          </a:p>
        </p:txBody>
      </p:sp>
      <p:sp>
        <p:nvSpPr>
          <p:cNvPr id="164" name="TextBox 37">
            <a:extLst>
              <a:ext uri="{FF2B5EF4-FFF2-40B4-BE49-F238E27FC236}">
                <a16:creationId xmlns:a16="http://schemas.microsoft.com/office/drawing/2014/main" id="{0497277D-FED5-4DF6-A30A-CC3D3CD7F7F3}"/>
              </a:ext>
            </a:extLst>
          </p:cNvPr>
          <p:cNvSpPr txBox="1"/>
          <p:nvPr/>
        </p:nvSpPr>
        <p:spPr>
          <a:xfrm>
            <a:off x="14243709" y="763042"/>
            <a:ext cx="3486165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61"/>
              </a:lnSpc>
            </a:pPr>
            <a:r>
              <a:rPr lang="en-US" sz="1634" b="1" dirty="0" err="1">
                <a:solidFill>
                  <a:srgbClr val="292E4B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Avinya</a:t>
            </a:r>
            <a:r>
              <a:rPr lang="en-US" sz="1634" b="1" dirty="0">
                <a:solidFill>
                  <a:srgbClr val="292E4B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 26</a:t>
            </a:r>
          </a:p>
        </p:txBody>
      </p:sp>
      <p:sp>
        <p:nvSpPr>
          <p:cNvPr id="165" name="TextBox 6">
            <a:extLst>
              <a:ext uri="{FF2B5EF4-FFF2-40B4-BE49-F238E27FC236}">
                <a16:creationId xmlns:a16="http://schemas.microsoft.com/office/drawing/2014/main" id="{67F6317A-FACA-41A6-978F-8A998056A2DB}"/>
              </a:ext>
            </a:extLst>
          </p:cNvPr>
          <p:cNvSpPr txBox="1"/>
          <p:nvPr/>
        </p:nvSpPr>
        <p:spPr>
          <a:xfrm>
            <a:off x="405634" y="412330"/>
            <a:ext cx="2841131" cy="4244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42"/>
              </a:lnSpc>
            </a:pPr>
            <a:r>
              <a:rPr lang="en-US" sz="2783" b="1" dirty="0">
                <a:solidFill>
                  <a:srgbClr val="0A74FF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Team Gamma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209A7E-378C-4A35-9D06-9F4542A53DDC}"/>
              </a:ext>
            </a:extLst>
          </p:cNvPr>
          <p:cNvPicPr>
            <a:picLocks noChangeAspect="1"/>
          </p:cNvPicPr>
          <p:nvPr/>
        </p:nvPicPr>
        <p:blipFill>
          <a:blip r:embed="rId5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2310" y="6543313"/>
            <a:ext cx="3446490" cy="37713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735"/>
            <a:ext cx="18288000" cy="10292469"/>
          </a:xfrm>
          <a:custGeom>
            <a:avLst/>
            <a:gdLst/>
            <a:ahLst/>
            <a:cxnLst/>
            <a:rect l="l" t="t" r="r" b="b"/>
            <a:pathLst>
              <a:path w="15925800" h="8963025">
                <a:moveTo>
                  <a:pt x="0" y="0"/>
                </a:moveTo>
                <a:lnTo>
                  <a:pt x="15925800" y="0"/>
                </a:lnTo>
                <a:lnTo>
                  <a:pt x="15925800" y="8963025"/>
                </a:lnTo>
                <a:lnTo>
                  <a:pt x="0" y="89630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1282457"/>
            <a:ext cx="18080182" cy="229694"/>
          </a:xfrm>
          <a:custGeom>
            <a:avLst/>
            <a:gdLst/>
            <a:ahLst/>
            <a:cxnLst/>
            <a:rect l="l" t="t" r="r" b="b"/>
            <a:pathLst>
              <a:path w="15744825" h="200025">
                <a:moveTo>
                  <a:pt x="0" y="0"/>
                </a:moveTo>
                <a:lnTo>
                  <a:pt x="15744825" y="0"/>
                </a:lnTo>
                <a:lnTo>
                  <a:pt x="15744825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01627" y="1599276"/>
            <a:ext cx="8057667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821"/>
              </a:lnSpc>
            </a:pPr>
            <a:r>
              <a:rPr lang="en-US" sz="6821" b="1" spc="-202">
                <a:solidFill>
                  <a:srgbClr val="045CFD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AI MEMORY LAYER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546063" y="1599276"/>
            <a:ext cx="5322657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821"/>
              </a:lnSpc>
            </a:pPr>
            <a:r>
              <a:rPr lang="en-US" sz="6821" b="1" spc="-202">
                <a:solidFill>
                  <a:srgbClr val="030432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- HINDSIGHT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89559" y="2360339"/>
            <a:ext cx="9264443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42"/>
              </a:lnSpc>
            </a:pPr>
            <a:r>
              <a:rPr lang="en-US" sz="2783" spc="-138">
                <a:solidFill>
                  <a:srgbClr val="3F3C7A"/>
                </a:solidFill>
                <a:latin typeface="Inter"/>
                <a:ea typeface="Inter"/>
                <a:cs typeface="Inter"/>
                <a:sym typeface="Inter"/>
              </a:rPr>
              <a:t>Remembers, learns and personalizes your safety experience.</a:t>
            </a:r>
          </a:p>
        </p:txBody>
      </p:sp>
      <p:sp>
        <p:nvSpPr>
          <p:cNvPr id="11" name="Freeform 11"/>
          <p:cNvSpPr/>
          <p:nvPr/>
        </p:nvSpPr>
        <p:spPr>
          <a:xfrm>
            <a:off x="207819" y="2999691"/>
            <a:ext cx="5676718" cy="7087694"/>
          </a:xfrm>
          <a:custGeom>
            <a:avLst/>
            <a:gdLst/>
            <a:ahLst/>
            <a:cxnLst/>
            <a:rect l="l" t="t" r="r" b="b"/>
            <a:pathLst>
              <a:path w="4943475" h="6172200">
                <a:moveTo>
                  <a:pt x="0" y="0"/>
                </a:moveTo>
                <a:lnTo>
                  <a:pt x="4943475" y="0"/>
                </a:lnTo>
                <a:lnTo>
                  <a:pt x="4943475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82124" y="3209637"/>
            <a:ext cx="3402535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28"/>
              </a:lnSpc>
            </a:pPr>
            <a:r>
              <a:rPr lang="en-US" sz="3128" b="1" spc="-155">
                <a:solidFill>
                  <a:srgbClr val="045CFD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What is Hindsight?</a:t>
            </a:r>
          </a:p>
        </p:txBody>
      </p:sp>
      <p:sp>
        <p:nvSpPr>
          <p:cNvPr id="13" name="Freeform 13"/>
          <p:cNvSpPr/>
          <p:nvPr/>
        </p:nvSpPr>
        <p:spPr>
          <a:xfrm>
            <a:off x="207819" y="3645021"/>
            <a:ext cx="5676718" cy="3871981"/>
          </a:xfrm>
          <a:custGeom>
            <a:avLst/>
            <a:gdLst/>
            <a:ahLst/>
            <a:cxnLst/>
            <a:rect l="l" t="t" r="r" b="b"/>
            <a:pathLst>
              <a:path w="4943475" h="3371850">
                <a:moveTo>
                  <a:pt x="0" y="0"/>
                </a:moveTo>
                <a:lnTo>
                  <a:pt x="4943475" y="0"/>
                </a:lnTo>
                <a:lnTo>
                  <a:pt x="4943475" y="3371850"/>
                </a:lnTo>
                <a:lnTo>
                  <a:pt x="0" y="33718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642937" y="4017104"/>
            <a:ext cx="4500563" cy="2055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73"/>
              </a:lnSpc>
            </a:pPr>
            <a:r>
              <a:rPr lang="en-US" sz="2227" spc="-110">
                <a:solidFill>
                  <a:srgbClr val="3F3C7A"/>
                </a:solidFill>
                <a:latin typeface="Inter"/>
                <a:ea typeface="Inter"/>
                <a:cs typeface="Inter"/>
                <a:sym typeface="Inter"/>
              </a:rPr>
              <a:t>Hindsight (by Vectorize) is an AI memory system that helps the app remember important information, past events and user preferences over time, so it can provide a personalized and context-aware safety experience.</a:t>
            </a:r>
          </a:p>
        </p:txBody>
      </p:sp>
      <p:sp>
        <p:nvSpPr>
          <p:cNvPr id="15" name="Freeform 15"/>
          <p:cNvSpPr/>
          <p:nvPr/>
        </p:nvSpPr>
        <p:spPr>
          <a:xfrm>
            <a:off x="645331" y="6215405"/>
            <a:ext cx="5020450" cy="229694"/>
          </a:xfrm>
          <a:custGeom>
            <a:avLst/>
            <a:gdLst/>
            <a:ahLst/>
            <a:cxnLst/>
            <a:rect l="l" t="t" r="r" b="b"/>
            <a:pathLst>
              <a:path w="4371975" h="200025">
                <a:moveTo>
                  <a:pt x="0" y="0"/>
                </a:moveTo>
                <a:lnTo>
                  <a:pt x="4371975" y="0"/>
                </a:lnTo>
                <a:lnTo>
                  <a:pt x="4371975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645331" y="6434161"/>
            <a:ext cx="1104718" cy="1082842"/>
          </a:xfrm>
          <a:custGeom>
            <a:avLst/>
            <a:gdLst/>
            <a:ahLst/>
            <a:cxnLst/>
            <a:rect l="l" t="t" r="r" b="b"/>
            <a:pathLst>
              <a:path w="962025" h="942975">
                <a:moveTo>
                  <a:pt x="0" y="0"/>
                </a:moveTo>
                <a:lnTo>
                  <a:pt x="962025" y="0"/>
                </a:lnTo>
                <a:lnTo>
                  <a:pt x="9620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864087" y="6641978"/>
            <a:ext cx="667206" cy="875024"/>
          </a:xfrm>
          <a:custGeom>
            <a:avLst/>
            <a:gdLst/>
            <a:ahLst/>
            <a:cxnLst/>
            <a:rect l="l" t="t" r="r" b="b"/>
            <a:pathLst>
              <a:path w="581025" h="762000">
                <a:moveTo>
                  <a:pt x="0" y="0"/>
                </a:moveTo>
                <a:lnTo>
                  <a:pt x="581025" y="0"/>
                </a:lnTo>
                <a:lnTo>
                  <a:pt x="58102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955225" y="6971408"/>
            <a:ext cx="2716616" cy="522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88"/>
              </a:lnSpc>
            </a:pPr>
            <a:r>
              <a:rPr lang="en-US" sz="1740" spc="-86">
                <a:solidFill>
                  <a:srgbClr val="3F3C7A"/>
                </a:solidFill>
                <a:latin typeface="Inter"/>
                <a:ea typeface="Inter"/>
                <a:cs typeface="Inter"/>
                <a:sym typeface="Inter"/>
              </a:rPr>
              <a:t>Store important information</a:t>
            </a:r>
          </a:p>
          <a:p>
            <a:pPr>
              <a:lnSpc>
                <a:spcPts val="2088"/>
              </a:lnSpc>
            </a:pPr>
            <a:r>
              <a:rPr lang="en-US" sz="1740" spc="-86">
                <a:solidFill>
                  <a:srgbClr val="3F3C7A"/>
                </a:solidFill>
                <a:latin typeface="Inter"/>
                <a:ea typeface="Inter"/>
                <a:cs typeface="Inter"/>
                <a:sym typeface="Inter"/>
              </a:rPr>
              <a:t>(e.g., preferences, contacts).</a:t>
            </a:r>
          </a:p>
        </p:txBody>
      </p:sp>
      <p:sp>
        <p:nvSpPr>
          <p:cNvPr id="19" name="Freeform 19"/>
          <p:cNvSpPr/>
          <p:nvPr/>
        </p:nvSpPr>
        <p:spPr>
          <a:xfrm>
            <a:off x="1957867" y="7506065"/>
            <a:ext cx="3707914" cy="218756"/>
          </a:xfrm>
          <a:custGeom>
            <a:avLst/>
            <a:gdLst/>
            <a:ahLst/>
            <a:cxnLst/>
            <a:rect l="l" t="t" r="r" b="b"/>
            <a:pathLst>
              <a:path w="3228975" h="190500">
                <a:moveTo>
                  <a:pt x="0" y="0"/>
                </a:moveTo>
                <a:lnTo>
                  <a:pt x="3228975" y="0"/>
                </a:lnTo>
                <a:lnTo>
                  <a:pt x="3228975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645331" y="7713883"/>
            <a:ext cx="1104718" cy="1082842"/>
          </a:xfrm>
          <a:custGeom>
            <a:avLst/>
            <a:gdLst/>
            <a:ahLst/>
            <a:cxnLst/>
            <a:rect l="l" t="t" r="r" b="b"/>
            <a:pathLst>
              <a:path w="962025" h="942975">
                <a:moveTo>
                  <a:pt x="0" y="0"/>
                </a:moveTo>
                <a:lnTo>
                  <a:pt x="962025" y="0"/>
                </a:lnTo>
                <a:lnTo>
                  <a:pt x="9620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864087" y="7713883"/>
            <a:ext cx="667206" cy="875024"/>
          </a:xfrm>
          <a:custGeom>
            <a:avLst/>
            <a:gdLst/>
            <a:ahLst/>
            <a:cxnLst/>
            <a:rect l="l" t="t" r="r" b="b"/>
            <a:pathLst>
              <a:path w="581025" h="762000">
                <a:moveTo>
                  <a:pt x="0" y="0"/>
                </a:moveTo>
                <a:lnTo>
                  <a:pt x="581025" y="0"/>
                </a:lnTo>
                <a:lnTo>
                  <a:pt x="58102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954294" y="8116639"/>
            <a:ext cx="2809752" cy="522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88"/>
              </a:lnSpc>
            </a:pPr>
            <a:r>
              <a:rPr lang="en-US" sz="1740" spc="-86">
                <a:solidFill>
                  <a:srgbClr val="3F3C7A"/>
                </a:solidFill>
                <a:latin typeface="Inter"/>
                <a:ea typeface="Inter"/>
                <a:cs typeface="Inter"/>
                <a:sym typeface="Inter"/>
              </a:rPr>
              <a:t>Find relevant past information when needed.</a:t>
            </a:r>
          </a:p>
        </p:txBody>
      </p:sp>
      <p:sp>
        <p:nvSpPr>
          <p:cNvPr id="23" name="Freeform 23"/>
          <p:cNvSpPr/>
          <p:nvPr/>
        </p:nvSpPr>
        <p:spPr>
          <a:xfrm>
            <a:off x="1957867" y="8785788"/>
            <a:ext cx="3707914" cy="229694"/>
          </a:xfrm>
          <a:custGeom>
            <a:avLst/>
            <a:gdLst/>
            <a:ahLst/>
            <a:cxnLst/>
            <a:rect l="l" t="t" r="r" b="b"/>
            <a:pathLst>
              <a:path w="3228975" h="200025">
                <a:moveTo>
                  <a:pt x="0" y="0"/>
                </a:moveTo>
                <a:lnTo>
                  <a:pt x="3228975" y="0"/>
                </a:lnTo>
                <a:lnTo>
                  <a:pt x="3228975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645331" y="8785788"/>
            <a:ext cx="1104718" cy="1082842"/>
          </a:xfrm>
          <a:custGeom>
            <a:avLst/>
            <a:gdLst/>
            <a:ahLst/>
            <a:cxnLst/>
            <a:rect l="l" t="t" r="r" b="b"/>
            <a:pathLst>
              <a:path w="962025" h="942975">
                <a:moveTo>
                  <a:pt x="0" y="0"/>
                </a:moveTo>
                <a:lnTo>
                  <a:pt x="962025" y="0"/>
                </a:lnTo>
                <a:lnTo>
                  <a:pt x="9620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864087" y="8785788"/>
            <a:ext cx="667206" cy="1082842"/>
          </a:xfrm>
          <a:custGeom>
            <a:avLst/>
            <a:gdLst/>
            <a:ahLst/>
            <a:cxnLst/>
            <a:rect l="l" t="t" r="r" b="b"/>
            <a:pathLst>
              <a:path w="581025" h="942975">
                <a:moveTo>
                  <a:pt x="0" y="0"/>
                </a:moveTo>
                <a:lnTo>
                  <a:pt x="581025" y="0"/>
                </a:lnTo>
                <a:lnTo>
                  <a:pt x="5810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952587" y="9246803"/>
            <a:ext cx="2980459" cy="522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88"/>
              </a:lnSpc>
            </a:pPr>
            <a:r>
              <a:rPr lang="en-US" sz="1740" spc="-86">
                <a:solidFill>
                  <a:srgbClr val="3F3C7A"/>
                </a:solidFill>
                <a:latin typeface="Inter"/>
                <a:ea typeface="Inter"/>
                <a:cs typeface="Inter"/>
                <a:sym typeface="Inter"/>
              </a:rPr>
              <a:t>Understand patterns and give smarter, proactive suggestions.</a:t>
            </a:r>
          </a:p>
        </p:txBody>
      </p:sp>
      <p:sp>
        <p:nvSpPr>
          <p:cNvPr id="27" name="Freeform 27"/>
          <p:cNvSpPr/>
          <p:nvPr/>
        </p:nvSpPr>
        <p:spPr>
          <a:xfrm>
            <a:off x="5873598" y="2999691"/>
            <a:ext cx="6103292" cy="7087694"/>
          </a:xfrm>
          <a:custGeom>
            <a:avLst/>
            <a:gdLst/>
            <a:ahLst/>
            <a:cxnLst/>
            <a:rect l="l" t="t" r="r" b="b"/>
            <a:pathLst>
              <a:path w="5314950" h="6172200">
                <a:moveTo>
                  <a:pt x="0" y="0"/>
                </a:moveTo>
                <a:lnTo>
                  <a:pt x="5314950" y="0"/>
                </a:lnTo>
                <a:lnTo>
                  <a:pt x="531495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6172012" y="3209637"/>
            <a:ext cx="4305010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28"/>
              </a:lnSpc>
            </a:pPr>
            <a:r>
              <a:rPr lang="en-US" sz="3128" b="1" spc="-155">
                <a:solidFill>
                  <a:srgbClr val="045CFD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How it Works in Aprajita</a:t>
            </a:r>
          </a:p>
        </p:txBody>
      </p:sp>
      <p:sp>
        <p:nvSpPr>
          <p:cNvPr id="29" name="Freeform 29"/>
          <p:cNvSpPr/>
          <p:nvPr/>
        </p:nvSpPr>
        <p:spPr>
          <a:xfrm>
            <a:off x="6092354" y="3645021"/>
            <a:ext cx="5884536" cy="2362565"/>
          </a:xfrm>
          <a:custGeom>
            <a:avLst/>
            <a:gdLst/>
            <a:ahLst/>
            <a:cxnLst/>
            <a:rect l="l" t="t" r="r" b="b"/>
            <a:pathLst>
              <a:path w="5124450" h="2057400">
                <a:moveTo>
                  <a:pt x="0" y="0"/>
                </a:moveTo>
                <a:lnTo>
                  <a:pt x="5124450" y="0"/>
                </a:lnTo>
                <a:lnTo>
                  <a:pt x="51244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6092354" y="3852840"/>
            <a:ext cx="1968804" cy="2154746"/>
          </a:xfrm>
          <a:custGeom>
            <a:avLst/>
            <a:gdLst/>
            <a:ahLst/>
            <a:cxnLst/>
            <a:rect l="l" t="t" r="r" b="b"/>
            <a:pathLst>
              <a:path w="1714500" h="1876425">
                <a:moveTo>
                  <a:pt x="0" y="0"/>
                </a:moveTo>
                <a:lnTo>
                  <a:pt x="1714500" y="0"/>
                </a:lnTo>
                <a:lnTo>
                  <a:pt x="1714500" y="1876425"/>
                </a:lnTo>
                <a:lnTo>
                  <a:pt x="0" y="18764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6748622" y="3852840"/>
            <a:ext cx="656268" cy="1082842"/>
          </a:xfrm>
          <a:custGeom>
            <a:avLst/>
            <a:gdLst/>
            <a:ahLst/>
            <a:cxnLst/>
            <a:rect l="l" t="t" r="r" b="b"/>
            <a:pathLst>
              <a:path w="571500" h="942975">
                <a:moveTo>
                  <a:pt x="0" y="0"/>
                </a:moveTo>
                <a:lnTo>
                  <a:pt x="571500" y="0"/>
                </a:lnTo>
                <a:lnTo>
                  <a:pt x="57150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8050220" y="3852840"/>
            <a:ext cx="1968804" cy="2154746"/>
          </a:xfrm>
          <a:custGeom>
            <a:avLst/>
            <a:gdLst/>
            <a:ahLst/>
            <a:cxnLst/>
            <a:rect l="l" t="t" r="r" b="b"/>
            <a:pathLst>
              <a:path w="1714500" h="1876425">
                <a:moveTo>
                  <a:pt x="0" y="0"/>
                </a:moveTo>
                <a:lnTo>
                  <a:pt x="1714500" y="0"/>
                </a:lnTo>
                <a:lnTo>
                  <a:pt x="1714500" y="1876425"/>
                </a:lnTo>
                <a:lnTo>
                  <a:pt x="0" y="18764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8706488" y="4071596"/>
            <a:ext cx="437512" cy="864086"/>
          </a:xfrm>
          <a:custGeom>
            <a:avLst/>
            <a:gdLst/>
            <a:ahLst/>
            <a:cxnLst/>
            <a:rect l="l" t="t" r="r" b="b"/>
            <a:pathLst>
              <a:path w="381000" h="752475">
                <a:moveTo>
                  <a:pt x="0" y="0"/>
                </a:moveTo>
                <a:lnTo>
                  <a:pt x="381000" y="0"/>
                </a:lnTo>
                <a:lnTo>
                  <a:pt x="381000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8344764" y="5011235"/>
            <a:ext cx="1180921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0"/>
              </a:lnSpc>
            </a:pPr>
            <a:r>
              <a:rPr lang="en-US" sz="1810" b="1" spc="-53">
                <a:solidFill>
                  <a:srgbClr val="0304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Flutter App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54899" y="5309703"/>
            <a:ext cx="1160651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7"/>
              </a:lnSpc>
            </a:pPr>
            <a:r>
              <a:rPr lang="en-US" sz="1513" spc="-75">
                <a:solidFill>
                  <a:srgbClr val="3F3C7A"/>
                </a:solidFill>
                <a:latin typeface="Inter"/>
                <a:ea typeface="Inter"/>
                <a:cs typeface="Inter"/>
                <a:sym typeface="Inter"/>
              </a:rPr>
              <a:t>Settings, chat, check-ins</a:t>
            </a:r>
          </a:p>
        </p:txBody>
      </p:sp>
      <p:sp>
        <p:nvSpPr>
          <p:cNvPr id="36" name="Freeform 36"/>
          <p:cNvSpPr/>
          <p:nvPr/>
        </p:nvSpPr>
        <p:spPr>
          <a:xfrm>
            <a:off x="9789330" y="3852840"/>
            <a:ext cx="1968804" cy="2154746"/>
          </a:xfrm>
          <a:custGeom>
            <a:avLst/>
            <a:gdLst/>
            <a:ahLst/>
            <a:cxnLst/>
            <a:rect l="l" t="t" r="r" b="b"/>
            <a:pathLst>
              <a:path w="1714500" h="1876425">
                <a:moveTo>
                  <a:pt x="0" y="0"/>
                </a:moveTo>
                <a:lnTo>
                  <a:pt x="1714500" y="0"/>
                </a:lnTo>
                <a:lnTo>
                  <a:pt x="1714500" y="1876425"/>
                </a:lnTo>
                <a:lnTo>
                  <a:pt x="0" y="187642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0445599" y="4071596"/>
            <a:ext cx="667206" cy="864086"/>
          </a:xfrm>
          <a:custGeom>
            <a:avLst/>
            <a:gdLst/>
            <a:ahLst/>
            <a:cxnLst/>
            <a:rect l="l" t="t" r="r" b="b"/>
            <a:pathLst>
              <a:path w="581025" h="752475">
                <a:moveTo>
                  <a:pt x="0" y="0"/>
                </a:moveTo>
                <a:lnTo>
                  <a:pt x="581025" y="0"/>
                </a:lnTo>
                <a:lnTo>
                  <a:pt x="5810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9953203" y="5309703"/>
            <a:ext cx="1756302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7"/>
              </a:lnSpc>
            </a:pPr>
            <a:r>
              <a:rPr lang="en-US" sz="1513" spc="-75">
                <a:solidFill>
                  <a:srgbClr val="3F3C7A"/>
                </a:solidFill>
                <a:latin typeface="Inter"/>
                <a:ea typeface="Inter"/>
                <a:cs typeface="Inter"/>
                <a:sym typeface="Inter"/>
              </a:rPr>
              <a:t>Contacts,</a:t>
            </a:r>
          </a:p>
          <a:p>
            <a:pPr algn="ctr">
              <a:lnSpc>
                <a:spcPts val="1817"/>
              </a:lnSpc>
            </a:pPr>
            <a:r>
              <a:rPr lang="en-US" sz="1513" spc="-75">
                <a:solidFill>
                  <a:srgbClr val="3F3C7A"/>
                </a:solidFill>
                <a:latin typeface="Inter"/>
                <a:ea typeface="Inter"/>
                <a:cs typeface="Inter"/>
                <a:sym typeface="Inter"/>
              </a:rPr>
              <a:t>routines, preferences</a:t>
            </a:r>
          </a:p>
        </p:txBody>
      </p:sp>
      <p:sp>
        <p:nvSpPr>
          <p:cNvPr id="39" name="Freeform 39"/>
          <p:cNvSpPr/>
          <p:nvPr/>
        </p:nvSpPr>
        <p:spPr>
          <a:xfrm>
            <a:off x="6748622" y="5788831"/>
            <a:ext cx="4364182" cy="864086"/>
          </a:xfrm>
          <a:custGeom>
            <a:avLst/>
            <a:gdLst/>
            <a:ahLst/>
            <a:cxnLst/>
            <a:rect l="l" t="t" r="r" b="b"/>
            <a:pathLst>
              <a:path w="3800475" h="752475">
                <a:moveTo>
                  <a:pt x="0" y="0"/>
                </a:moveTo>
                <a:lnTo>
                  <a:pt x="3800475" y="0"/>
                </a:lnTo>
                <a:lnTo>
                  <a:pt x="380047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6529867" y="6434161"/>
            <a:ext cx="4582938" cy="1717234"/>
          </a:xfrm>
          <a:custGeom>
            <a:avLst/>
            <a:gdLst/>
            <a:ahLst/>
            <a:cxnLst/>
            <a:rect l="l" t="t" r="r" b="b"/>
            <a:pathLst>
              <a:path w="3990975" h="1495425">
                <a:moveTo>
                  <a:pt x="0" y="0"/>
                </a:moveTo>
                <a:lnTo>
                  <a:pt x="3990975" y="0"/>
                </a:lnTo>
                <a:lnTo>
                  <a:pt x="3990975" y="1495425"/>
                </a:lnTo>
                <a:lnTo>
                  <a:pt x="0" y="149542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7175197" y="6641979"/>
            <a:ext cx="885962" cy="1082842"/>
          </a:xfrm>
          <a:custGeom>
            <a:avLst/>
            <a:gdLst/>
            <a:ahLst/>
            <a:cxnLst/>
            <a:rect l="l" t="t" r="r" b="b"/>
            <a:pathLst>
              <a:path w="771525" h="942975">
                <a:moveTo>
                  <a:pt x="0" y="0"/>
                </a:moveTo>
                <a:lnTo>
                  <a:pt x="771525" y="0"/>
                </a:lnTo>
                <a:lnTo>
                  <a:pt x="7715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42" name="TextBox 42"/>
          <p:cNvSpPr txBox="1"/>
          <p:nvPr/>
        </p:nvSpPr>
        <p:spPr>
          <a:xfrm>
            <a:off x="8371363" y="6879843"/>
            <a:ext cx="1361356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67"/>
              </a:lnSpc>
            </a:pPr>
            <a:r>
              <a:rPr lang="en-US" sz="2367" b="1" spc="-70">
                <a:solidFill>
                  <a:srgbClr val="030432"/>
                </a:solidFill>
                <a:latin typeface="Inter Bold"/>
                <a:ea typeface="Inter Bold"/>
                <a:cs typeface="Inter Bold"/>
                <a:sym typeface="Inter Bold"/>
              </a:rPr>
              <a:t>Hindsight</a:t>
            </a:r>
          </a:p>
        </p:txBody>
      </p:sp>
      <p:sp>
        <p:nvSpPr>
          <p:cNvPr id="43" name="Freeform 43"/>
          <p:cNvSpPr/>
          <p:nvPr/>
        </p:nvSpPr>
        <p:spPr>
          <a:xfrm>
            <a:off x="8706488" y="7713883"/>
            <a:ext cx="437512" cy="656268"/>
          </a:xfrm>
          <a:custGeom>
            <a:avLst/>
            <a:gdLst/>
            <a:ahLst/>
            <a:cxnLst/>
            <a:rect l="l" t="t" r="r" b="b"/>
            <a:pathLst>
              <a:path w="381000" h="571500">
                <a:moveTo>
                  <a:pt x="0" y="0"/>
                </a:moveTo>
                <a:lnTo>
                  <a:pt x="381000" y="0"/>
                </a:lnTo>
                <a:lnTo>
                  <a:pt x="3810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6092354" y="8140457"/>
            <a:ext cx="5665780" cy="1728172"/>
          </a:xfrm>
          <a:custGeom>
            <a:avLst/>
            <a:gdLst/>
            <a:ahLst/>
            <a:cxnLst/>
            <a:rect l="l" t="t" r="r" b="b"/>
            <a:pathLst>
              <a:path w="4933950" h="1504950">
                <a:moveTo>
                  <a:pt x="0" y="0"/>
                </a:moveTo>
                <a:lnTo>
                  <a:pt x="4933950" y="0"/>
                </a:lnTo>
                <a:lnTo>
                  <a:pt x="49339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6529866" y="8359214"/>
            <a:ext cx="875024" cy="1082842"/>
          </a:xfrm>
          <a:custGeom>
            <a:avLst/>
            <a:gdLst/>
            <a:ahLst/>
            <a:cxnLst/>
            <a:rect l="l" t="t" r="r" b="b"/>
            <a:pathLst>
              <a:path w="762000" h="942975">
                <a:moveTo>
                  <a:pt x="0" y="0"/>
                </a:moveTo>
                <a:lnTo>
                  <a:pt x="762000" y="0"/>
                </a:lnTo>
                <a:lnTo>
                  <a:pt x="76200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46" name="TextBox 46"/>
          <p:cNvSpPr txBox="1"/>
          <p:nvPr/>
        </p:nvSpPr>
        <p:spPr>
          <a:xfrm>
            <a:off x="7620955" y="8881020"/>
            <a:ext cx="4071638" cy="472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98"/>
              </a:lnSpc>
            </a:pPr>
            <a:r>
              <a:rPr lang="en-US" sz="1581" spc="-78">
                <a:solidFill>
                  <a:srgbClr val="3F3C7A"/>
                </a:solidFill>
                <a:latin typeface="Inter"/>
                <a:ea typeface="Inter"/>
                <a:cs typeface="Inter"/>
                <a:sym typeface="Inter"/>
              </a:rPr>
              <a:t>Remembers your information, understands your context and provides proactive assistance.</a:t>
            </a:r>
          </a:p>
        </p:txBody>
      </p:sp>
      <p:sp>
        <p:nvSpPr>
          <p:cNvPr id="47" name="Freeform 47"/>
          <p:cNvSpPr/>
          <p:nvPr/>
        </p:nvSpPr>
        <p:spPr>
          <a:xfrm>
            <a:off x="11965953" y="2999691"/>
            <a:ext cx="6114230" cy="7087694"/>
          </a:xfrm>
          <a:custGeom>
            <a:avLst/>
            <a:gdLst/>
            <a:ahLst/>
            <a:cxnLst/>
            <a:rect l="l" t="t" r="r" b="b"/>
            <a:pathLst>
              <a:path w="5324475" h="6172200">
                <a:moveTo>
                  <a:pt x="0" y="0"/>
                </a:moveTo>
                <a:lnTo>
                  <a:pt x="5324475" y="0"/>
                </a:lnTo>
                <a:lnTo>
                  <a:pt x="5324475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</p:sp>
      <p:sp>
        <p:nvSpPr>
          <p:cNvPr id="48" name="TextBox 48"/>
          <p:cNvSpPr txBox="1"/>
          <p:nvPr/>
        </p:nvSpPr>
        <p:spPr>
          <a:xfrm>
            <a:off x="12352566" y="3209637"/>
            <a:ext cx="2398066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28"/>
              </a:lnSpc>
            </a:pPr>
            <a:r>
              <a:rPr lang="en-US" sz="3128" b="1" spc="-155">
                <a:solidFill>
                  <a:srgbClr val="045CFD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Key Features</a:t>
            </a:r>
          </a:p>
        </p:txBody>
      </p:sp>
      <p:sp>
        <p:nvSpPr>
          <p:cNvPr id="49" name="Freeform 49"/>
          <p:cNvSpPr/>
          <p:nvPr/>
        </p:nvSpPr>
        <p:spPr>
          <a:xfrm>
            <a:off x="12184709" y="3645022"/>
            <a:ext cx="5895474" cy="6442364"/>
          </a:xfrm>
          <a:custGeom>
            <a:avLst/>
            <a:gdLst/>
            <a:ahLst/>
            <a:cxnLst/>
            <a:rect l="l" t="t" r="r" b="b"/>
            <a:pathLst>
              <a:path w="5133975" h="5610225">
                <a:moveTo>
                  <a:pt x="0" y="0"/>
                </a:moveTo>
                <a:lnTo>
                  <a:pt x="5133975" y="0"/>
                </a:lnTo>
                <a:lnTo>
                  <a:pt x="5133975" y="5610225"/>
                </a:lnTo>
                <a:lnTo>
                  <a:pt x="0" y="561022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12184709" y="3852840"/>
            <a:ext cx="1323474" cy="1301598"/>
          </a:xfrm>
          <a:custGeom>
            <a:avLst/>
            <a:gdLst/>
            <a:ahLst/>
            <a:cxnLst/>
            <a:rect l="l" t="t" r="r" b="b"/>
            <a:pathLst>
              <a:path w="1152525" h="1133475">
                <a:moveTo>
                  <a:pt x="0" y="0"/>
                </a:moveTo>
                <a:lnTo>
                  <a:pt x="1152525" y="0"/>
                </a:lnTo>
                <a:lnTo>
                  <a:pt x="1152525" y="1133475"/>
                </a:lnTo>
                <a:lnTo>
                  <a:pt x="0" y="113347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12403465" y="4071596"/>
            <a:ext cx="885962" cy="864086"/>
          </a:xfrm>
          <a:custGeom>
            <a:avLst/>
            <a:gdLst/>
            <a:ahLst/>
            <a:cxnLst/>
            <a:rect l="l" t="t" r="r" b="b"/>
            <a:pathLst>
              <a:path w="771525" h="752475">
                <a:moveTo>
                  <a:pt x="0" y="0"/>
                </a:moveTo>
                <a:lnTo>
                  <a:pt x="771525" y="0"/>
                </a:lnTo>
                <a:lnTo>
                  <a:pt x="7715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</p:sp>
      <p:sp>
        <p:nvSpPr>
          <p:cNvPr id="52" name="TextBox 52"/>
          <p:cNvSpPr txBox="1"/>
          <p:nvPr/>
        </p:nvSpPr>
        <p:spPr>
          <a:xfrm>
            <a:off x="13742789" y="4108714"/>
            <a:ext cx="4634508" cy="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50"/>
              </a:lnSpc>
            </a:pPr>
            <a:r>
              <a:rPr lang="en-US" sz="2250" b="1" spc="-111">
                <a:solidFill>
                  <a:srgbClr val="045CF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Remembers your details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3704798" y="4454910"/>
            <a:ext cx="3799067" cy="522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88"/>
              </a:lnSpc>
            </a:pPr>
            <a:r>
              <a:rPr lang="en-US" sz="1740" spc="-86">
                <a:solidFill>
                  <a:srgbClr val="3F3C7A"/>
                </a:solidFill>
                <a:latin typeface="Inter"/>
                <a:ea typeface="Inter"/>
                <a:cs typeface="Inter"/>
                <a:sym typeface="Inter"/>
              </a:rPr>
              <a:t>Trusted contacts, emergency protocols, and safety settings.</a:t>
            </a:r>
          </a:p>
        </p:txBody>
      </p:sp>
      <p:sp>
        <p:nvSpPr>
          <p:cNvPr id="54" name="Freeform 54"/>
          <p:cNvSpPr/>
          <p:nvPr/>
        </p:nvSpPr>
        <p:spPr>
          <a:xfrm>
            <a:off x="12184709" y="5143500"/>
            <a:ext cx="5676718" cy="229694"/>
          </a:xfrm>
          <a:custGeom>
            <a:avLst/>
            <a:gdLst/>
            <a:ahLst/>
            <a:cxnLst/>
            <a:rect l="l" t="t" r="r" b="b"/>
            <a:pathLst>
              <a:path w="4943475" h="200025">
                <a:moveTo>
                  <a:pt x="0" y="0"/>
                </a:moveTo>
                <a:lnTo>
                  <a:pt x="4943475" y="0"/>
                </a:lnTo>
                <a:lnTo>
                  <a:pt x="4943475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</p:sp>
      <p:sp>
        <p:nvSpPr>
          <p:cNvPr id="55" name="Freeform 55"/>
          <p:cNvSpPr/>
          <p:nvPr/>
        </p:nvSpPr>
        <p:spPr>
          <a:xfrm>
            <a:off x="12184709" y="5362256"/>
            <a:ext cx="1323474" cy="1290660"/>
          </a:xfrm>
          <a:custGeom>
            <a:avLst/>
            <a:gdLst/>
            <a:ahLst/>
            <a:cxnLst/>
            <a:rect l="l" t="t" r="r" b="b"/>
            <a:pathLst>
              <a:path w="1152525" h="1123950">
                <a:moveTo>
                  <a:pt x="0" y="0"/>
                </a:moveTo>
                <a:lnTo>
                  <a:pt x="1152525" y="0"/>
                </a:lnTo>
                <a:lnTo>
                  <a:pt x="1152525" y="1123950"/>
                </a:lnTo>
                <a:lnTo>
                  <a:pt x="0" y="1123950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/>
            </a:stretch>
          </a:blipFill>
        </p:spPr>
      </p:sp>
      <p:sp>
        <p:nvSpPr>
          <p:cNvPr id="56" name="Freeform 56"/>
          <p:cNvSpPr/>
          <p:nvPr/>
        </p:nvSpPr>
        <p:spPr>
          <a:xfrm>
            <a:off x="12622221" y="5570074"/>
            <a:ext cx="667206" cy="875024"/>
          </a:xfrm>
          <a:custGeom>
            <a:avLst/>
            <a:gdLst/>
            <a:ahLst/>
            <a:cxnLst/>
            <a:rect l="l" t="t" r="r" b="b"/>
            <a:pathLst>
              <a:path w="581025" h="762000">
                <a:moveTo>
                  <a:pt x="0" y="0"/>
                </a:moveTo>
                <a:lnTo>
                  <a:pt x="581025" y="0"/>
                </a:lnTo>
                <a:lnTo>
                  <a:pt x="58102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/>
            </a:stretch>
          </a:blipFill>
        </p:spPr>
      </p:sp>
      <p:sp>
        <p:nvSpPr>
          <p:cNvPr id="57" name="TextBox 57"/>
          <p:cNvSpPr txBox="1"/>
          <p:nvPr/>
        </p:nvSpPr>
        <p:spPr>
          <a:xfrm>
            <a:off x="13707331" y="5916588"/>
            <a:ext cx="3545915" cy="522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88"/>
              </a:lnSpc>
            </a:pPr>
            <a:r>
              <a:rPr lang="en-US" sz="1740" spc="-86">
                <a:solidFill>
                  <a:srgbClr val="3F3C7A"/>
                </a:solidFill>
                <a:latin typeface="Inter"/>
                <a:ea typeface="Inter"/>
                <a:cs typeface="Inter"/>
                <a:sym typeface="Inter"/>
              </a:rPr>
              <a:t>Regular routes, commute timings and frequent locations.</a:t>
            </a:r>
          </a:p>
        </p:txBody>
      </p:sp>
      <p:sp>
        <p:nvSpPr>
          <p:cNvPr id="58" name="Freeform 58"/>
          <p:cNvSpPr/>
          <p:nvPr/>
        </p:nvSpPr>
        <p:spPr>
          <a:xfrm>
            <a:off x="12184709" y="6641979"/>
            <a:ext cx="5676718" cy="229694"/>
          </a:xfrm>
          <a:custGeom>
            <a:avLst/>
            <a:gdLst/>
            <a:ahLst/>
            <a:cxnLst/>
            <a:rect l="l" t="t" r="r" b="b"/>
            <a:pathLst>
              <a:path w="4943475" h="200025">
                <a:moveTo>
                  <a:pt x="0" y="0"/>
                </a:moveTo>
                <a:lnTo>
                  <a:pt x="4943475" y="0"/>
                </a:lnTo>
                <a:lnTo>
                  <a:pt x="4943475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/>
            </a:stretch>
          </a:blipFill>
        </p:spPr>
      </p:sp>
      <p:sp>
        <p:nvSpPr>
          <p:cNvPr id="59" name="Freeform 59"/>
          <p:cNvSpPr/>
          <p:nvPr/>
        </p:nvSpPr>
        <p:spPr>
          <a:xfrm>
            <a:off x="12184709" y="6860735"/>
            <a:ext cx="1323474" cy="1290660"/>
          </a:xfrm>
          <a:custGeom>
            <a:avLst/>
            <a:gdLst/>
            <a:ahLst/>
            <a:cxnLst/>
            <a:rect l="l" t="t" r="r" b="b"/>
            <a:pathLst>
              <a:path w="1152525" h="1123950">
                <a:moveTo>
                  <a:pt x="0" y="0"/>
                </a:moveTo>
                <a:lnTo>
                  <a:pt x="1152525" y="0"/>
                </a:lnTo>
                <a:lnTo>
                  <a:pt x="1152525" y="1123950"/>
                </a:lnTo>
                <a:lnTo>
                  <a:pt x="0" y="1123950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/>
            </a:stretch>
          </a:blipFill>
        </p:spPr>
      </p:sp>
      <p:sp>
        <p:nvSpPr>
          <p:cNvPr id="60" name="Freeform 60"/>
          <p:cNvSpPr/>
          <p:nvPr/>
        </p:nvSpPr>
        <p:spPr>
          <a:xfrm>
            <a:off x="12622221" y="7068553"/>
            <a:ext cx="667206" cy="875024"/>
          </a:xfrm>
          <a:custGeom>
            <a:avLst/>
            <a:gdLst/>
            <a:ahLst/>
            <a:cxnLst/>
            <a:rect l="l" t="t" r="r" b="b"/>
            <a:pathLst>
              <a:path w="581025" h="762000">
                <a:moveTo>
                  <a:pt x="0" y="0"/>
                </a:moveTo>
                <a:lnTo>
                  <a:pt x="581025" y="0"/>
                </a:lnTo>
                <a:lnTo>
                  <a:pt x="58102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/>
            </a:stretch>
          </a:blipFill>
        </p:spPr>
      </p:sp>
      <p:sp>
        <p:nvSpPr>
          <p:cNvPr id="61" name="TextBox 61"/>
          <p:cNvSpPr txBox="1"/>
          <p:nvPr/>
        </p:nvSpPr>
        <p:spPr>
          <a:xfrm>
            <a:off x="13702422" y="7408404"/>
            <a:ext cx="4036778" cy="522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88"/>
              </a:lnSpc>
            </a:pPr>
            <a:r>
              <a:rPr lang="en-US" sz="1740" spc="-86">
                <a:solidFill>
                  <a:srgbClr val="3F3C7A"/>
                </a:solidFill>
                <a:latin typeface="Inter"/>
                <a:ea typeface="Inter"/>
                <a:cs typeface="Inter"/>
                <a:sym typeface="Inter"/>
              </a:rPr>
              <a:t>Stores past SOS events and device history to give relevant support.</a:t>
            </a:r>
          </a:p>
        </p:txBody>
      </p:sp>
      <p:sp>
        <p:nvSpPr>
          <p:cNvPr id="62" name="Freeform 62"/>
          <p:cNvSpPr/>
          <p:nvPr/>
        </p:nvSpPr>
        <p:spPr>
          <a:xfrm>
            <a:off x="12184709" y="8140457"/>
            <a:ext cx="5676718" cy="229694"/>
          </a:xfrm>
          <a:custGeom>
            <a:avLst/>
            <a:gdLst/>
            <a:ahLst/>
            <a:cxnLst/>
            <a:rect l="l" t="t" r="r" b="b"/>
            <a:pathLst>
              <a:path w="4943475" h="200025">
                <a:moveTo>
                  <a:pt x="0" y="0"/>
                </a:moveTo>
                <a:lnTo>
                  <a:pt x="4943475" y="0"/>
                </a:lnTo>
                <a:lnTo>
                  <a:pt x="4943475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/>
            </a:stretch>
          </a:blipFill>
        </p:spPr>
      </p:sp>
      <p:sp>
        <p:nvSpPr>
          <p:cNvPr id="63" name="Freeform 63"/>
          <p:cNvSpPr/>
          <p:nvPr/>
        </p:nvSpPr>
        <p:spPr>
          <a:xfrm>
            <a:off x="12184709" y="8359214"/>
            <a:ext cx="1323474" cy="1301598"/>
          </a:xfrm>
          <a:custGeom>
            <a:avLst/>
            <a:gdLst/>
            <a:ahLst/>
            <a:cxnLst/>
            <a:rect l="l" t="t" r="r" b="b"/>
            <a:pathLst>
              <a:path w="1152525" h="1133475">
                <a:moveTo>
                  <a:pt x="0" y="0"/>
                </a:moveTo>
                <a:lnTo>
                  <a:pt x="1152525" y="0"/>
                </a:lnTo>
                <a:lnTo>
                  <a:pt x="1152525" y="1133475"/>
                </a:lnTo>
                <a:lnTo>
                  <a:pt x="0" y="1133475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>
              <a:fillRect/>
            </a:stretch>
          </a:blipFill>
        </p:spPr>
      </p:sp>
      <p:sp>
        <p:nvSpPr>
          <p:cNvPr id="64" name="Freeform 64"/>
          <p:cNvSpPr/>
          <p:nvPr/>
        </p:nvSpPr>
        <p:spPr>
          <a:xfrm>
            <a:off x="12622221" y="8577970"/>
            <a:ext cx="667206" cy="864086"/>
          </a:xfrm>
          <a:custGeom>
            <a:avLst/>
            <a:gdLst/>
            <a:ahLst/>
            <a:cxnLst/>
            <a:rect l="l" t="t" r="r" b="b"/>
            <a:pathLst>
              <a:path w="581025" h="752475">
                <a:moveTo>
                  <a:pt x="0" y="0"/>
                </a:moveTo>
                <a:lnTo>
                  <a:pt x="581025" y="0"/>
                </a:lnTo>
                <a:lnTo>
                  <a:pt x="5810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>
              <a:fillRect/>
            </a:stretch>
          </a:blipFill>
        </p:spPr>
      </p:sp>
      <p:sp>
        <p:nvSpPr>
          <p:cNvPr id="65" name="TextBox 65"/>
          <p:cNvSpPr txBox="1"/>
          <p:nvPr/>
        </p:nvSpPr>
        <p:spPr>
          <a:xfrm>
            <a:off x="13702925" y="8870082"/>
            <a:ext cx="3986434" cy="522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88"/>
              </a:lnSpc>
            </a:pPr>
            <a:r>
              <a:rPr lang="en-US" sz="1740" spc="-86">
                <a:solidFill>
                  <a:srgbClr val="3F3C7A"/>
                </a:solidFill>
                <a:latin typeface="Inter"/>
                <a:ea typeface="Inter"/>
                <a:cs typeface="Inter"/>
                <a:sym typeface="Inter"/>
              </a:rPr>
              <a:t>Suggests check-ins and alerts for unusual or risky situations.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7661672" y="8554023"/>
            <a:ext cx="4634508" cy="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50"/>
              </a:lnSpc>
            </a:pPr>
            <a:r>
              <a:rPr lang="en-US" sz="2250" b="1" spc="-111">
                <a:solidFill>
                  <a:srgbClr val="0B0EC8"/>
                </a:solidFill>
                <a:latin typeface="Inter Bold"/>
                <a:ea typeface="Inter Bold"/>
                <a:cs typeface="Inter Bold"/>
                <a:sym typeface="Inter Bold"/>
              </a:rPr>
              <a:t>More Personalized Safety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3742789" y="8523886"/>
            <a:ext cx="4634508" cy="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50"/>
              </a:lnSpc>
            </a:pPr>
            <a:r>
              <a:rPr lang="en-US" sz="2250" b="1" spc="-111">
                <a:solidFill>
                  <a:srgbClr val="045CF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Proactive suggestions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3742789" y="7077277"/>
            <a:ext cx="4634508" cy="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50"/>
              </a:lnSpc>
            </a:pPr>
            <a:r>
              <a:rPr lang="en-US" sz="2250" b="1" spc="-111">
                <a:solidFill>
                  <a:srgbClr val="045CF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Uses past incidents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3742789" y="5555323"/>
            <a:ext cx="4634508" cy="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50"/>
              </a:lnSpc>
            </a:pPr>
            <a:r>
              <a:rPr lang="en-US" sz="2250" b="1" spc="-111">
                <a:solidFill>
                  <a:srgbClr val="045CF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Learns your routine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8310148" y="7208378"/>
            <a:ext cx="2125131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06"/>
              </a:lnSpc>
            </a:pPr>
            <a:r>
              <a:rPr lang="en-US" sz="2088" spc="-103">
                <a:solidFill>
                  <a:srgbClr val="030432"/>
                </a:solidFill>
                <a:latin typeface="Inter"/>
                <a:ea typeface="Inter"/>
                <a:cs typeface="Inter"/>
                <a:sym typeface="Inter"/>
              </a:rPr>
              <a:t>(AI Memory Layer)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6454756" y="5309703"/>
            <a:ext cx="1148317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7"/>
              </a:lnSpc>
            </a:pPr>
            <a:r>
              <a:rPr lang="en-US" sz="1513" spc="-75">
                <a:solidFill>
                  <a:srgbClr val="3F3C7A"/>
                </a:solidFill>
                <a:latin typeface="Inter"/>
                <a:ea typeface="Inter"/>
                <a:cs typeface="Inter"/>
                <a:sym typeface="Inter"/>
              </a:rPr>
              <a:t>SOS, location,</a:t>
            </a:r>
          </a:p>
          <a:p>
            <a:pPr algn="ctr">
              <a:lnSpc>
                <a:spcPts val="1817"/>
              </a:lnSpc>
            </a:pPr>
            <a:r>
              <a:rPr lang="en-US" sz="1513" spc="-75">
                <a:solidFill>
                  <a:srgbClr val="3F3C7A"/>
                </a:solidFill>
                <a:latin typeface="Inter"/>
                <a:ea typeface="Inter"/>
                <a:cs typeface="Inter"/>
                <a:sym typeface="Inter"/>
              </a:rPr>
              <a:t>motion alerts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982391" y="8960882"/>
            <a:ext cx="3295054" cy="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50"/>
              </a:lnSpc>
            </a:pPr>
            <a:r>
              <a:rPr lang="en-US" sz="2250" b="1" spc="-111">
                <a:solidFill>
                  <a:srgbClr val="045CF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Reflect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0260535" y="5011235"/>
            <a:ext cx="1046270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0"/>
              </a:lnSpc>
            </a:pPr>
            <a:r>
              <a:rPr lang="en-US" sz="1810" b="1" spc="-53">
                <a:solidFill>
                  <a:srgbClr val="0304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User Data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982391" y="6640280"/>
            <a:ext cx="3295054" cy="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50"/>
              </a:lnSpc>
            </a:pPr>
            <a:r>
              <a:rPr lang="en-US" sz="2250" b="1" spc="-111">
                <a:solidFill>
                  <a:srgbClr val="045CF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Retain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982391" y="7800581"/>
            <a:ext cx="3295054" cy="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50"/>
              </a:lnSpc>
            </a:pPr>
            <a:r>
              <a:rPr lang="en-US" sz="2250" b="1" spc="-111">
                <a:solidFill>
                  <a:srgbClr val="045CF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Recall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6660893" y="5011235"/>
            <a:ext cx="736043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0"/>
              </a:lnSpc>
            </a:pPr>
            <a:r>
              <a:rPr lang="en-US" sz="1810" b="1" spc="-53">
                <a:solidFill>
                  <a:srgbClr val="03043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Device</a:t>
            </a:r>
          </a:p>
        </p:txBody>
      </p:sp>
      <p:sp>
        <p:nvSpPr>
          <p:cNvPr id="78" name="TextBox 6">
            <a:extLst>
              <a:ext uri="{FF2B5EF4-FFF2-40B4-BE49-F238E27FC236}">
                <a16:creationId xmlns:a16="http://schemas.microsoft.com/office/drawing/2014/main" id="{75C6AF57-BEB7-4235-BFEC-E40FE667A5DE}"/>
              </a:ext>
            </a:extLst>
          </p:cNvPr>
          <p:cNvSpPr txBox="1"/>
          <p:nvPr/>
        </p:nvSpPr>
        <p:spPr>
          <a:xfrm>
            <a:off x="14303915" y="266700"/>
            <a:ext cx="2841131" cy="4244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342"/>
              </a:lnSpc>
            </a:pPr>
            <a:r>
              <a:rPr lang="en-US" sz="2783" b="1" dirty="0">
                <a:solidFill>
                  <a:srgbClr val="0A74FF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Colossal-a-Pitch</a:t>
            </a:r>
          </a:p>
        </p:txBody>
      </p:sp>
      <p:sp>
        <p:nvSpPr>
          <p:cNvPr id="79" name="TextBox 37">
            <a:extLst>
              <a:ext uri="{FF2B5EF4-FFF2-40B4-BE49-F238E27FC236}">
                <a16:creationId xmlns:a16="http://schemas.microsoft.com/office/drawing/2014/main" id="{0497277D-FED5-4DF6-A30A-CC3D3CD7F7F3}"/>
              </a:ext>
            </a:extLst>
          </p:cNvPr>
          <p:cNvSpPr txBox="1"/>
          <p:nvPr/>
        </p:nvSpPr>
        <p:spPr>
          <a:xfrm>
            <a:off x="14319955" y="733835"/>
            <a:ext cx="3486165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961"/>
              </a:lnSpc>
            </a:pPr>
            <a:r>
              <a:rPr lang="en-US" sz="1634" b="1" dirty="0" err="1">
                <a:solidFill>
                  <a:srgbClr val="292E4B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Avinya</a:t>
            </a:r>
            <a:r>
              <a:rPr lang="en-US" sz="1634" b="1" dirty="0">
                <a:solidFill>
                  <a:srgbClr val="292E4B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 26</a:t>
            </a:r>
          </a:p>
        </p:txBody>
      </p:sp>
      <p:sp>
        <p:nvSpPr>
          <p:cNvPr id="80" name="TextBox 6">
            <a:extLst>
              <a:ext uri="{FF2B5EF4-FFF2-40B4-BE49-F238E27FC236}">
                <a16:creationId xmlns:a16="http://schemas.microsoft.com/office/drawing/2014/main" id="{67F6317A-FACA-41A6-978F-8A998056A2DB}"/>
              </a:ext>
            </a:extLst>
          </p:cNvPr>
          <p:cNvSpPr txBox="1"/>
          <p:nvPr/>
        </p:nvSpPr>
        <p:spPr>
          <a:xfrm>
            <a:off x="481880" y="383123"/>
            <a:ext cx="2841131" cy="4244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342"/>
              </a:lnSpc>
            </a:pPr>
            <a:r>
              <a:rPr lang="en-US" sz="2783" b="1" dirty="0">
                <a:solidFill>
                  <a:srgbClr val="0A74FF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Team Gamma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735"/>
            <a:ext cx="18288000" cy="10292469"/>
          </a:xfrm>
          <a:custGeom>
            <a:avLst/>
            <a:gdLst/>
            <a:ahLst/>
            <a:cxnLst/>
            <a:rect l="l" t="t" r="r" b="b"/>
            <a:pathLst>
              <a:path w="15925800" h="8963025">
                <a:moveTo>
                  <a:pt x="0" y="0"/>
                </a:moveTo>
                <a:lnTo>
                  <a:pt x="15925800" y="0"/>
                </a:lnTo>
                <a:lnTo>
                  <a:pt x="15925800" y="8963025"/>
                </a:lnTo>
                <a:lnTo>
                  <a:pt x="0" y="89630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207818" y="1282457"/>
            <a:ext cx="17872364" cy="229694"/>
          </a:xfrm>
          <a:custGeom>
            <a:avLst/>
            <a:gdLst/>
            <a:ahLst/>
            <a:cxnLst/>
            <a:rect l="l" t="t" r="r" b="b"/>
            <a:pathLst>
              <a:path w="15563850" h="200025">
                <a:moveTo>
                  <a:pt x="0" y="0"/>
                </a:moveTo>
                <a:lnTo>
                  <a:pt x="15563850" y="0"/>
                </a:lnTo>
                <a:lnTo>
                  <a:pt x="15563850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40404" y="1542492"/>
            <a:ext cx="2216585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603"/>
              </a:lnSpc>
            </a:pPr>
            <a:r>
              <a:rPr lang="en-US" sz="5502" b="1">
                <a:solidFill>
                  <a:srgbClr val="0765FF"/>
                </a:solidFill>
                <a:latin typeface="Microsoft Tai Le" panose="020B0502040204020203" pitchFamily="34" charset="0"/>
                <a:ea typeface="Open Sauce Heavy"/>
                <a:cs typeface="Microsoft Tai Le" panose="020B0502040204020203" pitchFamily="34" charset="0"/>
                <a:sym typeface="Open Sauce Heavy"/>
              </a:rPr>
              <a:t>APP &amp;</a:t>
            </a:r>
          </a:p>
        </p:txBody>
      </p:sp>
      <p:sp>
        <p:nvSpPr>
          <p:cNvPr id="9" name="Freeform 9"/>
          <p:cNvSpPr/>
          <p:nvPr/>
        </p:nvSpPr>
        <p:spPr>
          <a:xfrm>
            <a:off x="426575" y="2146543"/>
            <a:ext cx="1323474" cy="437512"/>
          </a:xfrm>
          <a:custGeom>
            <a:avLst/>
            <a:gdLst/>
            <a:ahLst/>
            <a:cxnLst/>
            <a:rect l="l" t="t" r="r" b="b"/>
            <a:pathLst>
              <a:path w="1152525" h="381000">
                <a:moveTo>
                  <a:pt x="0" y="0"/>
                </a:moveTo>
                <a:lnTo>
                  <a:pt x="1152525" y="0"/>
                </a:lnTo>
                <a:lnTo>
                  <a:pt x="11525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90542" y="2465823"/>
            <a:ext cx="7202867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5"/>
              </a:lnSpc>
            </a:pPr>
            <a:r>
              <a:rPr lang="en-US" sz="1861" spc="-55">
                <a:solidFill>
                  <a:srgbClr val="333652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A simple and intuitive interface to manage safety, track location, and alert trusted contacts in real-time.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953196" y="1542492"/>
            <a:ext cx="4717914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603"/>
              </a:lnSpc>
            </a:pPr>
            <a:r>
              <a:rPr lang="en-US" sz="5502" b="1">
                <a:solidFill>
                  <a:srgbClr val="05103B"/>
                </a:solidFill>
                <a:latin typeface="Microsoft Tai Le" panose="020B0502040204020203" pitchFamily="34" charset="0"/>
                <a:ea typeface="Open Sauce Heavy"/>
                <a:cs typeface="Microsoft Tai Le" panose="020B0502040204020203" pitchFamily="34" charset="0"/>
                <a:sym typeface="Open Sauce Heavy"/>
              </a:rPr>
              <a:t>DASHBOARD</a:t>
            </a:r>
          </a:p>
        </p:txBody>
      </p:sp>
      <p:sp>
        <p:nvSpPr>
          <p:cNvPr id="12" name="Freeform 12"/>
          <p:cNvSpPr/>
          <p:nvPr/>
        </p:nvSpPr>
        <p:spPr>
          <a:xfrm>
            <a:off x="9789331" y="1501214"/>
            <a:ext cx="229694" cy="8586172"/>
          </a:xfrm>
          <a:custGeom>
            <a:avLst/>
            <a:gdLst/>
            <a:ahLst/>
            <a:cxnLst/>
            <a:rect l="l" t="t" r="r" b="b"/>
            <a:pathLst>
              <a:path w="200025" h="7477125">
                <a:moveTo>
                  <a:pt x="0" y="0"/>
                </a:moveTo>
                <a:lnTo>
                  <a:pt x="200025" y="0"/>
                </a:lnTo>
                <a:lnTo>
                  <a:pt x="200025" y="7477125"/>
                </a:lnTo>
                <a:lnTo>
                  <a:pt x="0" y="74771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140015" y="1542491"/>
            <a:ext cx="6661796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576"/>
              </a:lnSpc>
            </a:pPr>
            <a:r>
              <a:rPr lang="en-US" sz="4646" b="1">
                <a:solidFill>
                  <a:srgbClr val="0765FF"/>
                </a:solidFill>
                <a:latin typeface="Microsoft Tai Le" panose="020B0502040204020203" pitchFamily="34" charset="0"/>
                <a:ea typeface="Open Sauce Heavy"/>
                <a:cs typeface="Microsoft Tai Le" panose="020B0502040204020203" pitchFamily="34" charset="0"/>
                <a:sym typeface="Open Sauce Heavy"/>
              </a:rPr>
              <a:t>WORKING </a:t>
            </a:r>
            <a:r>
              <a:rPr lang="en-US" sz="4646" b="1">
                <a:solidFill>
                  <a:srgbClr val="05103B"/>
                </a:solidFill>
                <a:latin typeface="Microsoft Tai Le" panose="020B0502040204020203" pitchFamily="34" charset="0"/>
                <a:ea typeface="Open Sauce Heavy"/>
                <a:cs typeface="Microsoft Tai Le" panose="020B0502040204020203" pitchFamily="34" charset="0"/>
                <a:sym typeface="Open Sauce Heavy"/>
              </a:rPr>
              <a:t>SCENARIO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148011" y="2269928"/>
            <a:ext cx="586216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5"/>
              </a:lnSpc>
            </a:pPr>
            <a:r>
              <a:rPr lang="en-US" sz="1861" spc="-55">
                <a:solidFill>
                  <a:srgbClr val="333652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From detection to response — a complete safety chain.</a:t>
            </a:r>
          </a:p>
        </p:txBody>
      </p:sp>
      <p:sp>
        <p:nvSpPr>
          <p:cNvPr id="15" name="Freeform 15"/>
          <p:cNvSpPr/>
          <p:nvPr/>
        </p:nvSpPr>
        <p:spPr>
          <a:xfrm>
            <a:off x="207818" y="3218448"/>
            <a:ext cx="3062584" cy="6223608"/>
          </a:xfrm>
          <a:custGeom>
            <a:avLst/>
            <a:gdLst/>
            <a:ahLst/>
            <a:cxnLst/>
            <a:rect l="l" t="t" r="r" b="b"/>
            <a:pathLst>
              <a:path w="2667000" h="5419725">
                <a:moveTo>
                  <a:pt x="0" y="0"/>
                </a:moveTo>
                <a:lnTo>
                  <a:pt x="2667000" y="0"/>
                </a:lnTo>
                <a:lnTo>
                  <a:pt x="2667000" y="5419725"/>
                </a:lnTo>
                <a:lnTo>
                  <a:pt x="0" y="54197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426574" y="3218448"/>
            <a:ext cx="2625072" cy="645330"/>
          </a:xfrm>
          <a:custGeom>
            <a:avLst/>
            <a:gdLst/>
            <a:ahLst/>
            <a:cxnLst/>
            <a:rect l="l" t="t" r="r" b="b"/>
            <a:pathLst>
              <a:path w="2286000" h="561975">
                <a:moveTo>
                  <a:pt x="0" y="0"/>
                </a:moveTo>
                <a:lnTo>
                  <a:pt x="2286000" y="0"/>
                </a:lnTo>
                <a:lnTo>
                  <a:pt x="2286000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596421" y="3460367"/>
            <a:ext cx="197279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5"/>
              </a:lnSpc>
            </a:pPr>
            <a:r>
              <a:rPr lang="en-US" sz="1861" b="1" spc="-55">
                <a:solidFill>
                  <a:srgbClr val="05103B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Mobile App </a:t>
            </a:r>
            <a:r>
              <a:rPr lang="en-US" sz="1861" b="1" spc="-55">
                <a:solidFill>
                  <a:srgbClr val="0765FF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(User)</a:t>
            </a:r>
          </a:p>
        </p:txBody>
      </p:sp>
      <p:sp>
        <p:nvSpPr>
          <p:cNvPr id="18" name="Freeform 18"/>
          <p:cNvSpPr/>
          <p:nvPr/>
        </p:nvSpPr>
        <p:spPr>
          <a:xfrm>
            <a:off x="426574" y="3645022"/>
            <a:ext cx="2625072" cy="1082842"/>
          </a:xfrm>
          <a:custGeom>
            <a:avLst/>
            <a:gdLst/>
            <a:ahLst/>
            <a:cxnLst/>
            <a:rect l="l" t="t" r="r" b="b"/>
            <a:pathLst>
              <a:path w="2286000" h="942975">
                <a:moveTo>
                  <a:pt x="0" y="0"/>
                </a:moveTo>
                <a:lnTo>
                  <a:pt x="2286000" y="0"/>
                </a:lnTo>
                <a:lnTo>
                  <a:pt x="228600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645331" y="3852840"/>
            <a:ext cx="448450" cy="656268"/>
          </a:xfrm>
          <a:custGeom>
            <a:avLst/>
            <a:gdLst/>
            <a:ahLst/>
            <a:cxnLst/>
            <a:rect l="l" t="t" r="r" b="b"/>
            <a:pathLst>
              <a:path w="390525" h="571500">
                <a:moveTo>
                  <a:pt x="0" y="0"/>
                </a:moveTo>
                <a:lnTo>
                  <a:pt x="390525" y="0"/>
                </a:lnTo>
                <a:lnTo>
                  <a:pt x="3905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426574" y="4498170"/>
            <a:ext cx="2625072" cy="1082842"/>
          </a:xfrm>
          <a:custGeom>
            <a:avLst/>
            <a:gdLst/>
            <a:ahLst/>
            <a:cxnLst/>
            <a:rect l="l" t="t" r="r" b="b"/>
            <a:pathLst>
              <a:path w="2286000" h="942975">
                <a:moveTo>
                  <a:pt x="0" y="0"/>
                </a:moveTo>
                <a:lnTo>
                  <a:pt x="2286000" y="0"/>
                </a:lnTo>
                <a:lnTo>
                  <a:pt x="228600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21" name="Freeform 21"/>
          <p:cNvSpPr/>
          <p:nvPr/>
        </p:nvSpPr>
        <p:spPr>
          <a:xfrm>
            <a:off x="426575" y="4716926"/>
            <a:ext cx="667206" cy="656268"/>
          </a:xfrm>
          <a:custGeom>
            <a:avLst/>
            <a:gdLst/>
            <a:ahLst/>
            <a:cxnLst/>
            <a:rect l="l" t="t" r="r" b="b"/>
            <a:pathLst>
              <a:path w="581025" h="571500">
                <a:moveTo>
                  <a:pt x="0" y="0"/>
                </a:moveTo>
                <a:lnTo>
                  <a:pt x="581025" y="0"/>
                </a:lnTo>
                <a:lnTo>
                  <a:pt x="5810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426574" y="5362257"/>
            <a:ext cx="2625072" cy="1082842"/>
          </a:xfrm>
          <a:custGeom>
            <a:avLst/>
            <a:gdLst/>
            <a:ahLst/>
            <a:cxnLst/>
            <a:rect l="l" t="t" r="r" b="b"/>
            <a:pathLst>
              <a:path w="2286000" h="942975">
                <a:moveTo>
                  <a:pt x="0" y="0"/>
                </a:moveTo>
                <a:lnTo>
                  <a:pt x="2286000" y="0"/>
                </a:lnTo>
                <a:lnTo>
                  <a:pt x="228600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645331" y="5570074"/>
            <a:ext cx="448450" cy="656268"/>
          </a:xfrm>
          <a:custGeom>
            <a:avLst/>
            <a:gdLst/>
            <a:ahLst/>
            <a:cxnLst/>
            <a:rect l="l" t="t" r="r" b="b"/>
            <a:pathLst>
              <a:path w="390525" h="571500">
                <a:moveTo>
                  <a:pt x="0" y="0"/>
                </a:moveTo>
                <a:lnTo>
                  <a:pt x="390525" y="0"/>
                </a:lnTo>
                <a:lnTo>
                  <a:pt x="3905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426574" y="6215405"/>
            <a:ext cx="2625072" cy="1082842"/>
          </a:xfrm>
          <a:custGeom>
            <a:avLst/>
            <a:gdLst/>
            <a:ahLst/>
            <a:cxnLst/>
            <a:rect l="l" t="t" r="r" b="b"/>
            <a:pathLst>
              <a:path w="2286000" h="942975">
                <a:moveTo>
                  <a:pt x="0" y="0"/>
                </a:moveTo>
                <a:lnTo>
                  <a:pt x="2286000" y="0"/>
                </a:lnTo>
                <a:lnTo>
                  <a:pt x="228600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645331" y="6434161"/>
            <a:ext cx="448450" cy="645330"/>
          </a:xfrm>
          <a:custGeom>
            <a:avLst/>
            <a:gdLst/>
            <a:ahLst/>
            <a:cxnLst/>
            <a:rect l="l" t="t" r="r" b="b"/>
            <a:pathLst>
              <a:path w="390525" h="561975">
                <a:moveTo>
                  <a:pt x="0" y="0"/>
                </a:moveTo>
                <a:lnTo>
                  <a:pt x="390525" y="0"/>
                </a:lnTo>
                <a:lnTo>
                  <a:pt x="390525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271179" y="6670031"/>
            <a:ext cx="1469596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40"/>
              </a:lnSpc>
            </a:pPr>
            <a:r>
              <a:rPr lang="en-US" sz="1283" b="1" spc="-63">
                <a:solidFill>
                  <a:srgbClr val="3F4666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Live tracking on map</a:t>
            </a:r>
          </a:p>
        </p:txBody>
      </p:sp>
      <p:sp>
        <p:nvSpPr>
          <p:cNvPr id="27" name="Freeform 27"/>
          <p:cNvSpPr/>
          <p:nvPr/>
        </p:nvSpPr>
        <p:spPr>
          <a:xfrm>
            <a:off x="426574" y="7068553"/>
            <a:ext cx="2625072" cy="1082842"/>
          </a:xfrm>
          <a:custGeom>
            <a:avLst/>
            <a:gdLst/>
            <a:ahLst/>
            <a:cxnLst/>
            <a:rect l="l" t="t" r="r" b="b"/>
            <a:pathLst>
              <a:path w="2286000" h="942975">
                <a:moveTo>
                  <a:pt x="0" y="0"/>
                </a:moveTo>
                <a:lnTo>
                  <a:pt x="2286000" y="0"/>
                </a:lnTo>
                <a:lnTo>
                  <a:pt x="228600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645331" y="7287309"/>
            <a:ext cx="448450" cy="656268"/>
          </a:xfrm>
          <a:custGeom>
            <a:avLst/>
            <a:gdLst/>
            <a:ahLst/>
            <a:cxnLst/>
            <a:rect l="l" t="t" r="r" b="b"/>
            <a:pathLst>
              <a:path w="390525" h="571500">
                <a:moveTo>
                  <a:pt x="0" y="0"/>
                </a:moveTo>
                <a:lnTo>
                  <a:pt x="390525" y="0"/>
                </a:lnTo>
                <a:lnTo>
                  <a:pt x="3905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269008" y="7449480"/>
            <a:ext cx="1686806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81"/>
              </a:lnSpc>
            </a:pPr>
            <a:r>
              <a:rPr lang="en-US" sz="1318" b="1" spc="-65">
                <a:solidFill>
                  <a:srgbClr val="3F4666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View device status (battery, network, GPS)</a:t>
            </a:r>
          </a:p>
        </p:txBody>
      </p:sp>
      <p:sp>
        <p:nvSpPr>
          <p:cNvPr id="30" name="Freeform 30"/>
          <p:cNvSpPr/>
          <p:nvPr/>
        </p:nvSpPr>
        <p:spPr>
          <a:xfrm>
            <a:off x="426574" y="8140458"/>
            <a:ext cx="2625072" cy="1082842"/>
          </a:xfrm>
          <a:custGeom>
            <a:avLst/>
            <a:gdLst/>
            <a:ahLst/>
            <a:cxnLst/>
            <a:rect l="l" t="t" r="r" b="b"/>
            <a:pathLst>
              <a:path w="2286000" h="942975">
                <a:moveTo>
                  <a:pt x="0" y="0"/>
                </a:moveTo>
                <a:lnTo>
                  <a:pt x="2286000" y="0"/>
                </a:lnTo>
                <a:lnTo>
                  <a:pt x="228600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426575" y="8359213"/>
            <a:ext cx="667206" cy="656268"/>
          </a:xfrm>
          <a:custGeom>
            <a:avLst/>
            <a:gdLst/>
            <a:ahLst/>
            <a:cxnLst/>
            <a:rect l="l" t="t" r="r" b="b"/>
            <a:pathLst>
              <a:path w="581025" h="571500">
                <a:moveTo>
                  <a:pt x="0" y="0"/>
                </a:moveTo>
                <a:lnTo>
                  <a:pt x="581025" y="0"/>
                </a:lnTo>
                <a:lnTo>
                  <a:pt x="5810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2821952" y="3218447"/>
            <a:ext cx="3281340" cy="6868938"/>
          </a:xfrm>
          <a:custGeom>
            <a:avLst/>
            <a:gdLst/>
            <a:ahLst/>
            <a:cxnLst/>
            <a:rect l="l" t="t" r="r" b="b"/>
            <a:pathLst>
              <a:path w="2857500" h="5981700">
                <a:moveTo>
                  <a:pt x="0" y="0"/>
                </a:moveTo>
                <a:lnTo>
                  <a:pt x="2857500" y="0"/>
                </a:lnTo>
                <a:lnTo>
                  <a:pt x="2857500" y="5981700"/>
                </a:lnTo>
                <a:lnTo>
                  <a:pt x="0" y="598170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3923536" y="4345297"/>
            <a:ext cx="1445579" cy="1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53"/>
              </a:lnSpc>
            </a:pPr>
            <a:r>
              <a:rPr lang="en-US" sz="1044" b="1" spc="-31">
                <a:solidFill>
                  <a:srgbClr val="333652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Your Safety Companion</a:t>
            </a:r>
          </a:p>
        </p:txBody>
      </p:sp>
      <p:sp>
        <p:nvSpPr>
          <p:cNvPr id="34" name="Freeform 34"/>
          <p:cNvSpPr/>
          <p:nvPr/>
        </p:nvSpPr>
        <p:spPr>
          <a:xfrm>
            <a:off x="3696976" y="4498170"/>
            <a:ext cx="1750048" cy="1728172"/>
          </a:xfrm>
          <a:custGeom>
            <a:avLst/>
            <a:gdLst/>
            <a:ahLst/>
            <a:cxnLst/>
            <a:rect l="l" t="t" r="r" b="b"/>
            <a:pathLst>
              <a:path w="1524000" h="1504950">
                <a:moveTo>
                  <a:pt x="0" y="0"/>
                </a:moveTo>
                <a:lnTo>
                  <a:pt x="1524000" y="0"/>
                </a:lnTo>
                <a:lnTo>
                  <a:pt x="15240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4265175" y="5128878"/>
            <a:ext cx="658299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9"/>
              </a:lnSpc>
            </a:pPr>
            <a:r>
              <a:rPr lang="en-US" sz="2557" b="1" spc="-76">
                <a:solidFill>
                  <a:srgbClr val="FFFFFF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SOS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786528" y="6067277"/>
            <a:ext cx="175187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99"/>
              </a:lnSpc>
            </a:pPr>
            <a:r>
              <a:rPr lang="en-US" sz="1166" b="1" spc="-34">
                <a:solidFill>
                  <a:srgbClr val="333652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Press and hold to activate</a:t>
            </a:r>
          </a:p>
        </p:txBody>
      </p:sp>
      <p:sp>
        <p:nvSpPr>
          <p:cNvPr id="37" name="Freeform 37"/>
          <p:cNvSpPr/>
          <p:nvPr/>
        </p:nvSpPr>
        <p:spPr>
          <a:xfrm>
            <a:off x="3478221" y="6434160"/>
            <a:ext cx="229694" cy="437512"/>
          </a:xfrm>
          <a:custGeom>
            <a:avLst/>
            <a:gdLst/>
            <a:ahLst/>
            <a:cxnLst/>
            <a:rect l="l" t="t" r="r" b="b"/>
            <a:pathLst>
              <a:path w="200025" h="381000">
                <a:moveTo>
                  <a:pt x="0" y="0"/>
                </a:moveTo>
                <a:lnTo>
                  <a:pt x="200025" y="0"/>
                </a:lnTo>
                <a:lnTo>
                  <a:pt x="2000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3478221" y="6641978"/>
            <a:ext cx="229694" cy="437512"/>
          </a:xfrm>
          <a:custGeom>
            <a:avLst/>
            <a:gdLst/>
            <a:ahLst/>
            <a:cxnLst/>
            <a:rect l="l" t="t" r="r" b="b"/>
            <a:pathLst>
              <a:path w="200025" h="381000">
                <a:moveTo>
                  <a:pt x="0" y="0"/>
                </a:moveTo>
                <a:lnTo>
                  <a:pt x="200025" y="0"/>
                </a:lnTo>
                <a:lnTo>
                  <a:pt x="2000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3259464" y="6860735"/>
            <a:ext cx="2625072" cy="1509416"/>
          </a:xfrm>
          <a:custGeom>
            <a:avLst/>
            <a:gdLst/>
            <a:ahLst/>
            <a:cxnLst/>
            <a:rect l="l" t="t" r="r" b="b"/>
            <a:pathLst>
              <a:path w="2286000" h="1314450">
                <a:moveTo>
                  <a:pt x="0" y="0"/>
                </a:moveTo>
                <a:lnTo>
                  <a:pt x="2286000" y="0"/>
                </a:lnTo>
                <a:lnTo>
                  <a:pt x="2286000" y="1314450"/>
                </a:lnTo>
                <a:lnTo>
                  <a:pt x="0" y="131445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3478221" y="8140457"/>
            <a:ext cx="229694" cy="448450"/>
          </a:xfrm>
          <a:custGeom>
            <a:avLst/>
            <a:gdLst/>
            <a:ahLst/>
            <a:cxnLst/>
            <a:rect l="l" t="t" r="r" b="b"/>
            <a:pathLst>
              <a:path w="200025" h="390525">
                <a:moveTo>
                  <a:pt x="0" y="0"/>
                </a:moveTo>
                <a:lnTo>
                  <a:pt x="200025" y="0"/>
                </a:lnTo>
                <a:lnTo>
                  <a:pt x="200025" y="390525"/>
                </a:lnTo>
                <a:lnTo>
                  <a:pt x="0" y="39052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3259465" y="9004543"/>
            <a:ext cx="667206" cy="437512"/>
          </a:xfrm>
          <a:custGeom>
            <a:avLst/>
            <a:gdLst/>
            <a:ahLst/>
            <a:cxnLst/>
            <a:rect l="l" t="t" r="r" b="b"/>
            <a:pathLst>
              <a:path w="581025" h="381000">
                <a:moveTo>
                  <a:pt x="0" y="0"/>
                </a:moveTo>
                <a:lnTo>
                  <a:pt x="581025" y="0"/>
                </a:lnTo>
                <a:lnTo>
                  <a:pt x="5810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4134488" y="9004543"/>
            <a:ext cx="437512" cy="437512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4779819" y="9004543"/>
            <a:ext cx="229694" cy="437512"/>
          </a:xfrm>
          <a:custGeom>
            <a:avLst/>
            <a:gdLst/>
            <a:ahLst/>
            <a:cxnLst/>
            <a:rect l="l" t="t" r="r" b="b"/>
            <a:pathLst>
              <a:path w="200025" h="381000">
                <a:moveTo>
                  <a:pt x="0" y="0"/>
                </a:moveTo>
                <a:lnTo>
                  <a:pt x="200025" y="0"/>
                </a:lnTo>
                <a:lnTo>
                  <a:pt x="2000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5217331" y="9004543"/>
            <a:ext cx="448450" cy="437512"/>
          </a:xfrm>
          <a:custGeom>
            <a:avLst/>
            <a:gdLst/>
            <a:ahLst/>
            <a:cxnLst/>
            <a:rect l="l" t="t" r="r" b="b"/>
            <a:pathLst>
              <a:path w="390525" h="381000">
                <a:moveTo>
                  <a:pt x="0" y="0"/>
                </a:moveTo>
                <a:lnTo>
                  <a:pt x="390525" y="0"/>
                </a:lnTo>
                <a:lnTo>
                  <a:pt x="3905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</p:sp>
      <p:sp>
        <p:nvSpPr>
          <p:cNvPr id="45" name="TextBox 45"/>
          <p:cNvSpPr txBox="1"/>
          <p:nvPr/>
        </p:nvSpPr>
        <p:spPr>
          <a:xfrm>
            <a:off x="6634046" y="3160795"/>
            <a:ext cx="4908961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88"/>
              </a:lnSpc>
            </a:pPr>
            <a:r>
              <a:rPr lang="en-US" sz="1740" b="1" spc="-52" dirty="0">
                <a:solidFill>
                  <a:srgbClr val="0765FF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Hindsight </a:t>
            </a:r>
            <a:br>
              <a:rPr lang="en-US" sz="1740" b="1" spc="-52" dirty="0">
                <a:solidFill>
                  <a:srgbClr val="0765FF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</a:br>
            <a:r>
              <a:rPr lang="en-US" sz="1740" b="1" spc="-52" dirty="0">
                <a:solidFill>
                  <a:srgbClr val="0765FF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Ai agent</a:t>
            </a:r>
          </a:p>
        </p:txBody>
      </p:sp>
      <p:sp>
        <p:nvSpPr>
          <p:cNvPr id="46" name="Freeform 46"/>
          <p:cNvSpPr/>
          <p:nvPr/>
        </p:nvSpPr>
        <p:spPr>
          <a:xfrm>
            <a:off x="6311111" y="3645022"/>
            <a:ext cx="3270402" cy="864086"/>
          </a:xfrm>
          <a:custGeom>
            <a:avLst/>
            <a:gdLst/>
            <a:ahLst/>
            <a:cxnLst/>
            <a:rect l="l" t="t" r="r" b="b"/>
            <a:pathLst>
              <a:path w="2847975" h="752475">
                <a:moveTo>
                  <a:pt x="0" y="0"/>
                </a:moveTo>
                <a:lnTo>
                  <a:pt x="2847975" y="0"/>
                </a:lnTo>
                <a:lnTo>
                  <a:pt x="284797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6529866" y="3852840"/>
            <a:ext cx="437512" cy="448450"/>
          </a:xfrm>
          <a:custGeom>
            <a:avLst/>
            <a:gdLst/>
            <a:ahLst/>
            <a:cxnLst/>
            <a:rect l="l" t="t" r="r" b="b"/>
            <a:pathLst>
              <a:path w="381000" h="390525">
                <a:moveTo>
                  <a:pt x="0" y="0"/>
                </a:moveTo>
                <a:lnTo>
                  <a:pt x="381000" y="0"/>
                </a:lnTo>
                <a:lnTo>
                  <a:pt x="381000" y="390525"/>
                </a:lnTo>
                <a:lnTo>
                  <a:pt x="0" y="39052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</p:sp>
      <p:sp>
        <p:nvSpPr>
          <p:cNvPr id="48" name="TextBox 48"/>
          <p:cNvSpPr txBox="1"/>
          <p:nvPr/>
        </p:nvSpPr>
        <p:spPr>
          <a:xfrm>
            <a:off x="7267879" y="3897363"/>
            <a:ext cx="1874632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1"/>
              </a:lnSpc>
            </a:pPr>
            <a:r>
              <a:rPr lang="en-US" sz="1392" b="1" spc="-41" dirty="0">
                <a:solidFill>
                  <a:srgbClr val="333652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Real Time location based updates</a:t>
            </a:r>
          </a:p>
        </p:txBody>
      </p:sp>
      <p:sp>
        <p:nvSpPr>
          <p:cNvPr id="49" name="Freeform 49"/>
          <p:cNvSpPr/>
          <p:nvPr/>
        </p:nvSpPr>
        <p:spPr>
          <a:xfrm>
            <a:off x="6311111" y="4290352"/>
            <a:ext cx="3270402" cy="864086"/>
          </a:xfrm>
          <a:custGeom>
            <a:avLst/>
            <a:gdLst/>
            <a:ahLst/>
            <a:cxnLst/>
            <a:rect l="l" t="t" r="r" b="b"/>
            <a:pathLst>
              <a:path w="2847975" h="752475">
                <a:moveTo>
                  <a:pt x="0" y="0"/>
                </a:moveTo>
                <a:lnTo>
                  <a:pt x="2847975" y="0"/>
                </a:lnTo>
                <a:lnTo>
                  <a:pt x="284797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0" name="Freeform 50"/>
          <p:cNvSpPr/>
          <p:nvPr/>
        </p:nvSpPr>
        <p:spPr>
          <a:xfrm>
            <a:off x="6529866" y="4498170"/>
            <a:ext cx="656268" cy="437512"/>
          </a:xfrm>
          <a:custGeom>
            <a:avLst/>
            <a:gdLst/>
            <a:ahLst/>
            <a:cxnLst/>
            <a:rect l="l" t="t" r="r" b="b"/>
            <a:pathLst>
              <a:path w="571500" h="381000">
                <a:moveTo>
                  <a:pt x="0" y="0"/>
                </a:moveTo>
                <a:lnTo>
                  <a:pt x="571500" y="0"/>
                </a:lnTo>
                <a:lnTo>
                  <a:pt x="5715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</p:sp>
      <p:sp>
        <p:nvSpPr>
          <p:cNvPr id="51" name="TextBox 51"/>
          <p:cNvSpPr txBox="1"/>
          <p:nvPr/>
        </p:nvSpPr>
        <p:spPr>
          <a:xfrm>
            <a:off x="7272150" y="4530255"/>
            <a:ext cx="1710458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1"/>
              </a:lnSpc>
            </a:pPr>
            <a:r>
              <a:rPr lang="en-US" sz="1392" b="1" spc="-41" dirty="0">
                <a:solidFill>
                  <a:srgbClr val="333652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View and decide which contact to use</a:t>
            </a:r>
          </a:p>
        </p:txBody>
      </p:sp>
      <p:sp>
        <p:nvSpPr>
          <p:cNvPr id="52" name="Freeform 52"/>
          <p:cNvSpPr/>
          <p:nvPr/>
        </p:nvSpPr>
        <p:spPr>
          <a:xfrm>
            <a:off x="6311111" y="4924744"/>
            <a:ext cx="3270402" cy="875024"/>
          </a:xfrm>
          <a:custGeom>
            <a:avLst/>
            <a:gdLst/>
            <a:ahLst/>
            <a:cxnLst/>
            <a:rect l="l" t="t" r="r" b="b"/>
            <a:pathLst>
              <a:path w="2847975" h="762000">
                <a:moveTo>
                  <a:pt x="0" y="0"/>
                </a:moveTo>
                <a:lnTo>
                  <a:pt x="2847975" y="0"/>
                </a:lnTo>
                <a:lnTo>
                  <a:pt x="284797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>
            <a:off x="6529866" y="4924744"/>
            <a:ext cx="656268" cy="656268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/>
            </a:stretch>
          </a:blipFill>
        </p:spPr>
      </p:sp>
      <p:sp>
        <p:nvSpPr>
          <p:cNvPr id="54" name="TextBox 54"/>
          <p:cNvSpPr txBox="1"/>
          <p:nvPr/>
        </p:nvSpPr>
        <p:spPr>
          <a:xfrm>
            <a:off x="7270337" y="5117940"/>
            <a:ext cx="1988240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1"/>
              </a:lnSpc>
            </a:pPr>
            <a:r>
              <a:rPr lang="en-US" sz="1392" b="1" spc="-41" dirty="0">
                <a:solidFill>
                  <a:srgbClr val="333652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Send alert on the basis of past learning</a:t>
            </a:r>
          </a:p>
        </p:txBody>
      </p:sp>
      <p:sp>
        <p:nvSpPr>
          <p:cNvPr id="55" name="Freeform 55"/>
          <p:cNvSpPr/>
          <p:nvPr/>
        </p:nvSpPr>
        <p:spPr>
          <a:xfrm>
            <a:off x="6311111" y="5570074"/>
            <a:ext cx="3270402" cy="875024"/>
          </a:xfrm>
          <a:custGeom>
            <a:avLst/>
            <a:gdLst/>
            <a:ahLst/>
            <a:cxnLst/>
            <a:rect l="l" t="t" r="r" b="b"/>
            <a:pathLst>
              <a:path w="2847975" h="762000">
                <a:moveTo>
                  <a:pt x="0" y="0"/>
                </a:moveTo>
                <a:lnTo>
                  <a:pt x="2847975" y="0"/>
                </a:lnTo>
                <a:lnTo>
                  <a:pt x="284797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/>
            </a:stretch>
          </a:blipFill>
        </p:spPr>
      </p:sp>
      <p:sp>
        <p:nvSpPr>
          <p:cNvPr id="56" name="Freeform 56"/>
          <p:cNvSpPr/>
          <p:nvPr/>
        </p:nvSpPr>
        <p:spPr>
          <a:xfrm>
            <a:off x="6529866" y="5788830"/>
            <a:ext cx="437512" cy="437512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/>
            </a:stretch>
          </a:blipFill>
        </p:spPr>
      </p:sp>
      <p:sp>
        <p:nvSpPr>
          <p:cNvPr id="57" name="TextBox 57"/>
          <p:cNvSpPr txBox="1"/>
          <p:nvPr/>
        </p:nvSpPr>
        <p:spPr>
          <a:xfrm>
            <a:off x="7272430" y="5765900"/>
            <a:ext cx="2559440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1"/>
              </a:lnSpc>
            </a:pPr>
            <a:r>
              <a:rPr lang="en-US" sz="1392" b="1" spc="-41" dirty="0">
                <a:solidFill>
                  <a:srgbClr val="333652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Generates a summary of each SOS or a false alarm</a:t>
            </a:r>
            <a:endParaRPr lang="en-US" sz="1392" b="1" spc="-41" dirty="0">
              <a:solidFill>
                <a:srgbClr val="333652"/>
              </a:solidFill>
              <a:latin typeface="Microsoft Tai Le" panose="020B0502040204020203" pitchFamily="34" charset="0"/>
              <a:ea typeface="Inter Medium"/>
              <a:cs typeface="Microsoft Tai Le" panose="020B0502040204020203" pitchFamily="34" charset="0"/>
              <a:sym typeface="Inter Medium"/>
            </a:endParaRPr>
          </a:p>
        </p:txBody>
      </p:sp>
      <p:sp>
        <p:nvSpPr>
          <p:cNvPr id="58" name="Freeform 58"/>
          <p:cNvSpPr/>
          <p:nvPr/>
        </p:nvSpPr>
        <p:spPr>
          <a:xfrm>
            <a:off x="6311111" y="6215405"/>
            <a:ext cx="3270402" cy="864086"/>
          </a:xfrm>
          <a:custGeom>
            <a:avLst/>
            <a:gdLst/>
            <a:ahLst/>
            <a:cxnLst/>
            <a:rect l="l" t="t" r="r" b="b"/>
            <a:pathLst>
              <a:path w="2847975" h="752475">
                <a:moveTo>
                  <a:pt x="0" y="0"/>
                </a:moveTo>
                <a:lnTo>
                  <a:pt x="2847975" y="0"/>
                </a:lnTo>
                <a:lnTo>
                  <a:pt x="284797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/>
            </a:stretch>
          </a:blipFill>
        </p:spPr>
      </p:sp>
      <p:sp>
        <p:nvSpPr>
          <p:cNvPr id="59" name="Freeform 59"/>
          <p:cNvSpPr/>
          <p:nvPr/>
        </p:nvSpPr>
        <p:spPr>
          <a:xfrm>
            <a:off x="6529866" y="6434160"/>
            <a:ext cx="437512" cy="437512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/>
            </a:stretch>
          </a:blipFill>
        </p:spPr>
      </p:sp>
      <p:sp>
        <p:nvSpPr>
          <p:cNvPr id="60" name="TextBox 60"/>
          <p:cNvSpPr txBox="1"/>
          <p:nvPr/>
        </p:nvSpPr>
        <p:spPr>
          <a:xfrm>
            <a:off x="7269134" y="6398791"/>
            <a:ext cx="2600249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1"/>
              </a:lnSpc>
            </a:pPr>
            <a:r>
              <a:rPr lang="en-US" sz="1392" b="1" spc="-69" dirty="0">
                <a:solidFill>
                  <a:srgbClr val="3F4666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Automatic </a:t>
            </a:r>
            <a:r>
              <a:rPr lang="en-US" sz="1392" b="1" spc="-69" dirty="0" err="1">
                <a:solidFill>
                  <a:srgbClr val="3F4666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checkins</a:t>
            </a:r>
            <a:r>
              <a:rPr lang="en-US" sz="1392" b="1" spc="-69" dirty="0">
                <a:solidFill>
                  <a:srgbClr val="3F4666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 based on area history or the mode selected</a:t>
            </a:r>
          </a:p>
        </p:txBody>
      </p:sp>
      <p:sp>
        <p:nvSpPr>
          <p:cNvPr id="61" name="Freeform 61"/>
          <p:cNvSpPr/>
          <p:nvPr/>
        </p:nvSpPr>
        <p:spPr>
          <a:xfrm>
            <a:off x="5654843" y="6860734"/>
            <a:ext cx="4582938" cy="2800077"/>
          </a:xfrm>
          <a:custGeom>
            <a:avLst/>
            <a:gdLst/>
            <a:ahLst/>
            <a:cxnLst/>
            <a:rect l="l" t="t" r="r" b="b"/>
            <a:pathLst>
              <a:path w="3990975" h="2438400">
                <a:moveTo>
                  <a:pt x="0" y="0"/>
                </a:moveTo>
                <a:lnTo>
                  <a:pt x="3990975" y="0"/>
                </a:lnTo>
                <a:lnTo>
                  <a:pt x="3990975" y="2438400"/>
                </a:lnTo>
                <a:lnTo>
                  <a:pt x="0" y="2438400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>
              <a:fillRect/>
            </a:stretch>
          </a:blipFill>
        </p:spPr>
      </p:sp>
      <p:sp>
        <p:nvSpPr>
          <p:cNvPr id="62" name="Freeform 62"/>
          <p:cNvSpPr/>
          <p:nvPr/>
        </p:nvSpPr>
        <p:spPr>
          <a:xfrm>
            <a:off x="6311111" y="7713883"/>
            <a:ext cx="229694" cy="229694"/>
          </a:xfrm>
          <a:custGeom>
            <a:avLst/>
            <a:gdLst/>
            <a:ahLst/>
            <a:cxnLst/>
            <a:rect l="l" t="t" r="r" b="b"/>
            <a:pathLst>
              <a:path w="200025" h="200025">
                <a:moveTo>
                  <a:pt x="0" y="0"/>
                </a:moveTo>
                <a:lnTo>
                  <a:pt x="200025" y="0"/>
                </a:lnTo>
                <a:lnTo>
                  <a:pt x="200025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>
              <a:fillRect/>
            </a:stretch>
          </a:blipFill>
        </p:spPr>
      </p:sp>
      <p:sp>
        <p:nvSpPr>
          <p:cNvPr id="63" name="Freeform 63"/>
          <p:cNvSpPr/>
          <p:nvPr/>
        </p:nvSpPr>
        <p:spPr>
          <a:xfrm>
            <a:off x="6311111" y="7932639"/>
            <a:ext cx="229694" cy="218756"/>
          </a:xfrm>
          <a:custGeom>
            <a:avLst/>
            <a:gdLst/>
            <a:ahLst/>
            <a:cxnLst/>
            <a:rect l="l" t="t" r="r" b="b"/>
            <a:pathLst>
              <a:path w="200025" h="190500">
                <a:moveTo>
                  <a:pt x="0" y="0"/>
                </a:moveTo>
                <a:lnTo>
                  <a:pt x="200025" y="0"/>
                </a:lnTo>
                <a:lnTo>
                  <a:pt x="200025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>
              <a:fillRect/>
            </a:stretch>
          </a:blipFill>
        </p:spPr>
      </p:sp>
      <p:sp>
        <p:nvSpPr>
          <p:cNvPr id="64" name="Freeform 64"/>
          <p:cNvSpPr/>
          <p:nvPr/>
        </p:nvSpPr>
        <p:spPr>
          <a:xfrm>
            <a:off x="6311111" y="8140457"/>
            <a:ext cx="229694" cy="229694"/>
          </a:xfrm>
          <a:custGeom>
            <a:avLst/>
            <a:gdLst/>
            <a:ahLst/>
            <a:cxnLst/>
            <a:rect l="l" t="t" r="r" b="b"/>
            <a:pathLst>
              <a:path w="200025" h="200025">
                <a:moveTo>
                  <a:pt x="0" y="0"/>
                </a:moveTo>
                <a:lnTo>
                  <a:pt x="200025" y="0"/>
                </a:lnTo>
                <a:lnTo>
                  <a:pt x="200025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>
              <a:fillRect/>
            </a:stretch>
          </a:blipFill>
        </p:spPr>
      </p:sp>
      <p:sp>
        <p:nvSpPr>
          <p:cNvPr id="65" name="Freeform 65"/>
          <p:cNvSpPr/>
          <p:nvPr/>
        </p:nvSpPr>
        <p:spPr>
          <a:xfrm>
            <a:off x="6311111" y="8359213"/>
            <a:ext cx="229694" cy="229694"/>
          </a:xfrm>
          <a:custGeom>
            <a:avLst/>
            <a:gdLst/>
            <a:ahLst/>
            <a:cxnLst/>
            <a:rect l="l" t="t" r="r" b="b"/>
            <a:pathLst>
              <a:path w="200025" h="200025">
                <a:moveTo>
                  <a:pt x="0" y="0"/>
                </a:moveTo>
                <a:lnTo>
                  <a:pt x="200025" y="0"/>
                </a:lnTo>
                <a:lnTo>
                  <a:pt x="200025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>
              <a:fillRect/>
            </a:stretch>
          </a:blipFill>
        </p:spPr>
      </p:sp>
      <p:sp>
        <p:nvSpPr>
          <p:cNvPr id="66" name="Freeform 66"/>
          <p:cNvSpPr/>
          <p:nvPr/>
        </p:nvSpPr>
        <p:spPr>
          <a:xfrm>
            <a:off x="6311111" y="8577969"/>
            <a:ext cx="229694" cy="218756"/>
          </a:xfrm>
          <a:custGeom>
            <a:avLst/>
            <a:gdLst/>
            <a:ahLst/>
            <a:cxnLst/>
            <a:rect l="l" t="t" r="r" b="b"/>
            <a:pathLst>
              <a:path w="200025" h="190500">
                <a:moveTo>
                  <a:pt x="0" y="0"/>
                </a:moveTo>
                <a:lnTo>
                  <a:pt x="200025" y="0"/>
                </a:lnTo>
                <a:lnTo>
                  <a:pt x="200025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>
              <a:fillRect/>
            </a:stretch>
          </a:blipFill>
        </p:spPr>
      </p:sp>
      <p:sp>
        <p:nvSpPr>
          <p:cNvPr id="67" name="Freeform 67"/>
          <p:cNvSpPr/>
          <p:nvPr/>
        </p:nvSpPr>
        <p:spPr>
          <a:xfrm>
            <a:off x="7393953" y="7506065"/>
            <a:ext cx="1104718" cy="1290660"/>
          </a:xfrm>
          <a:custGeom>
            <a:avLst/>
            <a:gdLst/>
            <a:ahLst/>
            <a:cxnLst/>
            <a:rect l="l" t="t" r="r" b="b"/>
            <a:pathLst>
              <a:path w="962025" h="1123950">
                <a:moveTo>
                  <a:pt x="0" y="0"/>
                </a:moveTo>
                <a:lnTo>
                  <a:pt x="962025" y="0"/>
                </a:lnTo>
                <a:lnTo>
                  <a:pt x="962025" y="1123950"/>
                </a:lnTo>
                <a:lnTo>
                  <a:pt x="0" y="1123950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>
              <a:fillRect/>
            </a:stretch>
          </a:blipFill>
        </p:spPr>
      </p:sp>
      <p:sp>
        <p:nvSpPr>
          <p:cNvPr id="68" name="Freeform 68"/>
          <p:cNvSpPr/>
          <p:nvPr/>
        </p:nvSpPr>
        <p:spPr>
          <a:xfrm>
            <a:off x="7831465" y="7713883"/>
            <a:ext cx="229694" cy="656268"/>
          </a:xfrm>
          <a:custGeom>
            <a:avLst/>
            <a:gdLst/>
            <a:ahLst/>
            <a:cxnLst/>
            <a:rect l="l" t="t" r="r" b="b"/>
            <a:pathLst>
              <a:path w="200025" h="571500">
                <a:moveTo>
                  <a:pt x="0" y="0"/>
                </a:moveTo>
                <a:lnTo>
                  <a:pt x="200025" y="0"/>
                </a:lnTo>
                <a:lnTo>
                  <a:pt x="2000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>
              <a:fillRect/>
            </a:stretch>
          </a:blipFill>
        </p:spPr>
      </p:sp>
      <p:sp>
        <p:nvSpPr>
          <p:cNvPr id="69" name="TextBox 69"/>
          <p:cNvSpPr txBox="1"/>
          <p:nvPr/>
        </p:nvSpPr>
        <p:spPr>
          <a:xfrm>
            <a:off x="8539455" y="7544024"/>
            <a:ext cx="625698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17"/>
              </a:lnSpc>
            </a:pPr>
            <a:r>
              <a:rPr lang="en-US" sz="931" b="1" spc="-46" dirty="0">
                <a:solidFill>
                  <a:srgbClr val="3F4666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User Details</a:t>
            </a:r>
          </a:p>
        </p:txBody>
      </p:sp>
      <p:sp>
        <p:nvSpPr>
          <p:cNvPr id="70" name="Freeform 70"/>
          <p:cNvSpPr/>
          <p:nvPr/>
        </p:nvSpPr>
        <p:spPr>
          <a:xfrm>
            <a:off x="8487732" y="8785787"/>
            <a:ext cx="1312536" cy="437512"/>
          </a:xfrm>
          <a:custGeom>
            <a:avLst/>
            <a:gdLst/>
            <a:ahLst/>
            <a:cxnLst/>
            <a:rect l="l" t="t" r="r" b="b"/>
            <a:pathLst>
              <a:path w="1143000" h="381000">
                <a:moveTo>
                  <a:pt x="0" y="0"/>
                </a:moveTo>
                <a:lnTo>
                  <a:pt x="1143000" y="0"/>
                </a:lnTo>
                <a:lnTo>
                  <a:pt x="1143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>
              <a:fillRect/>
            </a:stretch>
          </a:blipFill>
        </p:spPr>
      </p:sp>
      <p:sp>
        <p:nvSpPr>
          <p:cNvPr id="71" name="Freeform 71"/>
          <p:cNvSpPr/>
          <p:nvPr/>
        </p:nvSpPr>
        <p:spPr>
          <a:xfrm>
            <a:off x="10008086" y="2573118"/>
            <a:ext cx="8072096" cy="1935990"/>
          </a:xfrm>
          <a:custGeom>
            <a:avLst/>
            <a:gdLst/>
            <a:ahLst/>
            <a:cxnLst/>
            <a:rect l="l" t="t" r="r" b="b"/>
            <a:pathLst>
              <a:path w="7029450" h="1685925">
                <a:moveTo>
                  <a:pt x="0" y="0"/>
                </a:moveTo>
                <a:lnTo>
                  <a:pt x="7029450" y="0"/>
                </a:lnTo>
                <a:lnTo>
                  <a:pt x="7029450" y="1685925"/>
                </a:lnTo>
                <a:lnTo>
                  <a:pt x="0" y="1685925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>
              <a:fillRect/>
            </a:stretch>
          </a:blipFill>
        </p:spPr>
      </p:sp>
      <p:sp>
        <p:nvSpPr>
          <p:cNvPr id="72" name="Freeform 72"/>
          <p:cNvSpPr/>
          <p:nvPr/>
        </p:nvSpPr>
        <p:spPr>
          <a:xfrm>
            <a:off x="10226843" y="2780935"/>
            <a:ext cx="885962" cy="875024"/>
          </a:xfrm>
          <a:custGeom>
            <a:avLst/>
            <a:gdLst/>
            <a:ahLst/>
            <a:cxnLst/>
            <a:rect l="l" t="t" r="r" b="b"/>
            <a:pathLst>
              <a:path w="771525" h="762000">
                <a:moveTo>
                  <a:pt x="0" y="0"/>
                </a:moveTo>
                <a:lnTo>
                  <a:pt x="771525" y="0"/>
                </a:lnTo>
                <a:lnTo>
                  <a:pt x="77152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>
              <a:fillRect/>
            </a:stretch>
          </a:blipFill>
        </p:spPr>
      </p:sp>
      <p:sp>
        <p:nvSpPr>
          <p:cNvPr id="73" name="TextBox 73"/>
          <p:cNvSpPr txBox="1"/>
          <p:nvPr/>
        </p:nvSpPr>
        <p:spPr>
          <a:xfrm>
            <a:off x="11206081" y="2917887"/>
            <a:ext cx="1853590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5"/>
              </a:lnSpc>
            </a:pPr>
            <a:r>
              <a:rPr lang="en-US" sz="1861" b="1" spc="-55">
                <a:solidFill>
                  <a:srgbClr val="0765FF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Trigger Detected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1195261" y="3249401"/>
            <a:ext cx="2935672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1"/>
              </a:lnSpc>
            </a:pPr>
            <a:r>
              <a:rPr lang="en-US" sz="1392" spc="-41" dirty="0">
                <a:solidFill>
                  <a:srgbClr val="333652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User presses the button (1/2/3 times) or a </a:t>
            </a:r>
            <a:r>
              <a:rPr lang="en-US" sz="1392" b="1" spc="-41" dirty="0">
                <a:solidFill>
                  <a:srgbClr val="333652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sudden change in surroundings</a:t>
            </a:r>
            <a:r>
              <a:rPr lang="en-US" sz="1392" spc="-41" dirty="0">
                <a:solidFill>
                  <a:srgbClr val="333652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 is detected by </a:t>
            </a:r>
            <a:r>
              <a:rPr lang="en-US" sz="1392" b="1" spc="-41" dirty="0">
                <a:solidFill>
                  <a:srgbClr val="333652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MPU6050</a:t>
            </a:r>
            <a:r>
              <a:rPr lang="en-US" sz="1392" spc="-41" dirty="0">
                <a:solidFill>
                  <a:srgbClr val="333652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 (e.g. rapid movement, unusual motion pattern, abnormal jerk).</a:t>
            </a:r>
          </a:p>
        </p:txBody>
      </p:sp>
      <p:sp>
        <p:nvSpPr>
          <p:cNvPr id="75" name="Freeform 75"/>
          <p:cNvSpPr/>
          <p:nvPr/>
        </p:nvSpPr>
        <p:spPr>
          <a:xfrm>
            <a:off x="14798842" y="2780936"/>
            <a:ext cx="1531292" cy="1520354"/>
          </a:xfrm>
          <a:custGeom>
            <a:avLst/>
            <a:gdLst/>
            <a:ahLst/>
            <a:cxnLst/>
            <a:rect l="l" t="t" r="r" b="b"/>
            <a:pathLst>
              <a:path w="1333500" h="1323975">
                <a:moveTo>
                  <a:pt x="0" y="0"/>
                </a:moveTo>
                <a:lnTo>
                  <a:pt x="1333500" y="0"/>
                </a:lnTo>
                <a:lnTo>
                  <a:pt x="1333500" y="1323975"/>
                </a:lnTo>
                <a:lnTo>
                  <a:pt x="0" y="1323975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>
              <a:fillRect/>
            </a:stretch>
          </a:blipFill>
        </p:spPr>
      </p:sp>
      <p:sp>
        <p:nvSpPr>
          <p:cNvPr id="76" name="Freeform 76"/>
          <p:cNvSpPr/>
          <p:nvPr/>
        </p:nvSpPr>
        <p:spPr>
          <a:xfrm>
            <a:off x="16537953" y="2780936"/>
            <a:ext cx="1104718" cy="1082842"/>
          </a:xfrm>
          <a:custGeom>
            <a:avLst/>
            <a:gdLst/>
            <a:ahLst/>
            <a:cxnLst/>
            <a:rect l="l" t="t" r="r" b="b"/>
            <a:pathLst>
              <a:path w="962025" h="942975">
                <a:moveTo>
                  <a:pt x="0" y="0"/>
                </a:moveTo>
                <a:lnTo>
                  <a:pt x="962025" y="0"/>
                </a:lnTo>
                <a:lnTo>
                  <a:pt x="96202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>
              <a:fillRect/>
            </a:stretch>
          </a:blipFill>
        </p:spPr>
      </p:sp>
      <p:sp>
        <p:nvSpPr>
          <p:cNvPr id="77" name="TextBox 77"/>
          <p:cNvSpPr txBox="1"/>
          <p:nvPr/>
        </p:nvSpPr>
        <p:spPr>
          <a:xfrm>
            <a:off x="16028399" y="3897363"/>
            <a:ext cx="1825006" cy="385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40"/>
              </a:lnSpc>
            </a:pPr>
            <a:r>
              <a:rPr lang="en-US" sz="1283" b="1" spc="-38">
                <a:solidFill>
                  <a:srgbClr val="333652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Button press or sudden changes in surroundings</a:t>
            </a:r>
          </a:p>
        </p:txBody>
      </p:sp>
      <p:sp>
        <p:nvSpPr>
          <p:cNvPr id="78" name="Freeform 78"/>
          <p:cNvSpPr/>
          <p:nvPr/>
        </p:nvSpPr>
        <p:spPr>
          <a:xfrm>
            <a:off x="10008086" y="4290352"/>
            <a:ext cx="8072096" cy="2154746"/>
          </a:xfrm>
          <a:custGeom>
            <a:avLst/>
            <a:gdLst/>
            <a:ahLst/>
            <a:cxnLst/>
            <a:rect l="l" t="t" r="r" b="b"/>
            <a:pathLst>
              <a:path w="7029450" h="1876425">
                <a:moveTo>
                  <a:pt x="0" y="0"/>
                </a:moveTo>
                <a:lnTo>
                  <a:pt x="7029450" y="0"/>
                </a:lnTo>
                <a:lnTo>
                  <a:pt x="7029450" y="1876425"/>
                </a:lnTo>
                <a:lnTo>
                  <a:pt x="0" y="1876425"/>
                </a:lnTo>
                <a:lnTo>
                  <a:pt x="0" y="0"/>
                </a:lnTo>
                <a:close/>
              </a:path>
            </a:pathLst>
          </a:custGeom>
          <a:blipFill>
            <a:blip r:embed="rId53"/>
            <a:stretch>
              <a:fillRect/>
            </a:stretch>
          </a:blipFill>
        </p:spPr>
      </p:sp>
      <p:sp>
        <p:nvSpPr>
          <p:cNvPr id="79" name="Freeform 79"/>
          <p:cNvSpPr/>
          <p:nvPr/>
        </p:nvSpPr>
        <p:spPr>
          <a:xfrm>
            <a:off x="10226843" y="4498170"/>
            <a:ext cx="885962" cy="875024"/>
          </a:xfrm>
          <a:custGeom>
            <a:avLst/>
            <a:gdLst/>
            <a:ahLst/>
            <a:cxnLst/>
            <a:rect l="l" t="t" r="r" b="b"/>
            <a:pathLst>
              <a:path w="771525" h="762000">
                <a:moveTo>
                  <a:pt x="0" y="0"/>
                </a:moveTo>
                <a:lnTo>
                  <a:pt x="771525" y="0"/>
                </a:lnTo>
                <a:lnTo>
                  <a:pt x="77152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54"/>
            <a:stretch>
              <a:fillRect/>
            </a:stretch>
          </a:blipFill>
        </p:spPr>
      </p:sp>
      <p:sp>
        <p:nvSpPr>
          <p:cNvPr id="80" name="TextBox 80"/>
          <p:cNvSpPr txBox="1"/>
          <p:nvPr/>
        </p:nvSpPr>
        <p:spPr>
          <a:xfrm>
            <a:off x="11196255" y="5128877"/>
            <a:ext cx="2836221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17"/>
              </a:lnSpc>
            </a:pPr>
            <a:r>
              <a:rPr lang="en-US" sz="1513" b="1" spc="-45">
                <a:solidFill>
                  <a:srgbClr val="333652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ESP32 </a:t>
            </a:r>
            <a:r>
              <a:rPr lang="en-US" sz="1513" spc="-45">
                <a:solidFill>
                  <a:srgbClr val="333652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processes the trigger and activates </a:t>
            </a:r>
            <a:r>
              <a:rPr lang="en-US" sz="1513" b="1" spc="-45">
                <a:solidFill>
                  <a:srgbClr val="333652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buzzer, flash and vibration</a:t>
            </a:r>
            <a:r>
              <a:rPr lang="en-US" sz="1513" spc="-45">
                <a:solidFill>
                  <a:srgbClr val="333652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 for user feedback.</a:t>
            </a:r>
          </a:p>
        </p:txBody>
      </p:sp>
      <p:sp>
        <p:nvSpPr>
          <p:cNvPr id="81" name="Freeform 81"/>
          <p:cNvSpPr/>
          <p:nvPr/>
        </p:nvSpPr>
        <p:spPr>
          <a:xfrm>
            <a:off x="14142575" y="4498170"/>
            <a:ext cx="1323474" cy="1946928"/>
          </a:xfrm>
          <a:custGeom>
            <a:avLst/>
            <a:gdLst/>
            <a:ahLst/>
            <a:cxnLst/>
            <a:rect l="l" t="t" r="r" b="b"/>
            <a:pathLst>
              <a:path w="1152525" h="1695450">
                <a:moveTo>
                  <a:pt x="0" y="0"/>
                </a:moveTo>
                <a:lnTo>
                  <a:pt x="1152525" y="0"/>
                </a:lnTo>
                <a:lnTo>
                  <a:pt x="1152525" y="1695450"/>
                </a:lnTo>
                <a:lnTo>
                  <a:pt x="0" y="1695450"/>
                </a:lnTo>
                <a:lnTo>
                  <a:pt x="0" y="0"/>
                </a:lnTo>
                <a:close/>
              </a:path>
            </a:pathLst>
          </a:custGeom>
          <a:blipFill>
            <a:blip r:embed="rId55"/>
            <a:stretch>
              <a:fillRect/>
            </a:stretch>
          </a:blipFill>
        </p:spPr>
      </p:sp>
      <p:sp>
        <p:nvSpPr>
          <p:cNvPr id="82" name="Freeform 82"/>
          <p:cNvSpPr/>
          <p:nvPr/>
        </p:nvSpPr>
        <p:spPr>
          <a:xfrm>
            <a:off x="15892622" y="4498170"/>
            <a:ext cx="437512" cy="656268"/>
          </a:xfrm>
          <a:custGeom>
            <a:avLst/>
            <a:gdLst/>
            <a:ahLst/>
            <a:cxnLst/>
            <a:rect l="l" t="t" r="r" b="b"/>
            <a:pathLst>
              <a:path w="381000" h="571500">
                <a:moveTo>
                  <a:pt x="0" y="0"/>
                </a:moveTo>
                <a:lnTo>
                  <a:pt x="381000" y="0"/>
                </a:lnTo>
                <a:lnTo>
                  <a:pt x="3810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56"/>
            <a:stretch>
              <a:fillRect/>
            </a:stretch>
          </a:blipFill>
        </p:spPr>
      </p:sp>
      <p:sp>
        <p:nvSpPr>
          <p:cNvPr id="83" name="Freeform 83"/>
          <p:cNvSpPr/>
          <p:nvPr/>
        </p:nvSpPr>
        <p:spPr>
          <a:xfrm>
            <a:off x="15892622" y="5143500"/>
            <a:ext cx="437512" cy="656268"/>
          </a:xfrm>
          <a:custGeom>
            <a:avLst/>
            <a:gdLst/>
            <a:ahLst/>
            <a:cxnLst/>
            <a:rect l="l" t="t" r="r" b="b"/>
            <a:pathLst>
              <a:path w="381000" h="571500">
                <a:moveTo>
                  <a:pt x="0" y="0"/>
                </a:moveTo>
                <a:lnTo>
                  <a:pt x="381000" y="0"/>
                </a:lnTo>
                <a:lnTo>
                  <a:pt x="3810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57"/>
            <a:stretch>
              <a:fillRect/>
            </a:stretch>
          </a:blipFill>
        </p:spPr>
      </p:sp>
      <p:sp>
        <p:nvSpPr>
          <p:cNvPr id="84" name="Freeform 84"/>
          <p:cNvSpPr/>
          <p:nvPr/>
        </p:nvSpPr>
        <p:spPr>
          <a:xfrm>
            <a:off x="15892622" y="5570074"/>
            <a:ext cx="437512" cy="656268"/>
          </a:xfrm>
          <a:custGeom>
            <a:avLst/>
            <a:gdLst/>
            <a:ahLst/>
            <a:cxnLst/>
            <a:rect l="l" t="t" r="r" b="b"/>
            <a:pathLst>
              <a:path w="381000" h="571500">
                <a:moveTo>
                  <a:pt x="0" y="0"/>
                </a:moveTo>
                <a:lnTo>
                  <a:pt x="381000" y="0"/>
                </a:lnTo>
                <a:lnTo>
                  <a:pt x="3810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58"/>
            <a:stretch>
              <a:fillRect/>
            </a:stretch>
          </a:blipFill>
        </p:spPr>
      </p:sp>
      <p:sp>
        <p:nvSpPr>
          <p:cNvPr id="85" name="TextBox 85"/>
          <p:cNvSpPr txBox="1"/>
          <p:nvPr/>
        </p:nvSpPr>
        <p:spPr>
          <a:xfrm>
            <a:off x="16465229" y="4771356"/>
            <a:ext cx="1004506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99"/>
              </a:lnSpc>
            </a:pPr>
            <a:r>
              <a:rPr lang="en-US" sz="1166" b="1" spc="-34">
                <a:solidFill>
                  <a:srgbClr val="333652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Buzzer </a:t>
            </a:r>
            <a:r>
              <a:rPr lang="en-US" sz="1166" b="1" spc="-34">
                <a:solidFill>
                  <a:srgbClr val="333652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(Audio)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6463385" y="5826176"/>
            <a:ext cx="1188772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99"/>
              </a:lnSpc>
            </a:pPr>
            <a:r>
              <a:rPr lang="en-US" sz="1166" b="1" spc="-34">
                <a:solidFill>
                  <a:srgbClr val="333652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Vibration </a:t>
            </a:r>
            <a:r>
              <a:rPr lang="en-US" sz="1166" b="1" spc="-34">
                <a:solidFill>
                  <a:srgbClr val="333652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(Haptic)</a:t>
            </a:r>
          </a:p>
        </p:txBody>
      </p:sp>
      <p:sp>
        <p:nvSpPr>
          <p:cNvPr id="87" name="Freeform 87"/>
          <p:cNvSpPr/>
          <p:nvPr/>
        </p:nvSpPr>
        <p:spPr>
          <a:xfrm>
            <a:off x="10008086" y="6215405"/>
            <a:ext cx="8072096" cy="2154746"/>
          </a:xfrm>
          <a:custGeom>
            <a:avLst/>
            <a:gdLst/>
            <a:ahLst/>
            <a:cxnLst/>
            <a:rect l="l" t="t" r="r" b="b"/>
            <a:pathLst>
              <a:path w="7029450" h="1876425">
                <a:moveTo>
                  <a:pt x="0" y="0"/>
                </a:moveTo>
                <a:lnTo>
                  <a:pt x="7029450" y="0"/>
                </a:lnTo>
                <a:lnTo>
                  <a:pt x="7029450" y="1876425"/>
                </a:lnTo>
                <a:lnTo>
                  <a:pt x="0" y="1876425"/>
                </a:lnTo>
                <a:lnTo>
                  <a:pt x="0" y="0"/>
                </a:lnTo>
                <a:close/>
              </a:path>
            </a:pathLst>
          </a:custGeom>
          <a:blipFill>
            <a:blip r:embed="rId59"/>
            <a:stretch>
              <a:fillRect/>
            </a:stretch>
          </a:blipFill>
        </p:spPr>
      </p:sp>
      <p:sp>
        <p:nvSpPr>
          <p:cNvPr id="88" name="Freeform 88"/>
          <p:cNvSpPr/>
          <p:nvPr/>
        </p:nvSpPr>
        <p:spPr>
          <a:xfrm>
            <a:off x="10226843" y="6434161"/>
            <a:ext cx="885962" cy="864086"/>
          </a:xfrm>
          <a:custGeom>
            <a:avLst/>
            <a:gdLst/>
            <a:ahLst/>
            <a:cxnLst/>
            <a:rect l="l" t="t" r="r" b="b"/>
            <a:pathLst>
              <a:path w="771525" h="752475">
                <a:moveTo>
                  <a:pt x="0" y="0"/>
                </a:moveTo>
                <a:lnTo>
                  <a:pt x="771525" y="0"/>
                </a:lnTo>
                <a:lnTo>
                  <a:pt x="7715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60"/>
            <a:stretch>
              <a:fillRect/>
            </a:stretch>
          </a:blipFill>
        </p:spPr>
      </p:sp>
      <p:sp>
        <p:nvSpPr>
          <p:cNvPr id="89" name="Freeform 89"/>
          <p:cNvSpPr/>
          <p:nvPr/>
        </p:nvSpPr>
        <p:spPr>
          <a:xfrm>
            <a:off x="11101867" y="6641979"/>
            <a:ext cx="2614134" cy="229694"/>
          </a:xfrm>
          <a:custGeom>
            <a:avLst/>
            <a:gdLst/>
            <a:ahLst/>
            <a:cxnLst/>
            <a:rect l="l" t="t" r="r" b="b"/>
            <a:pathLst>
              <a:path w="2276475" h="200025">
                <a:moveTo>
                  <a:pt x="0" y="0"/>
                </a:moveTo>
                <a:lnTo>
                  <a:pt x="2276475" y="0"/>
                </a:lnTo>
                <a:lnTo>
                  <a:pt x="2276475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61"/>
            <a:stretch>
              <a:fillRect/>
            </a:stretch>
          </a:blipFill>
        </p:spPr>
      </p:sp>
      <p:sp>
        <p:nvSpPr>
          <p:cNvPr id="90" name="TextBox 90"/>
          <p:cNvSpPr txBox="1"/>
          <p:nvPr/>
        </p:nvSpPr>
        <p:spPr>
          <a:xfrm>
            <a:off x="10592589" y="3034306"/>
            <a:ext cx="128202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9"/>
              </a:lnSpc>
            </a:pPr>
            <a:r>
              <a:rPr lang="en-US" sz="2557" b="1" spc="-76">
                <a:solidFill>
                  <a:srgbClr val="FFFFFF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1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274158" y="3987777"/>
            <a:ext cx="1171747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1"/>
              </a:lnSpc>
            </a:pPr>
            <a:r>
              <a:rPr lang="en-US" sz="1392" b="1" spc="-41">
                <a:solidFill>
                  <a:srgbClr val="333652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View real-time</a:t>
            </a:r>
          </a:p>
          <a:p>
            <a:pPr>
              <a:lnSpc>
                <a:spcPts val="1671"/>
              </a:lnSpc>
            </a:pPr>
            <a:r>
              <a:rPr lang="en-US" sz="1392" b="1" spc="-41">
                <a:solidFill>
                  <a:srgbClr val="333652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location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4116005" y="3998715"/>
            <a:ext cx="951146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06"/>
              </a:lnSpc>
            </a:pPr>
            <a:r>
              <a:rPr lang="en-US" sz="2088" b="1" spc="-62">
                <a:solidFill>
                  <a:srgbClr val="05103B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Aprajita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1202540" y="4741217"/>
            <a:ext cx="2207726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88"/>
              </a:lnSpc>
            </a:pPr>
            <a:r>
              <a:rPr lang="en-US" sz="1740" b="1" spc="-52">
                <a:solidFill>
                  <a:srgbClr val="0765FF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Emergency Activated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10558989" y="4782293"/>
            <a:ext cx="195402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9"/>
              </a:lnSpc>
            </a:pPr>
            <a:r>
              <a:rPr lang="en-US" sz="2557" b="1" spc="-76">
                <a:solidFill>
                  <a:srgbClr val="FFFFFF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2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1273126" y="4801494"/>
            <a:ext cx="1274864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1"/>
              </a:lnSpc>
            </a:pPr>
            <a:r>
              <a:rPr lang="en-US" sz="1392" b="1" spc="-41" dirty="0">
                <a:solidFill>
                  <a:srgbClr val="333652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Manage trusted contacts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16462497" y="5298766"/>
            <a:ext cx="1277644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99"/>
              </a:lnSpc>
            </a:pPr>
            <a:r>
              <a:rPr lang="en-US" sz="1166" b="1" spc="-34">
                <a:solidFill>
                  <a:srgbClr val="333652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Flash Light </a:t>
            </a:r>
            <a:r>
              <a:rPr lang="en-US" sz="1166" b="1" spc="-34">
                <a:solidFill>
                  <a:srgbClr val="333652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(Visual)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1269601" y="5675488"/>
            <a:ext cx="1627384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1"/>
              </a:lnSpc>
            </a:pPr>
            <a:r>
              <a:rPr lang="en-US" sz="1392" b="1" spc="-41" dirty="0">
                <a:solidFill>
                  <a:srgbClr val="333652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Receive SOS</a:t>
            </a:r>
          </a:p>
          <a:p>
            <a:pPr>
              <a:lnSpc>
                <a:spcPts val="1671"/>
              </a:lnSpc>
            </a:pPr>
            <a:r>
              <a:rPr lang="en-US" sz="1392" b="1" spc="-41" dirty="0">
                <a:solidFill>
                  <a:srgbClr val="333652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alerts &amp; notifications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3715044" y="6594687"/>
            <a:ext cx="863589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99"/>
              </a:lnSpc>
            </a:pPr>
            <a:r>
              <a:rPr lang="en-US" sz="1166" b="1" spc="-57">
                <a:solidFill>
                  <a:srgbClr val="3F4666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Live Location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0561248" y="6635761"/>
            <a:ext cx="194097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9"/>
              </a:lnSpc>
            </a:pPr>
            <a:r>
              <a:rPr lang="en-US" sz="2557" b="1" spc="-126">
                <a:solidFill>
                  <a:srgbClr val="FFFFFF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3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3713401" y="6805651"/>
            <a:ext cx="1027888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17"/>
              </a:lnSpc>
            </a:pPr>
            <a:r>
              <a:rPr lang="en-US" sz="931" b="1" spc="-46">
                <a:solidFill>
                  <a:srgbClr val="3F4666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Updated 10 sec ago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6368237" y="7302922"/>
            <a:ext cx="756032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88"/>
              </a:lnSpc>
            </a:pPr>
            <a:r>
              <a:rPr lang="en-US" sz="1740" b="1" spc="-86">
                <a:solidFill>
                  <a:srgbClr val="FFFFFF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Aprajita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7414492" y="7348129"/>
            <a:ext cx="607802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17"/>
              </a:lnSpc>
            </a:pPr>
            <a:r>
              <a:rPr lang="en-US" sz="931" b="1" spc="-46" dirty="0">
                <a:solidFill>
                  <a:srgbClr val="3F4666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Active </a:t>
            </a:r>
            <a:r>
              <a:rPr lang="en-US" sz="931" b="1" spc="-46" dirty="0" err="1">
                <a:solidFill>
                  <a:srgbClr val="3F4666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Alet</a:t>
            </a:r>
            <a:endParaRPr lang="en-US" sz="931" b="1" spc="-46" dirty="0">
              <a:solidFill>
                <a:srgbClr val="3F4666"/>
              </a:solidFill>
              <a:latin typeface="Microsoft Tai Le" panose="020B0502040204020203" pitchFamily="34" charset="0"/>
              <a:ea typeface="Inter Semi-Bold"/>
              <a:cs typeface="Microsoft Tai Le" panose="020B0502040204020203" pitchFamily="34" charset="0"/>
              <a:sym typeface="Inter Semi-Bold"/>
            </a:endParaRPr>
          </a:p>
        </p:txBody>
      </p:sp>
      <p:sp>
        <p:nvSpPr>
          <p:cNvPr id="103" name="TextBox 103"/>
          <p:cNvSpPr txBox="1"/>
          <p:nvPr/>
        </p:nvSpPr>
        <p:spPr>
          <a:xfrm>
            <a:off x="6478609" y="7770057"/>
            <a:ext cx="434338" cy="103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35"/>
              </a:lnSpc>
            </a:pPr>
            <a:r>
              <a:rPr lang="en-US" sz="696" spc="-34">
                <a:solidFill>
                  <a:srgbClr val="FFFFFF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Active Alert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8541368" y="7800194"/>
            <a:ext cx="434338" cy="103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35"/>
              </a:lnSpc>
            </a:pPr>
            <a:r>
              <a:rPr lang="en-US" sz="696" spc="-34">
                <a:solidFill>
                  <a:srgbClr val="FFFFFF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Active Alert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9051790" y="7800194"/>
            <a:ext cx="291402" cy="103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35"/>
              </a:lnSpc>
            </a:pPr>
            <a:r>
              <a:rPr lang="en-US" sz="696" b="1" spc="-34">
                <a:solidFill>
                  <a:srgbClr val="3F4666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User 01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6478609" y="7935814"/>
            <a:ext cx="434338" cy="103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35"/>
              </a:lnSpc>
            </a:pPr>
            <a:r>
              <a:rPr lang="en-US" sz="696" spc="-34">
                <a:solidFill>
                  <a:srgbClr val="FFFFFF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Active Alert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9048794" y="8011158"/>
            <a:ext cx="590981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17"/>
              </a:lnSpc>
            </a:pPr>
            <a:r>
              <a:rPr lang="en-US" sz="931" b="1" spc="-46">
                <a:solidFill>
                  <a:srgbClr val="FF5757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SOS Active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8543317" y="8026227"/>
            <a:ext cx="239459" cy="103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35"/>
              </a:lnSpc>
            </a:pPr>
            <a:r>
              <a:rPr lang="en-US" sz="696" spc="-34" dirty="0">
                <a:solidFill>
                  <a:srgbClr val="3F4666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Status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6480721" y="8131709"/>
            <a:ext cx="223216" cy="103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35"/>
              </a:lnSpc>
            </a:pPr>
            <a:r>
              <a:rPr lang="en-US" sz="696" spc="-34">
                <a:solidFill>
                  <a:srgbClr val="FFFFFF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Users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8543999" y="8252259"/>
            <a:ext cx="171237" cy="103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35"/>
              </a:lnSpc>
            </a:pPr>
            <a:r>
              <a:rPr lang="en-US" sz="696" spc="-34">
                <a:solidFill>
                  <a:srgbClr val="3F4666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SOS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9050360" y="8252259"/>
            <a:ext cx="434338" cy="103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35"/>
              </a:lnSpc>
            </a:pPr>
            <a:r>
              <a:rPr lang="en-US" sz="696" spc="-34" dirty="0">
                <a:solidFill>
                  <a:srgbClr val="3F4666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Active Alert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3710516" y="8282398"/>
            <a:ext cx="1316323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99"/>
              </a:lnSpc>
            </a:pPr>
            <a:r>
              <a:rPr lang="en-US" sz="1166" b="1" spc="-57">
                <a:solidFill>
                  <a:srgbClr val="3F4666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Vikaspur, New Delhi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6476932" y="8357742"/>
            <a:ext cx="602191" cy="103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35"/>
              </a:lnSpc>
            </a:pPr>
            <a:r>
              <a:rPr lang="en-US" sz="696" spc="-34">
                <a:solidFill>
                  <a:srgbClr val="FFFFFF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Location history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1272447" y="8448155"/>
            <a:ext cx="1342885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1"/>
              </a:lnSpc>
            </a:pPr>
            <a:r>
              <a:rPr lang="en-US" sz="1392" b="1" spc="-69" dirty="0">
                <a:solidFill>
                  <a:srgbClr val="3F4666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Settings &amp; history of alerts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8542774" y="8448154"/>
            <a:ext cx="293711" cy="103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35"/>
              </a:lnSpc>
            </a:pPr>
            <a:r>
              <a:rPr lang="en-US" sz="696" spc="-34">
                <a:solidFill>
                  <a:srgbClr val="3F4666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Restore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9049697" y="8448155"/>
            <a:ext cx="500673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17"/>
              </a:lnSpc>
            </a:pPr>
            <a:r>
              <a:rPr lang="en-US" sz="931" b="1" spc="-46">
                <a:solidFill>
                  <a:srgbClr val="3F4666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10:24 AM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3522748" y="8508430"/>
            <a:ext cx="134082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17"/>
              </a:lnSpc>
            </a:pPr>
            <a:r>
              <a:rPr lang="en-US" sz="931" spc="-46">
                <a:solidFill>
                  <a:srgbClr val="3F4666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Lat 28.5215, Long 77.0672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6479869" y="8553637"/>
            <a:ext cx="308355" cy="103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35"/>
              </a:lnSpc>
            </a:pPr>
            <a:r>
              <a:rPr lang="en-US" sz="696" spc="-34">
                <a:solidFill>
                  <a:srgbClr val="FFFFFF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Settings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8543790" y="8659119"/>
            <a:ext cx="192142" cy="103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35"/>
              </a:lnSpc>
            </a:pPr>
            <a:r>
              <a:rPr lang="en-US" sz="696" spc="-34">
                <a:solidFill>
                  <a:srgbClr val="FFFFFF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Time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8643343" y="9005702"/>
            <a:ext cx="952445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17"/>
              </a:lnSpc>
            </a:pPr>
            <a:r>
              <a:rPr lang="en-US" sz="931" spc="-46">
                <a:solidFill>
                  <a:srgbClr val="FFFFFF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View Live Location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4040566" y="9276941"/>
            <a:ext cx="458182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17"/>
              </a:lnSpc>
            </a:pPr>
            <a:r>
              <a:rPr lang="en-US" sz="931" spc="-46">
                <a:solidFill>
                  <a:srgbClr val="3F4666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Contacts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4764856" y="9276941"/>
            <a:ext cx="359751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17"/>
              </a:lnSpc>
            </a:pPr>
            <a:r>
              <a:rPr lang="en-US" sz="931" spc="-46">
                <a:solidFill>
                  <a:srgbClr val="3F4666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History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5380485" y="9276941"/>
            <a:ext cx="411601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17"/>
              </a:lnSpc>
            </a:pPr>
            <a:r>
              <a:rPr lang="en-US" sz="931" spc="-46">
                <a:solidFill>
                  <a:srgbClr val="3F4666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Settings</a:t>
            </a:r>
          </a:p>
        </p:txBody>
      </p:sp>
      <p:sp>
        <p:nvSpPr>
          <p:cNvPr id="124" name="TextBox 6">
            <a:extLst>
              <a:ext uri="{FF2B5EF4-FFF2-40B4-BE49-F238E27FC236}">
                <a16:creationId xmlns:a16="http://schemas.microsoft.com/office/drawing/2014/main" id="{B29332B9-EACC-4975-9122-B301487BB935}"/>
              </a:ext>
            </a:extLst>
          </p:cNvPr>
          <p:cNvSpPr txBox="1"/>
          <p:nvPr/>
        </p:nvSpPr>
        <p:spPr>
          <a:xfrm>
            <a:off x="14227669" y="295907"/>
            <a:ext cx="2841131" cy="4244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42"/>
              </a:lnSpc>
            </a:pPr>
            <a:r>
              <a:rPr lang="en-US" sz="2783" b="1" dirty="0">
                <a:solidFill>
                  <a:srgbClr val="0A74FF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Colossal-a-Pitch</a:t>
            </a:r>
          </a:p>
        </p:txBody>
      </p:sp>
      <p:sp>
        <p:nvSpPr>
          <p:cNvPr id="125" name="TextBox 37">
            <a:extLst>
              <a:ext uri="{FF2B5EF4-FFF2-40B4-BE49-F238E27FC236}">
                <a16:creationId xmlns:a16="http://schemas.microsoft.com/office/drawing/2014/main" id="{DA8A397B-9BF5-451F-ABE3-16C3C70183C6}"/>
              </a:ext>
            </a:extLst>
          </p:cNvPr>
          <p:cNvSpPr txBox="1"/>
          <p:nvPr/>
        </p:nvSpPr>
        <p:spPr>
          <a:xfrm>
            <a:off x="14243709" y="763042"/>
            <a:ext cx="3486165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61"/>
              </a:lnSpc>
            </a:pPr>
            <a:r>
              <a:rPr lang="en-US" sz="1634" b="1" dirty="0" err="1">
                <a:solidFill>
                  <a:srgbClr val="292E4B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Avinya</a:t>
            </a:r>
            <a:r>
              <a:rPr lang="en-US" sz="1634" b="1" dirty="0">
                <a:solidFill>
                  <a:srgbClr val="292E4B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 26</a:t>
            </a:r>
          </a:p>
        </p:txBody>
      </p:sp>
      <p:sp>
        <p:nvSpPr>
          <p:cNvPr id="126" name="TextBox 6">
            <a:extLst>
              <a:ext uri="{FF2B5EF4-FFF2-40B4-BE49-F238E27FC236}">
                <a16:creationId xmlns:a16="http://schemas.microsoft.com/office/drawing/2014/main" id="{D2FE1240-9FE7-474D-8C23-9B2DB2F44C41}"/>
              </a:ext>
            </a:extLst>
          </p:cNvPr>
          <p:cNvSpPr txBox="1"/>
          <p:nvPr/>
        </p:nvSpPr>
        <p:spPr>
          <a:xfrm>
            <a:off x="405634" y="412330"/>
            <a:ext cx="2841131" cy="4244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42"/>
              </a:lnSpc>
            </a:pPr>
            <a:r>
              <a:rPr lang="en-US" sz="2783" b="1" dirty="0">
                <a:solidFill>
                  <a:srgbClr val="0A74FF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Team Gamma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735"/>
            <a:ext cx="18288000" cy="10292469"/>
          </a:xfrm>
          <a:custGeom>
            <a:avLst/>
            <a:gdLst/>
            <a:ahLst/>
            <a:cxnLst/>
            <a:rect l="l" t="t" r="r" b="b"/>
            <a:pathLst>
              <a:path w="15925800" h="8963025">
                <a:moveTo>
                  <a:pt x="0" y="0"/>
                </a:moveTo>
                <a:lnTo>
                  <a:pt x="15925800" y="0"/>
                </a:lnTo>
                <a:lnTo>
                  <a:pt x="15925800" y="8963025"/>
                </a:lnTo>
                <a:lnTo>
                  <a:pt x="0" y="89630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07818" y="1282457"/>
            <a:ext cx="17872364" cy="229694"/>
          </a:xfrm>
          <a:custGeom>
            <a:avLst/>
            <a:gdLst/>
            <a:ahLst/>
            <a:cxnLst/>
            <a:rect l="l" t="t" r="r" b="b"/>
            <a:pathLst>
              <a:path w="15563850" h="200025">
                <a:moveTo>
                  <a:pt x="0" y="0"/>
                </a:moveTo>
                <a:lnTo>
                  <a:pt x="15563850" y="0"/>
                </a:lnTo>
                <a:lnTo>
                  <a:pt x="15563850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35289" y="1607431"/>
            <a:ext cx="4691440" cy="807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986"/>
              </a:lnSpc>
            </a:pPr>
            <a:r>
              <a:rPr lang="en-US" sz="5986" b="1" u="sng" spc="-119">
                <a:solidFill>
                  <a:srgbClr val="0062FF"/>
                </a:solidFill>
                <a:latin typeface="Microsoft Tai Le" panose="020B0502040204020203" pitchFamily="34" charset="0"/>
                <a:ea typeface="Inter Heavy"/>
                <a:cs typeface="Microsoft Tai Le" panose="020B0502040204020203" pitchFamily="34" charset="0"/>
                <a:sym typeface="Inter Heavy"/>
              </a:rPr>
              <a:t>FEASI</a:t>
            </a:r>
            <a:r>
              <a:rPr lang="en-US" sz="5986" b="1" spc="-119">
                <a:solidFill>
                  <a:srgbClr val="050A37"/>
                </a:solidFill>
                <a:latin typeface="Microsoft Tai Le" panose="020B0502040204020203" pitchFamily="34" charset="0"/>
                <a:ea typeface="Inter Heavy"/>
                <a:cs typeface="Microsoft Tai Le" panose="020B0502040204020203" pitchFamily="34" charset="0"/>
                <a:sym typeface="Inter Heavy"/>
              </a:rPr>
              <a:t>BILITY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3502" y="2424623"/>
            <a:ext cx="7548985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46"/>
              </a:lnSpc>
            </a:pPr>
            <a:r>
              <a:rPr lang="en-US" sz="2036" spc="-60">
                <a:solidFill>
                  <a:srgbClr val="050A37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Our solution is technically, operationally and legally feasible using readily available components and existing infrastructure.</a:t>
            </a:r>
          </a:p>
        </p:txBody>
      </p:sp>
      <p:sp>
        <p:nvSpPr>
          <p:cNvPr id="10" name="Freeform 10"/>
          <p:cNvSpPr/>
          <p:nvPr/>
        </p:nvSpPr>
        <p:spPr>
          <a:xfrm>
            <a:off x="426574" y="3218447"/>
            <a:ext cx="8509608" cy="2581321"/>
          </a:xfrm>
          <a:custGeom>
            <a:avLst/>
            <a:gdLst/>
            <a:ahLst/>
            <a:cxnLst/>
            <a:rect l="l" t="t" r="r" b="b"/>
            <a:pathLst>
              <a:path w="7410450" h="2247900">
                <a:moveTo>
                  <a:pt x="0" y="0"/>
                </a:moveTo>
                <a:lnTo>
                  <a:pt x="7410450" y="0"/>
                </a:lnTo>
                <a:lnTo>
                  <a:pt x="7410450" y="2247900"/>
                </a:lnTo>
                <a:lnTo>
                  <a:pt x="0" y="22479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45331" y="3426266"/>
            <a:ext cx="229694" cy="656268"/>
          </a:xfrm>
          <a:custGeom>
            <a:avLst/>
            <a:gdLst/>
            <a:ahLst/>
            <a:cxnLst/>
            <a:rect l="l" t="t" r="r" b="b"/>
            <a:pathLst>
              <a:path w="200025" h="571500">
                <a:moveTo>
                  <a:pt x="0" y="0"/>
                </a:moveTo>
                <a:lnTo>
                  <a:pt x="200025" y="0"/>
                </a:lnTo>
                <a:lnTo>
                  <a:pt x="2000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975508" y="3513677"/>
            <a:ext cx="1568769" cy="439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83"/>
              </a:lnSpc>
            </a:pPr>
            <a:r>
              <a:rPr lang="en-US" sz="2679" b="1" spc="-79">
                <a:solidFill>
                  <a:srgbClr val="0062FF"/>
                </a:solidFill>
                <a:latin typeface="Microsoft Tai Le" panose="020B0502040204020203" pitchFamily="34" charset="0"/>
                <a:ea typeface="Inter Bold"/>
                <a:cs typeface="Microsoft Tai Le" panose="020B0502040204020203" pitchFamily="34" charset="0"/>
                <a:sym typeface="Inter Bold"/>
              </a:rPr>
              <a:t>Technical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71328" y="4000521"/>
            <a:ext cx="6628828" cy="1743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6622" lvl="1" indent="-203311">
              <a:lnSpc>
                <a:spcPts val="2826"/>
              </a:lnSpc>
              <a:buFont typeface="Arial"/>
              <a:buChar char="•"/>
            </a:pPr>
            <a:r>
              <a:rPr lang="en-US" sz="1900" spc="-37" dirty="0">
                <a:solidFill>
                  <a:srgbClr val="050A37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Built using widely available and tested components (ESP32, A7670C 4G, GPS, MPU6050, etc.).</a:t>
            </a:r>
          </a:p>
          <a:p>
            <a:pPr marL="412712" lvl="1" indent="-206355">
              <a:lnSpc>
                <a:spcPts val="2678"/>
              </a:lnSpc>
              <a:buFont typeface="Arial"/>
              <a:buChar char="•"/>
            </a:pPr>
            <a:r>
              <a:rPr lang="en-US" sz="1900" dirty="0">
                <a:solidFill>
                  <a:srgbClr val="050A37"/>
                </a:solidFill>
                <a:latin typeface="Microsoft Tai Le" panose="020B0502040204020203" pitchFamily="34" charset="0"/>
                <a:ea typeface="Arimo"/>
                <a:cs typeface="Microsoft Tai Le" panose="020B0502040204020203" pitchFamily="34" charset="0"/>
                <a:sym typeface="Arimo"/>
              </a:rPr>
              <a:t>Real-time location and motion detection using proven technologies.</a:t>
            </a:r>
          </a:p>
          <a:p>
            <a:pPr marL="412712" lvl="1" indent="-206355">
              <a:lnSpc>
                <a:spcPts val="2678"/>
              </a:lnSpc>
              <a:buFont typeface="Arial"/>
              <a:buChar char="•"/>
            </a:pPr>
            <a:r>
              <a:rPr lang="en-US" sz="1900" dirty="0">
                <a:solidFill>
                  <a:srgbClr val="050A37"/>
                </a:solidFill>
                <a:latin typeface="Microsoft Tai Le" panose="020B0502040204020203" pitchFamily="34" charset="0"/>
                <a:ea typeface="Arimo"/>
                <a:cs typeface="Microsoft Tai Le" panose="020B0502040204020203" pitchFamily="34" charset="0"/>
                <a:sym typeface="Arimo"/>
              </a:rPr>
              <a:t>Can be developed and replicated at low cost.</a:t>
            </a:r>
          </a:p>
        </p:txBody>
      </p:sp>
      <p:sp>
        <p:nvSpPr>
          <p:cNvPr id="14" name="Freeform 14"/>
          <p:cNvSpPr/>
          <p:nvPr/>
        </p:nvSpPr>
        <p:spPr>
          <a:xfrm>
            <a:off x="426574" y="5788830"/>
            <a:ext cx="8509608" cy="2362565"/>
          </a:xfrm>
          <a:custGeom>
            <a:avLst/>
            <a:gdLst/>
            <a:ahLst/>
            <a:cxnLst/>
            <a:rect l="l" t="t" r="r" b="b"/>
            <a:pathLst>
              <a:path w="7410450" h="2057400">
                <a:moveTo>
                  <a:pt x="0" y="0"/>
                </a:moveTo>
                <a:lnTo>
                  <a:pt x="7410450" y="0"/>
                </a:lnTo>
                <a:lnTo>
                  <a:pt x="74104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645331" y="5996648"/>
            <a:ext cx="229694" cy="656268"/>
          </a:xfrm>
          <a:custGeom>
            <a:avLst/>
            <a:gdLst/>
            <a:ahLst/>
            <a:cxnLst/>
            <a:rect l="l" t="t" r="r" b="b"/>
            <a:pathLst>
              <a:path w="200025" h="571500">
                <a:moveTo>
                  <a:pt x="0" y="0"/>
                </a:moveTo>
                <a:lnTo>
                  <a:pt x="200025" y="0"/>
                </a:lnTo>
                <a:lnTo>
                  <a:pt x="2000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972193" y="6075382"/>
            <a:ext cx="1900224" cy="439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83"/>
              </a:lnSpc>
            </a:pPr>
            <a:r>
              <a:rPr lang="en-US" sz="2679" b="1" spc="-53">
                <a:solidFill>
                  <a:srgbClr val="0062FF"/>
                </a:solidFill>
                <a:latin typeface="Microsoft Tai Le" panose="020B0502040204020203" pitchFamily="34" charset="0"/>
                <a:ea typeface="Inter Bold"/>
                <a:cs typeface="Microsoft Tai Le" panose="020B0502040204020203" pitchFamily="34" charset="0"/>
                <a:sym typeface="Inter Bold"/>
              </a:rPr>
              <a:t>Operational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64529" y="6636123"/>
            <a:ext cx="7736635" cy="13138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07126" lvl="1" indent="-203563">
              <a:lnSpc>
                <a:spcPts val="2829"/>
              </a:lnSpc>
              <a:buFont typeface="Arial"/>
              <a:buChar char="•"/>
            </a:pPr>
            <a:r>
              <a:rPr lang="en-US" sz="1900" spc="-37" dirty="0">
                <a:solidFill>
                  <a:srgbClr val="050A37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Simple to use with a single button and automatic trigger.</a:t>
            </a:r>
          </a:p>
          <a:p>
            <a:pPr marL="388433" lvl="1" indent="-194217">
              <a:lnSpc>
                <a:spcPts val="2521"/>
              </a:lnSpc>
              <a:buFont typeface="Arial"/>
              <a:buChar char="•"/>
            </a:pPr>
            <a:r>
              <a:rPr lang="en-US" sz="1900" dirty="0">
                <a:solidFill>
                  <a:srgbClr val="050A37"/>
                </a:solidFill>
                <a:latin typeface="Microsoft Tai Le" panose="020B0502040204020203" pitchFamily="34" charset="0"/>
                <a:ea typeface="Arimo"/>
                <a:cs typeface="Microsoft Tai Le" panose="020B0502040204020203" pitchFamily="34" charset="0"/>
                <a:sym typeface="Arimo"/>
              </a:rPr>
              <a:t>Works in real-world conditions with cellular network (4G) and GPS.</a:t>
            </a:r>
          </a:p>
          <a:p>
            <a:pPr marL="388433" lvl="1" indent="-194217">
              <a:lnSpc>
                <a:spcPts val="2521"/>
              </a:lnSpc>
              <a:buFont typeface="Arial"/>
              <a:buChar char="•"/>
            </a:pPr>
            <a:r>
              <a:rPr lang="en-US" sz="1900" dirty="0">
                <a:solidFill>
                  <a:srgbClr val="050A37"/>
                </a:solidFill>
                <a:latin typeface="Microsoft Tai Le" panose="020B0502040204020203" pitchFamily="34" charset="0"/>
                <a:ea typeface="Arimo"/>
                <a:cs typeface="Microsoft Tai Le" panose="020B0502040204020203" pitchFamily="34" charset="0"/>
                <a:sym typeface="Arimo"/>
              </a:rPr>
              <a:t>Requires minimal user training.</a:t>
            </a:r>
          </a:p>
          <a:p>
            <a:pPr marL="388433" lvl="1" indent="-194217">
              <a:lnSpc>
                <a:spcPts val="2521"/>
              </a:lnSpc>
              <a:buFont typeface="Arial"/>
              <a:buChar char="•"/>
            </a:pPr>
            <a:r>
              <a:rPr lang="en-US" sz="1900" dirty="0">
                <a:solidFill>
                  <a:srgbClr val="050A37"/>
                </a:solidFill>
                <a:latin typeface="Microsoft Tai Le" panose="020B0502040204020203" pitchFamily="34" charset="0"/>
                <a:ea typeface="Arimo"/>
                <a:cs typeface="Microsoft Tai Le" panose="020B0502040204020203" pitchFamily="34" charset="0"/>
                <a:sym typeface="Arimo"/>
              </a:rPr>
              <a:t>Easy to maintain and scale.</a:t>
            </a:r>
          </a:p>
        </p:txBody>
      </p:sp>
      <p:sp>
        <p:nvSpPr>
          <p:cNvPr id="18" name="Freeform 18"/>
          <p:cNvSpPr/>
          <p:nvPr/>
        </p:nvSpPr>
        <p:spPr>
          <a:xfrm>
            <a:off x="426574" y="8140458"/>
            <a:ext cx="8509608" cy="2154746"/>
          </a:xfrm>
          <a:custGeom>
            <a:avLst/>
            <a:gdLst/>
            <a:ahLst/>
            <a:cxnLst/>
            <a:rect l="l" t="t" r="r" b="b"/>
            <a:pathLst>
              <a:path w="7410450" h="1876425">
                <a:moveTo>
                  <a:pt x="0" y="0"/>
                </a:moveTo>
                <a:lnTo>
                  <a:pt x="7410450" y="0"/>
                </a:lnTo>
                <a:lnTo>
                  <a:pt x="7410450" y="1876425"/>
                </a:lnTo>
                <a:lnTo>
                  <a:pt x="0" y="18764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645331" y="8359213"/>
            <a:ext cx="229694" cy="656268"/>
          </a:xfrm>
          <a:custGeom>
            <a:avLst/>
            <a:gdLst/>
            <a:ahLst/>
            <a:cxnLst/>
            <a:rect l="l" t="t" r="r" b="b"/>
            <a:pathLst>
              <a:path w="200025" h="571500">
                <a:moveTo>
                  <a:pt x="0" y="0"/>
                </a:moveTo>
                <a:lnTo>
                  <a:pt x="200025" y="0"/>
                </a:lnTo>
                <a:lnTo>
                  <a:pt x="2000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973718" y="8350777"/>
            <a:ext cx="1747753" cy="439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83"/>
              </a:lnSpc>
            </a:pPr>
            <a:r>
              <a:rPr lang="en-US" sz="2679" b="1" spc="-79">
                <a:solidFill>
                  <a:srgbClr val="0062FF"/>
                </a:solidFill>
                <a:latin typeface="Microsoft Tai Le" panose="020B0502040204020203" pitchFamily="34" charset="0"/>
                <a:ea typeface="Inter Bold"/>
                <a:cs typeface="Microsoft Tai Le" panose="020B0502040204020203" pitchFamily="34" charset="0"/>
                <a:sym typeface="Inter Bold"/>
              </a:rPr>
              <a:t>Regulatory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67250" y="8839535"/>
            <a:ext cx="7774380" cy="13099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07126" lvl="1" indent="-203563">
              <a:lnSpc>
                <a:spcPts val="2829"/>
              </a:lnSpc>
              <a:buFont typeface="Arial"/>
              <a:buChar char="•"/>
            </a:pPr>
            <a:r>
              <a:rPr lang="en-US" sz="1900" spc="-37" dirty="0">
                <a:solidFill>
                  <a:srgbClr val="050A37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Compliant with India's data privacy law (DPPD Act, 2023).</a:t>
            </a:r>
          </a:p>
          <a:p>
            <a:pPr marL="388433" lvl="1" indent="-194217">
              <a:lnSpc>
                <a:spcPts val="2521"/>
              </a:lnSpc>
              <a:buFont typeface="Arial"/>
              <a:buChar char="•"/>
            </a:pPr>
            <a:r>
              <a:rPr lang="en-US" sz="1900" dirty="0">
                <a:solidFill>
                  <a:srgbClr val="050A37"/>
                </a:solidFill>
                <a:latin typeface="Microsoft Tai Le" panose="020B0502040204020203" pitchFamily="34" charset="0"/>
                <a:ea typeface="Arimo"/>
                <a:cs typeface="Microsoft Tai Le" panose="020B0502040204020203" pitchFamily="34" charset="0"/>
                <a:sym typeface="Arimo"/>
              </a:rPr>
              <a:t>Uses licensed SIM module (A7670C) for SMS/4G.</a:t>
            </a:r>
          </a:p>
          <a:p>
            <a:pPr marL="388433" lvl="1" indent="-194217">
              <a:lnSpc>
                <a:spcPts val="2521"/>
              </a:lnSpc>
              <a:buFont typeface="Arial"/>
              <a:buChar char="•"/>
            </a:pPr>
            <a:r>
              <a:rPr lang="en-US" sz="1900" dirty="0">
                <a:solidFill>
                  <a:srgbClr val="050A37"/>
                </a:solidFill>
                <a:latin typeface="Microsoft Tai Le" panose="020B0502040204020203" pitchFamily="34" charset="0"/>
                <a:ea typeface="Arimo"/>
                <a:cs typeface="Microsoft Tai Le" panose="020B0502040204020203" pitchFamily="34" charset="0"/>
                <a:sym typeface="Arimo"/>
              </a:rPr>
              <a:t>Can integrate with existing emergency helplines (112)  and local authorities.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98228" y="1607431"/>
            <a:ext cx="3867837" cy="807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986"/>
              </a:lnSpc>
            </a:pPr>
            <a:r>
              <a:rPr lang="en-US" sz="5986" b="1" u="sng" spc="-119">
                <a:solidFill>
                  <a:srgbClr val="0062FF"/>
                </a:solidFill>
                <a:latin typeface="Microsoft Tai Le" panose="020B0502040204020203" pitchFamily="34" charset="0"/>
                <a:ea typeface="Inter Heavy"/>
                <a:cs typeface="Microsoft Tai Le" panose="020B0502040204020203" pitchFamily="34" charset="0"/>
                <a:sym typeface="Inter Heavy"/>
              </a:rPr>
              <a:t>VIA</a:t>
            </a:r>
            <a:r>
              <a:rPr lang="en-US" sz="5986" b="1" spc="-119">
                <a:solidFill>
                  <a:srgbClr val="050A37"/>
                </a:solidFill>
                <a:latin typeface="Microsoft Tai Le" panose="020B0502040204020203" pitchFamily="34" charset="0"/>
                <a:ea typeface="Inter Heavy"/>
                <a:cs typeface="Microsoft Tai Le" panose="020B0502040204020203" pitchFamily="34" charset="0"/>
                <a:sym typeface="Inter Heavy"/>
              </a:rPr>
              <a:t>BILITY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54513" y="2424623"/>
            <a:ext cx="8239294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46"/>
              </a:lnSpc>
            </a:pPr>
            <a:r>
              <a:rPr lang="en-US" sz="2036" spc="-60">
                <a:solidFill>
                  <a:srgbClr val="050A37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A sustainable and impactful solution with strong potential for real-world adoption and long-term use.</a:t>
            </a:r>
          </a:p>
        </p:txBody>
      </p:sp>
      <p:sp>
        <p:nvSpPr>
          <p:cNvPr id="24" name="Freeform 24"/>
          <p:cNvSpPr/>
          <p:nvPr/>
        </p:nvSpPr>
        <p:spPr>
          <a:xfrm>
            <a:off x="9351818" y="3218447"/>
            <a:ext cx="8728364" cy="2362565"/>
          </a:xfrm>
          <a:custGeom>
            <a:avLst/>
            <a:gdLst/>
            <a:ahLst/>
            <a:cxnLst/>
            <a:rect l="l" t="t" r="r" b="b"/>
            <a:pathLst>
              <a:path w="7600950" h="2057400">
                <a:moveTo>
                  <a:pt x="0" y="0"/>
                </a:moveTo>
                <a:lnTo>
                  <a:pt x="7600950" y="0"/>
                </a:lnTo>
                <a:lnTo>
                  <a:pt x="76009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9570575" y="3426266"/>
            <a:ext cx="229694" cy="656268"/>
          </a:xfrm>
          <a:custGeom>
            <a:avLst/>
            <a:gdLst/>
            <a:ahLst/>
            <a:cxnLst/>
            <a:rect l="l" t="t" r="r" b="b"/>
            <a:pathLst>
              <a:path w="200025" h="571500">
                <a:moveTo>
                  <a:pt x="0" y="0"/>
                </a:moveTo>
                <a:lnTo>
                  <a:pt x="200025" y="0"/>
                </a:lnTo>
                <a:lnTo>
                  <a:pt x="2000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9859882" y="3513677"/>
            <a:ext cx="2528204" cy="439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83"/>
              </a:lnSpc>
            </a:pPr>
            <a:r>
              <a:rPr lang="en-US" sz="2679" b="1" spc="-79">
                <a:solidFill>
                  <a:srgbClr val="0062FF"/>
                </a:solidFill>
                <a:latin typeface="Microsoft Tai Le" panose="020B0502040204020203" pitchFamily="34" charset="0"/>
                <a:ea typeface="Inter Bold"/>
                <a:cs typeface="Microsoft Tai Le" panose="020B0502040204020203" pitchFamily="34" charset="0"/>
                <a:sym typeface="Inter Bold"/>
              </a:rPr>
              <a:t>Business Model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755735" y="4113957"/>
            <a:ext cx="8105691" cy="1038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7965" lvl="1" indent="-198983">
              <a:lnSpc>
                <a:spcPts val="2765"/>
              </a:lnSpc>
              <a:buFont typeface="Arial"/>
              <a:buChar char="•"/>
            </a:pPr>
            <a:r>
              <a:rPr lang="en-US" sz="1900" spc="-37" dirty="0">
                <a:solidFill>
                  <a:srgbClr val="050A37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Direct sale to individual users (students, working professionals, travelers).</a:t>
            </a:r>
          </a:p>
          <a:p>
            <a:pPr marL="412712" lvl="1" indent="-206355">
              <a:lnSpc>
                <a:spcPts val="2678"/>
              </a:lnSpc>
              <a:buFont typeface="Arial"/>
              <a:buChar char="•"/>
            </a:pPr>
            <a:r>
              <a:rPr lang="en-US" sz="1900" dirty="0">
                <a:solidFill>
                  <a:srgbClr val="050A37"/>
                </a:solidFill>
                <a:latin typeface="Microsoft Tai Le" panose="020B0502040204020203" pitchFamily="34" charset="0"/>
                <a:ea typeface="Arimo"/>
                <a:cs typeface="Microsoft Tai Le" panose="020B0502040204020203" pitchFamily="34" charset="0"/>
                <a:sym typeface="Arimo"/>
              </a:rPr>
              <a:t>Tie-ups with schools, colleges, organizations and NGOs.</a:t>
            </a:r>
          </a:p>
          <a:p>
            <a:pPr marL="412712" lvl="1" indent="-206355">
              <a:lnSpc>
                <a:spcPts val="2678"/>
              </a:lnSpc>
              <a:buFont typeface="Arial"/>
              <a:buChar char="•"/>
            </a:pPr>
            <a:r>
              <a:rPr lang="en-US" sz="1900" dirty="0">
                <a:solidFill>
                  <a:srgbClr val="050A37"/>
                </a:solidFill>
                <a:latin typeface="Microsoft Tai Le" panose="020B0502040204020203" pitchFamily="34" charset="0"/>
                <a:ea typeface="Arimo"/>
                <a:cs typeface="Microsoft Tai Le" panose="020B0502040204020203" pitchFamily="34" charset="0"/>
                <a:sym typeface="Arimo"/>
              </a:rPr>
              <a:t>Potential government partnerships for large-scale deployment.</a:t>
            </a:r>
          </a:p>
        </p:txBody>
      </p:sp>
      <p:sp>
        <p:nvSpPr>
          <p:cNvPr id="28" name="Freeform 28"/>
          <p:cNvSpPr/>
          <p:nvPr/>
        </p:nvSpPr>
        <p:spPr>
          <a:xfrm>
            <a:off x="9351818" y="5362256"/>
            <a:ext cx="8728364" cy="4506373"/>
          </a:xfrm>
          <a:custGeom>
            <a:avLst/>
            <a:gdLst/>
            <a:ahLst/>
            <a:cxnLst/>
            <a:rect l="l" t="t" r="r" b="b"/>
            <a:pathLst>
              <a:path w="7600950" h="3924300">
                <a:moveTo>
                  <a:pt x="0" y="0"/>
                </a:moveTo>
                <a:lnTo>
                  <a:pt x="7600950" y="0"/>
                </a:lnTo>
                <a:lnTo>
                  <a:pt x="7600950" y="3924300"/>
                </a:lnTo>
                <a:lnTo>
                  <a:pt x="0" y="39243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9570575" y="5570074"/>
            <a:ext cx="229694" cy="656268"/>
          </a:xfrm>
          <a:custGeom>
            <a:avLst/>
            <a:gdLst/>
            <a:ahLst/>
            <a:cxnLst/>
            <a:rect l="l" t="t" r="r" b="b"/>
            <a:pathLst>
              <a:path w="200025" h="571500">
                <a:moveTo>
                  <a:pt x="0" y="0"/>
                </a:moveTo>
                <a:lnTo>
                  <a:pt x="200025" y="0"/>
                </a:lnTo>
                <a:lnTo>
                  <a:pt x="2000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9796212" y="5683592"/>
            <a:ext cx="3537425" cy="439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83"/>
              </a:lnSpc>
            </a:pPr>
            <a:r>
              <a:rPr lang="en-US" sz="2679" b="1" spc="-79">
                <a:solidFill>
                  <a:srgbClr val="0062FF"/>
                </a:solidFill>
                <a:latin typeface="Microsoft Tai Le" panose="020B0502040204020203" pitchFamily="34" charset="0"/>
                <a:ea typeface="Inter Bold"/>
                <a:cs typeface="Microsoft Tai Le" panose="020B0502040204020203" pitchFamily="34" charset="0"/>
                <a:sym typeface="Inter Bold"/>
              </a:rPr>
              <a:t>Societal Impact (India)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797701" y="6327526"/>
            <a:ext cx="3388514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8"/>
              </a:lnSpc>
            </a:pPr>
            <a:r>
              <a:rPr lang="en-US" sz="1722" spc="-51" dirty="0">
                <a:solidFill>
                  <a:srgbClr val="050A37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Reported crimes against women in India (NCRB, 2022)</a:t>
            </a:r>
          </a:p>
        </p:txBody>
      </p:sp>
      <p:sp>
        <p:nvSpPr>
          <p:cNvPr id="32" name="Freeform 32"/>
          <p:cNvSpPr/>
          <p:nvPr/>
        </p:nvSpPr>
        <p:spPr>
          <a:xfrm>
            <a:off x="9789331" y="8359214"/>
            <a:ext cx="1104718" cy="864086"/>
          </a:xfrm>
          <a:custGeom>
            <a:avLst/>
            <a:gdLst/>
            <a:ahLst/>
            <a:cxnLst/>
            <a:rect l="l" t="t" r="r" b="b"/>
            <a:pathLst>
              <a:path w="962025" h="752475">
                <a:moveTo>
                  <a:pt x="0" y="0"/>
                </a:moveTo>
                <a:lnTo>
                  <a:pt x="962025" y="0"/>
                </a:lnTo>
                <a:lnTo>
                  <a:pt x="9620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0043751" y="9205675"/>
            <a:ext cx="522931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8"/>
              </a:lnSpc>
            </a:pPr>
            <a:r>
              <a:rPr lang="en-US" sz="1722" spc="-51">
                <a:solidFill>
                  <a:srgbClr val="050A37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2020</a:t>
            </a:r>
          </a:p>
        </p:txBody>
      </p:sp>
      <p:sp>
        <p:nvSpPr>
          <p:cNvPr id="34" name="Freeform 34"/>
          <p:cNvSpPr/>
          <p:nvPr/>
        </p:nvSpPr>
        <p:spPr>
          <a:xfrm>
            <a:off x="10883110" y="8140458"/>
            <a:ext cx="1093780" cy="1082842"/>
          </a:xfrm>
          <a:custGeom>
            <a:avLst/>
            <a:gdLst/>
            <a:ahLst/>
            <a:cxnLst/>
            <a:rect l="l" t="t" r="r" b="b"/>
            <a:pathLst>
              <a:path w="952500" h="942975">
                <a:moveTo>
                  <a:pt x="0" y="0"/>
                </a:moveTo>
                <a:lnTo>
                  <a:pt x="952500" y="0"/>
                </a:lnTo>
                <a:lnTo>
                  <a:pt x="95250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11194667" y="9205675"/>
            <a:ext cx="471380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8"/>
              </a:lnSpc>
            </a:pPr>
            <a:r>
              <a:rPr lang="en-US" sz="1722" spc="-51">
                <a:solidFill>
                  <a:srgbClr val="050A37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2021</a:t>
            </a:r>
          </a:p>
        </p:txBody>
      </p:sp>
      <p:sp>
        <p:nvSpPr>
          <p:cNvPr id="36" name="Freeform 36"/>
          <p:cNvSpPr/>
          <p:nvPr/>
        </p:nvSpPr>
        <p:spPr>
          <a:xfrm>
            <a:off x="11965953" y="7287309"/>
            <a:ext cx="1104718" cy="1935990"/>
          </a:xfrm>
          <a:custGeom>
            <a:avLst/>
            <a:gdLst/>
            <a:ahLst/>
            <a:cxnLst/>
            <a:rect l="l" t="t" r="r" b="b"/>
            <a:pathLst>
              <a:path w="962025" h="1685925">
                <a:moveTo>
                  <a:pt x="0" y="0"/>
                </a:moveTo>
                <a:lnTo>
                  <a:pt x="962025" y="0"/>
                </a:lnTo>
                <a:lnTo>
                  <a:pt x="962025" y="1685925"/>
                </a:lnTo>
                <a:lnTo>
                  <a:pt x="0" y="16859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12270364" y="9205675"/>
            <a:ext cx="516692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8"/>
              </a:lnSpc>
            </a:pPr>
            <a:r>
              <a:rPr lang="en-US" sz="1722" spc="-51">
                <a:solidFill>
                  <a:srgbClr val="050A37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2022</a:t>
            </a:r>
          </a:p>
        </p:txBody>
      </p:sp>
      <p:sp>
        <p:nvSpPr>
          <p:cNvPr id="38" name="Freeform 38"/>
          <p:cNvSpPr/>
          <p:nvPr/>
        </p:nvSpPr>
        <p:spPr>
          <a:xfrm>
            <a:off x="9570574" y="9004543"/>
            <a:ext cx="3718852" cy="218756"/>
          </a:xfrm>
          <a:custGeom>
            <a:avLst/>
            <a:gdLst/>
            <a:ahLst/>
            <a:cxnLst/>
            <a:rect l="l" t="t" r="r" b="b"/>
            <a:pathLst>
              <a:path w="3238500" h="190500">
                <a:moveTo>
                  <a:pt x="0" y="0"/>
                </a:moveTo>
                <a:lnTo>
                  <a:pt x="3238500" y="0"/>
                </a:lnTo>
                <a:lnTo>
                  <a:pt x="323850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13497244" y="6860734"/>
            <a:ext cx="218756" cy="2800077"/>
          </a:xfrm>
          <a:custGeom>
            <a:avLst/>
            <a:gdLst/>
            <a:ahLst/>
            <a:cxnLst/>
            <a:rect l="l" t="t" r="r" b="b"/>
            <a:pathLst>
              <a:path w="190500" h="2438400">
                <a:moveTo>
                  <a:pt x="0" y="0"/>
                </a:moveTo>
                <a:lnTo>
                  <a:pt x="190500" y="0"/>
                </a:lnTo>
                <a:lnTo>
                  <a:pt x="190500" y="2438400"/>
                </a:lnTo>
                <a:lnTo>
                  <a:pt x="0" y="24384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3923818" y="6215404"/>
            <a:ext cx="3937608" cy="1728172"/>
          </a:xfrm>
          <a:custGeom>
            <a:avLst/>
            <a:gdLst/>
            <a:ahLst/>
            <a:cxnLst/>
            <a:rect l="l" t="t" r="r" b="b"/>
            <a:pathLst>
              <a:path w="3429000" h="1504950">
                <a:moveTo>
                  <a:pt x="0" y="0"/>
                </a:moveTo>
                <a:lnTo>
                  <a:pt x="3429000" y="0"/>
                </a:lnTo>
                <a:lnTo>
                  <a:pt x="34290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14142575" y="6641978"/>
            <a:ext cx="885962" cy="875024"/>
          </a:xfrm>
          <a:custGeom>
            <a:avLst/>
            <a:gdLst/>
            <a:ahLst/>
            <a:cxnLst/>
            <a:rect l="l" t="t" r="r" b="b"/>
            <a:pathLst>
              <a:path w="771525" h="762000">
                <a:moveTo>
                  <a:pt x="0" y="0"/>
                </a:moveTo>
                <a:lnTo>
                  <a:pt x="771525" y="0"/>
                </a:lnTo>
                <a:lnTo>
                  <a:pt x="77152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42" name="TextBox 42"/>
          <p:cNvSpPr txBox="1"/>
          <p:nvPr/>
        </p:nvSpPr>
        <p:spPr>
          <a:xfrm>
            <a:off x="15278230" y="6493283"/>
            <a:ext cx="1832542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8"/>
              </a:lnSpc>
            </a:pPr>
            <a:r>
              <a:rPr lang="en-US" sz="1722" spc="-51" dirty="0">
                <a:solidFill>
                  <a:srgbClr val="050A37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A crime against a woman is reported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5277348" y="7065828"/>
            <a:ext cx="1920634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46"/>
              </a:lnSpc>
            </a:pPr>
            <a:r>
              <a:rPr lang="en-US" sz="2036" b="1" spc="-60" dirty="0">
                <a:solidFill>
                  <a:srgbClr val="0062FF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every 3 minutes</a:t>
            </a:r>
          </a:p>
        </p:txBody>
      </p:sp>
      <p:sp>
        <p:nvSpPr>
          <p:cNvPr id="44" name="Freeform 44"/>
          <p:cNvSpPr/>
          <p:nvPr/>
        </p:nvSpPr>
        <p:spPr>
          <a:xfrm>
            <a:off x="13923818" y="7932640"/>
            <a:ext cx="3937608" cy="1935990"/>
          </a:xfrm>
          <a:custGeom>
            <a:avLst/>
            <a:gdLst/>
            <a:ahLst/>
            <a:cxnLst/>
            <a:rect l="l" t="t" r="r" b="b"/>
            <a:pathLst>
              <a:path w="3429000" h="1685925">
                <a:moveTo>
                  <a:pt x="0" y="0"/>
                </a:moveTo>
                <a:lnTo>
                  <a:pt x="3429000" y="0"/>
                </a:lnTo>
                <a:lnTo>
                  <a:pt x="3429000" y="1685925"/>
                </a:lnTo>
                <a:lnTo>
                  <a:pt x="0" y="168592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14142575" y="8359214"/>
            <a:ext cx="885962" cy="864086"/>
          </a:xfrm>
          <a:custGeom>
            <a:avLst/>
            <a:gdLst/>
            <a:ahLst/>
            <a:cxnLst/>
            <a:rect l="l" t="t" r="r" b="b"/>
            <a:pathLst>
              <a:path w="771525" h="752475">
                <a:moveTo>
                  <a:pt x="0" y="0"/>
                </a:moveTo>
                <a:lnTo>
                  <a:pt x="771525" y="0"/>
                </a:lnTo>
                <a:lnTo>
                  <a:pt x="7715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46" name="TextBox 46"/>
          <p:cNvSpPr txBox="1"/>
          <p:nvPr/>
        </p:nvSpPr>
        <p:spPr>
          <a:xfrm>
            <a:off x="15274427" y="8241269"/>
            <a:ext cx="2212752" cy="112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8"/>
              </a:lnSpc>
            </a:pPr>
            <a:r>
              <a:rPr lang="en-US" sz="1722" spc="-51" dirty="0">
                <a:solidFill>
                  <a:srgbClr val="050A37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Over </a:t>
            </a:r>
            <a:r>
              <a:rPr lang="en-US" sz="1722" b="1" spc="-51" dirty="0">
                <a:solidFill>
                  <a:srgbClr val="0062FF"/>
                </a:solidFill>
                <a:latin typeface="Microsoft Tai Le" panose="020B0502040204020203" pitchFamily="34" charset="0"/>
                <a:ea typeface="Inter Bold"/>
                <a:cs typeface="Microsoft Tai Le" panose="020B0502040204020203" pitchFamily="34" charset="0"/>
                <a:sym typeface="Inter Bold"/>
              </a:rPr>
              <a:t>93,000 cases</a:t>
            </a:r>
            <a:r>
              <a:rPr lang="en-US" sz="1722" spc="-51" dirty="0">
                <a:solidFill>
                  <a:srgbClr val="050A37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 is reported against women were reported in 2022 (NCRB, 2022).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130740" y="6975486"/>
            <a:ext cx="767541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8"/>
              </a:lnSpc>
            </a:pPr>
            <a:r>
              <a:rPr lang="en-US" sz="1722" b="1" spc="-51">
                <a:solidFill>
                  <a:srgbClr val="050A37"/>
                </a:solidFill>
                <a:latin typeface="Microsoft Tai Le" panose="020B0502040204020203" pitchFamily="34" charset="0"/>
                <a:ea typeface="Inter Bold"/>
                <a:cs typeface="Microsoft Tai Le" panose="020B0502040204020203" pitchFamily="34" charset="0"/>
                <a:sym typeface="Inter Bold"/>
              </a:rPr>
              <a:t>93,000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928779" y="8165925"/>
            <a:ext cx="752874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8"/>
              </a:lnSpc>
            </a:pPr>
            <a:r>
              <a:rPr lang="en-US" sz="1722" b="1" spc="-51">
                <a:solidFill>
                  <a:srgbClr val="050A37"/>
                </a:solidFill>
                <a:latin typeface="Microsoft Tai Le" panose="020B0502040204020203" pitchFamily="34" charset="0"/>
                <a:ea typeface="Inter Bold"/>
                <a:cs typeface="Microsoft Tai Le" panose="020B0502040204020203" pitchFamily="34" charset="0"/>
                <a:sym typeface="Inter Bold"/>
              </a:rPr>
              <a:t>28,045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044836" y="7834411"/>
            <a:ext cx="771043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8"/>
              </a:lnSpc>
            </a:pPr>
            <a:r>
              <a:rPr lang="en-US" sz="1722" b="1" spc="-51">
                <a:solidFill>
                  <a:srgbClr val="050A37"/>
                </a:solidFill>
                <a:latin typeface="Microsoft Tai Le" panose="020B0502040204020203" pitchFamily="34" charset="0"/>
                <a:ea typeface="Inter Bold"/>
                <a:cs typeface="Microsoft Tai Le" panose="020B0502040204020203" pitchFamily="34" charset="0"/>
                <a:sym typeface="Inter Bold"/>
              </a:rPr>
              <a:t>44,445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5289103" y="7412483"/>
            <a:ext cx="74519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8"/>
              </a:lnSpc>
            </a:pPr>
            <a:r>
              <a:rPr lang="en-US" sz="1722" spc="-51">
                <a:solidFill>
                  <a:srgbClr val="050A37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in India.</a:t>
            </a:r>
          </a:p>
        </p:txBody>
      </p:sp>
      <p:sp>
        <p:nvSpPr>
          <p:cNvPr id="53" name="TextBox 6">
            <a:extLst>
              <a:ext uri="{FF2B5EF4-FFF2-40B4-BE49-F238E27FC236}">
                <a16:creationId xmlns:a16="http://schemas.microsoft.com/office/drawing/2014/main" id="{6276E518-41E6-4D37-A371-A058C9F3553F}"/>
              </a:ext>
            </a:extLst>
          </p:cNvPr>
          <p:cNvSpPr txBox="1"/>
          <p:nvPr/>
        </p:nvSpPr>
        <p:spPr>
          <a:xfrm>
            <a:off x="14227669" y="295907"/>
            <a:ext cx="2841131" cy="4244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42"/>
              </a:lnSpc>
            </a:pPr>
            <a:r>
              <a:rPr lang="en-US" sz="2783" b="1" dirty="0">
                <a:solidFill>
                  <a:srgbClr val="0A74FF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Colossal-a-Pitch</a:t>
            </a:r>
          </a:p>
        </p:txBody>
      </p:sp>
      <p:sp>
        <p:nvSpPr>
          <p:cNvPr id="54" name="TextBox 37">
            <a:extLst>
              <a:ext uri="{FF2B5EF4-FFF2-40B4-BE49-F238E27FC236}">
                <a16:creationId xmlns:a16="http://schemas.microsoft.com/office/drawing/2014/main" id="{D5ABC065-3C50-4823-92F0-D369F508FC0F}"/>
              </a:ext>
            </a:extLst>
          </p:cNvPr>
          <p:cNvSpPr txBox="1"/>
          <p:nvPr/>
        </p:nvSpPr>
        <p:spPr>
          <a:xfrm>
            <a:off x="14243709" y="763042"/>
            <a:ext cx="3486165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61"/>
              </a:lnSpc>
            </a:pPr>
            <a:r>
              <a:rPr lang="en-US" sz="1634" b="1" dirty="0" err="1">
                <a:solidFill>
                  <a:srgbClr val="292E4B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Avinya</a:t>
            </a:r>
            <a:r>
              <a:rPr lang="en-US" sz="1634" b="1" dirty="0">
                <a:solidFill>
                  <a:srgbClr val="292E4B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 26</a:t>
            </a:r>
          </a:p>
        </p:txBody>
      </p:sp>
      <p:sp>
        <p:nvSpPr>
          <p:cNvPr id="55" name="TextBox 6">
            <a:extLst>
              <a:ext uri="{FF2B5EF4-FFF2-40B4-BE49-F238E27FC236}">
                <a16:creationId xmlns:a16="http://schemas.microsoft.com/office/drawing/2014/main" id="{800269AA-B558-489A-B10E-A669C5E47C40}"/>
              </a:ext>
            </a:extLst>
          </p:cNvPr>
          <p:cNvSpPr txBox="1"/>
          <p:nvPr/>
        </p:nvSpPr>
        <p:spPr>
          <a:xfrm>
            <a:off x="405634" y="412330"/>
            <a:ext cx="2841131" cy="4244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42"/>
              </a:lnSpc>
            </a:pPr>
            <a:r>
              <a:rPr lang="en-US" sz="2783" b="1" dirty="0">
                <a:solidFill>
                  <a:srgbClr val="0A74FF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Team Gamma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/>
          <p:nvPr/>
        </p:nvSpPr>
        <p:spPr>
          <a:xfrm>
            <a:off x="0" y="1282457"/>
            <a:ext cx="18080182" cy="229694"/>
          </a:xfrm>
          <a:custGeom>
            <a:avLst/>
            <a:gdLst/>
            <a:ahLst/>
            <a:cxnLst/>
            <a:rect l="l" t="t" r="r" b="b"/>
            <a:pathLst>
              <a:path w="15744825" h="200025">
                <a:moveTo>
                  <a:pt x="0" y="0"/>
                </a:moveTo>
                <a:lnTo>
                  <a:pt x="15744825" y="0"/>
                </a:lnTo>
                <a:lnTo>
                  <a:pt x="15744825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48249" y="1577014"/>
            <a:ext cx="3395410" cy="808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08"/>
              </a:lnSpc>
            </a:pPr>
            <a:r>
              <a:rPr lang="en-US" sz="6008" b="1" spc="-119">
                <a:solidFill>
                  <a:srgbClr val="0062F8"/>
                </a:solidFill>
                <a:latin typeface="Microsoft Tai Le" panose="020B0502040204020203" pitchFamily="34" charset="0"/>
                <a:ea typeface="Inter Heavy"/>
                <a:cs typeface="Microsoft Tai Le" panose="020B0502040204020203" pitchFamily="34" charset="0"/>
                <a:sym typeface="Inter Heavy"/>
              </a:rPr>
              <a:t>MARKET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028428" y="1577015"/>
            <a:ext cx="7029900" cy="808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08"/>
              </a:lnSpc>
            </a:pPr>
            <a:r>
              <a:rPr lang="en-US" sz="6008" b="1" spc="-119">
                <a:solidFill>
                  <a:srgbClr val="050A30"/>
                </a:solidFill>
                <a:latin typeface="Microsoft Tai Le" panose="020B0502040204020203" pitchFamily="34" charset="0"/>
                <a:ea typeface="Inter Heavy"/>
                <a:cs typeface="Microsoft Tai Le" panose="020B0502040204020203" pitchFamily="34" charset="0"/>
                <a:sym typeface="Inter Heavy"/>
              </a:rPr>
              <a:t>&amp; GO-TO-MARKET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40749" y="2591311"/>
            <a:ext cx="4145474" cy="42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68"/>
              </a:lnSpc>
            </a:pPr>
            <a:r>
              <a:rPr lang="en-US" sz="3168" b="1" spc="-63">
                <a:solidFill>
                  <a:srgbClr val="0062F8"/>
                </a:solidFill>
                <a:latin typeface="Microsoft Tai Le" panose="020B0502040204020203" pitchFamily="34" charset="0"/>
                <a:ea typeface="Inter Ultra-Bold"/>
                <a:cs typeface="Microsoft Tai Le" panose="020B0502040204020203" pitchFamily="34" charset="0"/>
                <a:sym typeface="Inter Ultra-Bold"/>
              </a:rPr>
              <a:t>MARKET SIZE </a:t>
            </a:r>
            <a:r>
              <a:rPr lang="en-US" sz="3168" b="1" spc="-63">
                <a:solidFill>
                  <a:srgbClr val="050A30"/>
                </a:solidFill>
                <a:latin typeface="Microsoft Tai Le" panose="020B0502040204020203" pitchFamily="34" charset="0"/>
                <a:ea typeface="Inter Ultra-Bold"/>
                <a:cs typeface="Microsoft Tai Le" panose="020B0502040204020203" pitchFamily="34" charset="0"/>
                <a:sym typeface="Inter Ultra-Bold"/>
              </a:rPr>
              <a:t>(INDIA)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26686" y="3053506"/>
            <a:ext cx="5551798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88"/>
              </a:lnSpc>
            </a:pPr>
            <a:r>
              <a:rPr lang="en-US" sz="1740" b="1" spc="-52">
                <a:solidFill>
                  <a:srgbClr val="51526C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Large and growing market for personal safety solutions in India.</a:t>
            </a:r>
          </a:p>
        </p:txBody>
      </p:sp>
      <p:sp>
        <p:nvSpPr>
          <p:cNvPr id="12" name="Freeform 12"/>
          <p:cNvSpPr/>
          <p:nvPr/>
        </p:nvSpPr>
        <p:spPr>
          <a:xfrm>
            <a:off x="207818" y="3645021"/>
            <a:ext cx="4156364" cy="3871981"/>
          </a:xfrm>
          <a:custGeom>
            <a:avLst/>
            <a:gdLst/>
            <a:ahLst/>
            <a:cxnLst/>
            <a:rect l="l" t="t" r="r" b="b"/>
            <a:pathLst>
              <a:path w="3619500" h="3371850">
                <a:moveTo>
                  <a:pt x="0" y="0"/>
                </a:moveTo>
                <a:lnTo>
                  <a:pt x="3619500" y="0"/>
                </a:lnTo>
                <a:lnTo>
                  <a:pt x="3619500" y="3371850"/>
                </a:lnTo>
                <a:lnTo>
                  <a:pt x="0" y="33718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714718" y="3923368"/>
            <a:ext cx="1122026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4"/>
              </a:lnSpc>
            </a:pPr>
            <a:r>
              <a:rPr lang="en-US" sz="1985" b="1" spc="-39">
                <a:solidFill>
                  <a:srgbClr val="050A30"/>
                </a:solidFill>
                <a:latin typeface="Microsoft Tai Le" panose="020B0502040204020203" pitchFamily="34" charset="0"/>
                <a:ea typeface="Inter Bold"/>
                <a:cs typeface="Microsoft Tai Le" panose="020B0502040204020203" pitchFamily="34" charset="0"/>
                <a:sym typeface="Inter Bold"/>
              </a:rPr>
              <a:t>TAM</a:t>
            </a:r>
          </a:p>
          <a:p>
            <a:pPr algn="ctr">
              <a:lnSpc>
                <a:spcPts val="2384"/>
              </a:lnSpc>
            </a:pPr>
            <a:r>
              <a:rPr lang="en-US" sz="1985" b="1" spc="-39">
                <a:solidFill>
                  <a:srgbClr val="050A30"/>
                </a:solidFill>
                <a:latin typeface="Microsoft Tai Le" panose="020B0502040204020203" pitchFamily="34" charset="0"/>
                <a:ea typeface="Inter Bold"/>
                <a:cs typeface="Microsoft Tai Le" panose="020B0502040204020203" pitchFamily="34" charset="0"/>
                <a:sym typeface="Inter Bold"/>
              </a:rPr>
              <a:t>$34.96M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57936" y="4993258"/>
            <a:ext cx="1035590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4"/>
              </a:lnSpc>
            </a:pPr>
            <a:r>
              <a:rPr lang="en-US" sz="1985" b="1" spc="-39">
                <a:solidFill>
                  <a:srgbClr val="FFFFFF"/>
                </a:solidFill>
                <a:latin typeface="Microsoft Tai Le" panose="020B0502040204020203" pitchFamily="34" charset="0"/>
                <a:ea typeface="Inter Bold"/>
                <a:cs typeface="Microsoft Tai Le" panose="020B0502040204020203" pitchFamily="34" charset="0"/>
                <a:sym typeface="Inter Bold"/>
              </a:rPr>
              <a:t>SAM</a:t>
            </a:r>
          </a:p>
          <a:p>
            <a:pPr algn="ctr">
              <a:lnSpc>
                <a:spcPts val="2384"/>
              </a:lnSpc>
            </a:pPr>
            <a:r>
              <a:rPr lang="en-US" sz="1985" b="1" spc="-39">
                <a:solidFill>
                  <a:srgbClr val="FFFFFF"/>
                </a:solidFill>
                <a:latin typeface="Microsoft Tai Le" panose="020B0502040204020203" pitchFamily="34" charset="0"/>
                <a:ea typeface="Inter Bold"/>
                <a:cs typeface="Microsoft Tai Le" panose="020B0502040204020203" pitchFamily="34" charset="0"/>
                <a:sym typeface="Inter Bold"/>
              </a:rPr>
              <a:t>$21.87M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07958" y="6319316"/>
            <a:ext cx="935548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4"/>
              </a:lnSpc>
            </a:pPr>
            <a:r>
              <a:rPr lang="en-US" sz="1985" b="1" spc="-39">
                <a:solidFill>
                  <a:srgbClr val="FFFFFF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SOM</a:t>
            </a:r>
          </a:p>
          <a:p>
            <a:pPr algn="ctr">
              <a:lnSpc>
                <a:spcPts val="2384"/>
              </a:lnSpc>
            </a:pPr>
            <a:r>
              <a:rPr lang="en-US" sz="1985" b="1" spc="-39">
                <a:solidFill>
                  <a:srgbClr val="FFFFFF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$0.22M</a:t>
            </a:r>
          </a:p>
        </p:txBody>
      </p:sp>
      <p:sp>
        <p:nvSpPr>
          <p:cNvPr id="16" name="Freeform 16"/>
          <p:cNvSpPr/>
          <p:nvPr/>
        </p:nvSpPr>
        <p:spPr>
          <a:xfrm>
            <a:off x="3915732" y="3645022"/>
            <a:ext cx="656268" cy="437512"/>
          </a:xfrm>
          <a:custGeom>
            <a:avLst/>
            <a:gdLst/>
            <a:ahLst/>
            <a:cxnLst/>
            <a:rect l="l" t="t" r="r" b="b"/>
            <a:pathLst>
              <a:path w="571500" h="381000">
                <a:moveTo>
                  <a:pt x="0" y="0"/>
                </a:moveTo>
                <a:lnTo>
                  <a:pt x="571500" y="0"/>
                </a:lnTo>
                <a:lnTo>
                  <a:pt x="5715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3040709" y="3852840"/>
            <a:ext cx="1104718" cy="229694"/>
          </a:xfrm>
          <a:custGeom>
            <a:avLst/>
            <a:gdLst/>
            <a:ahLst/>
            <a:cxnLst/>
            <a:rect l="l" t="t" r="r" b="b"/>
            <a:pathLst>
              <a:path w="962025" h="200025">
                <a:moveTo>
                  <a:pt x="0" y="0"/>
                </a:moveTo>
                <a:lnTo>
                  <a:pt x="962025" y="0"/>
                </a:lnTo>
                <a:lnTo>
                  <a:pt x="962025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4569709" y="4028851"/>
            <a:ext cx="1122026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84"/>
              </a:lnSpc>
            </a:pPr>
            <a:r>
              <a:rPr lang="en-US" sz="1985" b="1" spc="-39">
                <a:solidFill>
                  <a:srgbClr val="0062F8"/>
                </a:solidFill>
                <a:latin typeface="Microsoft Tai Le" panose="020B0502040204020203" pitchFamily="34" charset="0"/>
                <a:ea typeface="Inter Bold"/>
                <a:cs typeface="Microsoft Tai Le" panose="020B0502040204020203" pitchFamily="34" charset="0"/>
                <a:sym typeface="Inter Bold"/>
              </a:rPr>
              <a:t>$34.96M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18560" y="4315159"/>
            <a:ext cx="1594790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03"/>
              </a:lnSpc>
            </a:pPr>
            <a:r>
              <a:rPr lang="en-US" sz="1335" b="1" spc="-65">
                <a:solidFill>
                  <a:srgbClr val="51526C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India personal safety alarm market</a:t>
            </a:r>
          </a:p>
          <a:p>
            <a:pPr>
              <a:lnSpc>
                <a:spcPts val="1603"/>
              </a:lnSpc>
            </a:pPr>
            <a:r>
              <a:rPr lang="en-US" sz="1335" b="1" spc="-65">
                <a:solidFill>
                  <a:srgbClr val="51526C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(2025 estimate)</a:t>
            </a:r>
          </a:p>
        </p:txBody>
      </p:sp>
      <p:sp>
        <p:nvSpPr>
          <p:cNvPr id="20" name="Freeform 20"/>
          <p:cNvSpPr/>
          <p:nvPr/>
        </p:nvSpPr>
        <p:spPr>
          <a:xfrm>
            <a:off x="4134488" y="5143500"/>
            <a:ext cx="656268" cy="437512"/>
          </a:xfrm>
          <a:custGeom>
            <a:avLst/>
            <a:gdLst/>
            <a:ahLst/>
            <a:cxnLst/>
            <a:rect l="l" t="t" r="r" b="b"/>
            <a:pathLst>
              <a:path w="571500" h="381000">
                <a:moveTo>
                  <a:pt x="0" y="0"/>
                </a:moveTo>
                <a:lnTo>
                  <a:pt x="571500" y="0"/>
                </a:lnTo>
                <a:lnTo>
                  <a:pt x="5715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3259465" y="5143500"/>
            <a:ext cx="1104718" cy="229694"/>
          </a:xfrm>
          <a:custGeom>
            <a:avLst/>
            <a:gdLst/>
            <a:ahLst/>
            <a:cxnLst/>
            <a:rect l="l" t="t" r="r" b="b"/>
            <a:pathLst>
              <a:path w="962025" h="200025">
                <a:moveTo>
                  <a:pt x="0" y="0"/>
                </a:moveTo>
                <a:lnTo>
                  <a:pt x="962025" y="0"/>
                </a:lnTo>
                <a:lnTo>
                  <a:pt x="962025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4758097" y="5430254"/>
            <a:ext cx="1035590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84"/>
              </a:lnSpc>
            </a:pPr>
            <a:r>
              <a:rPr lang="en-US" sz="1985" b="1" spc="-39">
                <a:solidFill>
                  <a:srgbClr val="0062F8"/>
                </a:solidFill>
                <a:latin typeface="Microsoft Tai Le" panose="020B0502040204020203" pitchFamily="34" charset="0"/>
                <a:ea typeface="Inter Bold"/>
                <a:cs typeface="Microsoft Tai Le" panose="020B0502040204020203" pitchFamily="34" charset="0"/>
                <a:sym typeface="Inter Bold"/>
              </a:rPr>
              <a:t>$21.87M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781524" y="5731630"/>
            <a:ext cx="1371880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03"/>
              </a:lnSpc>
            </a:pPr>
            <a:r>
              <a:rPr lang="en-US" sz="1335" b="1" spc="-65">
                <a:solidFill>
                  <a:srgbClr val="51526C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Standarden alarm segment</a:t>
            </a:r>
          </a:p>
          <a:p>
            <a:pPr>
              <a:lnSpc>
                <a:spcPts val="1603"/>
              </a:lnSpc>
            </a:pPr>
            <a:r>
              <a:rPr lang="en-US" sz="1335" b="1" spc="-65">
                <a:solidFill>
                  <a:srgbClr val="51526C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(2025 estimate)</a:t>
            </a:r>
          </a:p>
        </p:txBody>
      </p:sp>
      <p:sp>
        <p:nvSpPr>
          <p:cNvPr id="24" name="Freeform 24"/>
          <p:cNvSpPr/>
          <p:nvPr/>
        </p:nvSpPr>
        <p:spPr>
          <a:xfrm>
            <a:off x="4134488" y="6434160"/>
            <a:ext cx="656268" cy="437512"/>
          </a:xfrm>
          <a:custGeom>
            <a:avLst/>
            <a:gdLst/>
            <a:ahLst/>
            <a:cxnLst/>
            <a:rect l="l" t="t" r="r" b="b"/>
            <a:pathLst>
              <a:path w="571500" h="381000">
                <a:moveTo>
                  <a:pt x="0" y="0"/>
                </a:moveTo>
                <a:lnTo>
                  <a:pt x="571500" y="0"/>
                </a:lnTo>
                <a:lnTo>
                  <a:pt x="5715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3040709" y="6641979"/>
            <a:ext cx="1323474" cy="229694"/>
          </a:xfrm>
          <a:custGeom>
            <a:avLst/>
            <a:gdLst/>
            <a:ahLst/>
            <a:cxnLst/>
            <a:rect l="l" t="t" r="r" b="b"/>
            <a:pathLst>
              <a:path w="1152525" h="200025">
                <a:moveTo>
                  <a:pt x="0" y="0"/>
                </a:moveTo>
                <a:lnTo>
                  <a:pt x="1152525" y="0"/>
                </a:lnTo>
                <a:lnTo>
                  <a:pt x="1152525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4758943" y="6861794"/>
            <a:ext cx="951045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84"/>
              </a:lnSpc>
            </a:pPr>
            <a:r>
              <a:rPr lang="en-US" sz="1985" b="1" spc="-39">
                <a:solidFill>
                  <a:srgbClr val="0062F8"/>
                </a:solidFill>
                <a:latin typeface="Microsoft Tai Le" panose="020B0502040204020203" pitchFamily="34" charset="0"/>
                <a:ea typeface="Inter Bold"/>
                <a:cs typeface="Microsoft Tai Le" panose="020B0502040204020203" pitchFamily="34" charset="0"/>
                <a:sym typeface="Inter Bold"/>
              </a:rPr>
              <a:t>$0.22M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751413" y="7148102"/>
            <a:ext cx="1704041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03"/>
              </a:lnSpc>
            </a:pPr>
            <a:r>
              <a:rPr lang="en-US" sz="1335" b="1" spc="-65">
                <a:solidFill>
                  <a:srgbClr val="51526C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Illustrative 1% initial capture target of SAM</a:t>
            </a:r>
          </a:p>
        </p:txBody>
      </p:sp>
      <p:sp>
        <p:nvSpPr>
          <p:cNvPr id="28" name="Freeform 28"/>
          <p:cNvSpPr/>
          <p:nvPr/>
        </p:nvSpPr>
        <p:spPr>
          <a:xfrm>
            <a:off x="0" y="8359213"/>
            <a:ext cx="18080182" cy="229694"/>
          </a:xfrm>
          <a:custGeom>
            <a:avLst/>
            <a:gdLst/>
            <a:ahLst/>
            <a:cxnLst/>
            <a:rect l="l" t="t" r="r" b="b"/>
            <a:pathLst>
              <a:path w="15744825" h="200025">
                <a:moveTo>
                  <a:pt x="0" y="0"/>
                </a:moveTo>
                <a:lnTo>
                  <a:pt x="15744825" y="0"/>
                </a:lnTo>
                <a:lnTo>
                  <a:pt x="15744825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342549" y="8593815"/>
            <a:ext cx="3249762" cy="33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87"/>
              </a:lnSpc>
            </a:pPr>
            <a:r>
              <a:rPr lang="en-US" sz="2487" b="1" spc="-49">
                <a:solidFill>
                  <a:srgbClr val="0062F8"/>
                </a:solidFill>
                <a:latin typeface="Microsoft Tai Le" panose="020B0502040204020203" pitchFamily="34" charset="0"/>
                <a:ea typeface="Inter Ultra-Bold"/>
                <a:cs typeface="Microsoft Tai Le" panose="020B0502040204020203" pitchFamily="34" charset="0"/>
                <a:sym typeface="Inter Ultra-Bold"/>
              </a:rPr>
              <a:t>CORE </a:t>
            </a:r>
            <a:r>
              <a:rPr lang="en-US" sz="2487" b="1" spc="-49">
                <a:solidFill>
                  <a:srgbClr val="050A30"/>
                </a:solidFill>
                <a:latin typeface="Microsoft Tai Le" panose="020B0502040204020203" pitchFamily="34" charset="0"/>
                <a:ea typeface="Inter Ultra-Bold"/>
                <a:cs typeface="Microsoft Tai Le" panose="020B0502040204020203" pitchFamily="34" charset="0"/>
                <a:sym typeface="Inter Ultra-Bold"/>
              </a:rPr>
              <a:t>ADVANTAGES</a:t>
            </a:r>
          </a:p>
        </p:txBody>
      </p:sp>
      <p:sp>
        <p:nvSpPr>
          <p:cNvPr id="30" name="Freeform 30"/>
          <p:cNvSpPr/>
          <p:nvPr/>
        </p:nvSpPr>
        <p:spPr>
          <a:xfrm>
            <a:off x="426575" y="8785787"/>
            <a:ext cx="667206" cy="875024"/>
          </a:xfrm>
          <a:custGeom>
            <a:avLst/>
            <a:gdLst/>
            <a:ahLst/>
            <a:cxnLst/>
            <a:rect l="l" t="t" r="r" b="b"/>
            <a:pathLst>
              <a:path w="581025" h="762000">
                <a:moveTo>
                  <a:pt x="0" y="0"/>
                </a:moveTo>
                <a:lnTo>
                  <a:pt x="581025" y="0"/>
                </a:lnTo>
                <a:lnTo>
                  <a:pt x="58102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293841" y="8971434"/>
            <a:ext cx="1882268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30"/>
              </a:lnSpc>
            </a:pPr>
            <a:r>
              <a:rPr lang="en-US" sz="1609" b="1" spc="-47" dirty="0">
                <a:solidFill>
                  <a:srgbClr val="0062F8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SOS trigger without a phone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89100" y="9513911"/>
            <a:ext cx="2356468" cy="73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79"/>
              </a:lnSpc>
            </a:pPr>
            <a:r>
              <a:rPr lang="en-US" sz="1565" b="1" spc="-77" dirty="0">
                <a:solidFill>
                  <a:srgbClr val="51526C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Works with a dedicated button and motion-based trigger.</a:t>
            </a:r>
          </a:p>
        </p:txBody>
      </p:sp>
      <p:sp>
        <p:nvSpPr>
          <p:cNvPr id="33" name="Freeform 33"/>
          <p:cNvSpPr/>
          <p:nvPr/>
        </p:nvSpPr>
        <p:spPr>
          <a:xfrm>
            <a:off x="4134489" y="8785788"/>
            <a:ext cx="229694" cy="1301598"/>
          </a:xfrm>
          <a:custGeom>
            <a:avLst/>
            <a:gdLst/>
            <a:ahLst/>
            <a:cxnLst/>
            <a:rect l="l" t="t" r="r" b="b"/>
            <a:pathLst>
              <a:path w="200025" h="1133475">
                <a:moveTo>
                  <a:pt x="0" y="0"/>
                </a:moveTo>
                <a:lnTo>
                  <a:pt x="200025" y="0"/>
                </a:lnTo>
                <a:lnTo>
                  <a:pt x="200025" y="1133475"/>
                </a:lnTo>
                <a:lnTo>
                  <a:pt x="0" y="11334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4572000" y="8785787"/>
            <a:ext cx="656268" cy="656268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5474549" y="8926227"/>
            <a:ext cx="2291289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30"/>
              </a:lnSpc>
            </a:pPr>
            <a:r>
              <a:rPr lang="en-US" sz="1609" b="1" spc="-47">
                <a:solidFill>
                  <a:srgbClr val="0062F8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SMS does not need mobile data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466310" y="9438566"/>
            <a:ext cx="3032360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79"/>
              </a:lnSpc>
            </a:pPr>
            <a:r>
              <a:rPr lang="en-US" sz="1565" b="1" spc="-77" dirty="0">
                <a:solidFill>
                  <a:srgbClr val="51526C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Uses cellular network (SMS/4G).</a:t>
            </a:r>
          </a:p>
          <a:p>
            <a:pPr>
              <a:lnSpc>
                <a:spcPts val="1879"/>
              </a:lnSpc>
            </a:pPr>
            <a:r>
              <a:rPr lang="en-US" sz="1565" b="1" spc="-77" dirty="0">
                <a:solidFill>
                  <a:srgbClr val="51526C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Does not require an internet plan, but cellular signal is required.</a:t>
            </a:r>
          </a:p>
        </p:txBody>
      </p:sp>
      <p:sp>
        <p:nvSpPr>
          <p:cNvPr id="37" name="Freeform 37"/>
          <p:cNvSpPr/>
          <p:nvPr/>
        </p:nvSpPr>
        <p:spPr>
          <a:xfrm>
            <a:off x="8706489" y="8785788"/>
            <a:ext cx="229694" cy="1301598"/>
          </a:xfrm>
          <a:custGeom>
            <a:avLst/>
            <a:gdLst/>
            <a:ahLst/>
            <a:cxnLst/>
            <a:rect l="l" t="t" r="r" b="b"/>
            <a:pathLst>
              <a:path w="200025" h="1133475">
                <a:moveTo>
                  <a:pt x="0" y="0"/>
                </a:moveTo>
                <a:lnTo>
                  <a:pt x="200025" y="0"/>
                </a:lnTo>
                <a:lnTo>
                  <a:pt x="200025" y="1133475"/>
                </a:lnTo>
                <a:lnTo>
                  <a:pt x="0" y="11334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9144000" y="8785787"/>
            <a:ext cx="656268" cy="875024"/>
          </a:xfrm>
          <a:custGeom>
            <a:avLst/>
            <a:gdLst/>
            <a:ahLst/>
            <a:cxnLst/>
            <a:rect l="l" t="t" r="r" b="b"/>
            <a:pathLst>
              <a:path w="571500" h="762000">
                <a:moveTo>
                  <a:pt x="0" y="0"/>
                </a:moveTo>
                <a:lnTo>
                  <a:pt x="571500" y="0"/>
                </a:lnTo>
                <a:lnTo>
                  <a:pt x="5715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9989426" y="8926227"/>
            <a:ext cx="2968354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41"/>
              </a:lnSpc>
            </a:pPr>
            <a:r>
              <a:rPr lang="en-US" sz="1617" b="1" spc="-47">
                <a:solidFill>
                  <a:srgbClr val="0062F8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GPS-based location assistance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995385" y="9441418"/>
            <a:ext cx="2560397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92"/>
              </a:lnSpc>
            </a:pPr>
            <a:r>
              <a:rPr lang="en-US" sz="1494" b="1" spc="-73" dirty="0">
                <a:solidFill>
                  <a:srgbClr val="51526C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When satellite fix is available.</a:t>
            </a:r>
          </a:p>
          <a:p>
            <a:pPr>
              <a:lnSpc>
                <a:spcPts val="1792"/>
              </a:lnSpc>
            </a:pPr>
            <a:r>
              <a:rPr lang="en-US" sz="1494" b="1" spc="-73" dirty="0">
                <a:solidFill>
                  <a:srgbClr val="51526C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Saves last-known location and retries after coverage returns.</a:t>
            </a:r>
          </a:p>
        </p:txBody>
      </p:sp>
      <p:sp>
        <p:nvSpPr>
          <p:cNvPr id="41" name="Freeform 41"/>
          <p:cNvSpPr/>
          <p:nvPr/>
        </p:nvSpPr>
        <p:spPr>
          <a:xfrm>
            <a:off x="13497244" y="8785788"/>
            <a:ext cx="218756" cy="1301598"/>
          </a:xfrm>
          <a:custGeom>
            <a:avLst/>
            <a:gdLst/>
            <a:ahLst/>
            <a:cxnLst/>
            <a:rect l="l" t="t" r="r" b="b"/>
            <a:pathLst>
              <a:path w="190500" h="1133475">
                <a:moveTo>
                  <a:pt x="0" y="0"/>
                </a:moveTo>
                <a:lnTo>
                  <a:pt x="190500" y="0"/>
                </a:lnTo>
                <a:lnTo>
                  <a:pt x="190500" y="1133475"/>
                </a:lnTo>
                <a:lnTo>
                  <a:pt x="0" y="11334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13923819" y="8785787"/>
            <a:ext cx="667206" cy="875024"/>
          </a:xfrm>
          <a:custGeom>
            <a:avLst/>
            <a:gdLst/>
            <a:ahLst/>
            <a:cxnLst/>
            <a:rect l="l" t="t" r="r" b="b"/>
            <a:pathLst>
              <a:path w="581025" h="762000">
                <a:moveTo>
                  <a:pt x="0" y="0"/>
                </a:moveTo>
                <a:lnTo>
                  <a:pt x="581025" y="0"/>
                </a:lnTo>
                <a:lnTo>
                  <a:pt x="58102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14842619" y="8941296"/>
            <a:ext cx="2531136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41"/>
              </a:lnSpc>
            </a:pPr>
            <a:r>
              <a:rPr lang="en-US" sz="1617" b="1" spc="-47">
                <a:solidFill>
                  <a:srgbClr val="0062F8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Buzzer, flash and vibration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4842619" y="9380048"/>
            <a:ext cx="2814804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92"/>
              </a:lnSpc>
            </a:pPr>
            <a:r>
              <a:rPr lang="en-US" sz="1494" b="1" spc="-73" dirty="0">
                <a:solidFill>
                  <a:srgbClr val="51526C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Layered alerts for faster response and nearby attention.</a:t>
            </a:r>
          </a:p>
        </p:txBody>
      </p:sp>
      <p:sp>
        <p:nvSpPr>
          <p:cNvPr id="45" name="Freeform 45"/>
          <p:cNvSpPr/>
          <p:nvPr/>
        </p:nvSpPr>
        <p:spPr>
          <a:xfrm>
            <a:off x="6529866" y="2573117"/>
            <a:ext cx="229694" cy="5797033"/>
          </a:xfrm>
          <a:custGeom>
            <a:avLst/>
            <a:gdLst/>
            <a:ahLst/>
            <a:cxnLst/>
            <a:rect l="l" t="t" r="r" b="b"/>
            <a:pathLst>
              <a:path w="200025" h="5048250">
                <a:moveTo>
                  <a:pt x="0" y="0"/>
                </a:moveTo>
                <a:lnTo>
                  <a:pt x="200025" y="0"/>
                </a:lnTo>
                <a:lnTo>
                  <a:pt x="200025" y="5048250"/>
                </a:lnTo>
                <a:lnTo>
                  <a:pt x="0" y="50482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46" name="TextBox 46"/>
          <p:cNvSpPr txBox="1"/>
          <p:nvPr/>
        </p:nvSpPr>
        <p:spPr>
          <a:xfrm>
            <a:off x="6891775" y="2592004"/>
            <a:ext cx="4659318" cy="39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95"/>
              </a:lnSpc>
            </a:pPr>
            <a:r>
              <a:rPr lang="en-US" sz="2895" b="1" spc="-57">
                <a:solidFill>
                  <a:srgbClr val="0062F8"/>
                </a:solidFill>
                <a:latin typeface="Microsoft Tai Le" panose="020B0502040204020203" pitchFamily="34" charset="0"/>
                <a:ea typeface="Inter Ultra-Bold"/>
                <a:cs typeface="Microsoft Tai Le" panose="020B0502040204020203" pitchFamily="34" charset="0"/>
                <a:sym typeface="Inter Ultra-Bold"/>
              </a:rPr>
              <a:t>CUSTOMER </a:t>
            </a:r>
            <a:r>
              <a:rPr lang="en-US" sz="2895" b="1" spc="-57">
                <a:solidFill>
                  <a:srgbClr val="050A30"/>
                </a:solidFill>
                <a:latin typeface="Microsoft Tai Le" panose="020B0502040204020203" pitchFamily="34" charset="0"/>
                <a:ea typeface="Inter Ultra-Bold"/>
                <a:cs typeface="Microsoft Tai Le" panose="020B0502040204020203" pitchFamily="34" charset="0"/>
                <a:sym typeface="Inter Ultra-Bold"/>
              </a:rPr>
              <a:t># CONSUMER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892491" y="3053507"/>
            <a:ext cx="4587589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68"/>
              </a:lnSpc>
            </a:pPr>
            <a:r>
              <a:rPr lang="en-US" sz="1724" b="1" spc="-85">
                <a:solidFill>
                  <a:srgbClr val="51526C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Different stakeholders, both important for adoption and scale.</a:t>
            </a:r>
          </a:p>
        </p:txBody>
      </p:sp>
      <p:sp>
        <p:nvSpPr>
          <p:cNvPr id="48" name="Freeform 48"/>
          <p:cNvSpPr/>
          <p:nvPr/>
        </p:nvSpPr>
        <p:spPr>
          <a:xfrm>
            <a:off x="6748622" y="3645021"/>
            <a:ext cx="5009512" cy="2581321"/>
          </a:xfrm>
          <a:custGeom>
            <a:avLst/>
            <a:gdLst/>
            <a:ahLst/>
            <a:cxnLst/>
            <a:rect l="l" t="t" r="r" b="b"/>
            <a:pathLst>
              <a:path w="4362450" h="2247900">
                <a:moveTo>
                  <a:pt x="0" y="0"/>
                </a:moveTo>
                <a:lnTo>
                  <a:pt x="4362450" y="0"/>
                </a:lnTo>
                <a:lnTo>
                  <a:pt x="4362450" y="2247900"/>
                </a:lnTo>
                <a:lnTo>
                  <a:pt x="0" y="224790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6956441" y="3852840"/>
            <a:ext cx="885962" cy="875024"/>
          </a:xfrm>
          <a:custGeom>
            <a:avLst/>
            <a:gdLst/>
            <a:ahLst/>
            <a:cxnLst/>
            <a:rect l="l" t="t" r="r" b="b"/>
            <a:pathLst>
              <a:path w="771525" h="762000">
                <a:moveTo>
                  <a:pt x="0" y="0"/>
                </a:moveTo>
                <a:lnTo>
                  <a:pt x="771525" y="0"/>
                </a:lnTo>
                <a:lnTo>
                  <a:pt x="77152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50" name="TextBox 50"/>
          <p:cNvSpPr txBox="1"/>
          <p:nvPr/>
        </p:nvSpPr>
        <p:spPr>
          <a:xfrm>
            <a:off x="8038774" y="3922584"/>
            <a:ext cx="2473396" cy="256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5"/>
              </a:lnSpc>
            </a:pPr>
            <a:r>
              <a:rPr lang="en-US" sz="1915" b="1" spc="-38">
                <a:solidFill>
                  <a:srgbClr val="0062F8"/>
                </a:solidFill>
                <a:latin typeface="Microsoft Tai Le" panose="020B0502040204020203" pitchFamily="34" charset="0"/>
                <a:ea typeface="Inter Ultra-Bold"/>
                <a:cs typeface="Microsoft Tai Le" panose="020B0502040204020203" pitchFamily="34" charset="0"/>
                <a:sym typeface="Inter Ultra-Bold"/>
              </a:rPr>
              <a:t>CUSTOMER / PAYER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975096" y="4176705"/>
            <a:ext cx="3772100" cy="2037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7210" lvl="1" indent="-173606">
              <a:lnSpc>
                <a:spcPts val="2252"/>
              </a:lnSpc>
              <a:buFont typeface="Arial"/>
              <a:buChar char="•"/>
            </a:pPr>
            <a:r>
              <a:rPr lang="en-US" sz="1609" b="1" spc="-79">
                <a:solidFill>
                  <a:srgbClr val="51526C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Parents, partners and family members buying for their loved ones.</a:t>
            </a:r>
          </a:p>
          <a:p>
            <a:pPr marL="347210" lvl="1" indent="-173606">
              <a:lnSpc>
                <a:spcPts val="2252"/>
              </a:lnSpc>
              <a:buFont typeface="Arial"/>
              <a:buChar char="•"/>
            </a:pPr>
            <a:r>
              <a:rPr lang="en-US" sz="1609" b="1" spc="-79">
                <a:solidFill>
                  <a:srgbClr val="51526C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Colleges, employers and organizations procuring for groups (students, employees).</a:t>
            </a:r>
          </a:p>
          <a:p>
            <a:pPr marL="347210" lvl="1" indent="-173606">
              <a:lnSpc>
                <a:spcPts val="2252"/>
              </a:lnSpc>
              <a:buFont typeface="Arial"/>
              <a:buChar char="•"/>
            </a:pPr>
            <a:r>
              <a:rPr lang="en-US" sz="1609" b="1" spc="-79">
                <a:solidFill>
                  <a:srgbClr val="51526C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NGOs and community programs for large-scale deployment.</a:t>
            </a:r>
          </a:p>
        </p:txBody>
      </p:sp>
      <p:sp>
        <p:nvSpPr>
          <p:cNvPr id="52" name="Freeform 52"/>
          <p:cNvSpPr/>
          <p:nvPr/>
        </p:nvSpPr>
        <p:spPr>
          <a:xfrm>
            <a:off x="11747197" y="2573117"/>
            <a:ext cx="229694" cy="5797033"/>
          </a:xfrm>
          <a:custGeom>
            <a:avLst/>
            <a:gdLst/>
            <a:ahLst/>
            <a:cxnLst/>
            <a:rect l="l" t="t" r="r" b="b"/>
            <a:pathLst>
              <a:path w="200025" h="5048250">
                <a:moveTo>
                  <a:pt x="0" y="0"/>
                </a:moveTo>
                <a:lnTo>
                  <a:pt x="200025" y="0"/>
                </a:lnTo>
                <a:lnTo>
                  <a:pt x="200025" y="5048250"/>
                </a:lnTo>
                <a:lnTo>
                  <a:pt x="0" y="504825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53" name="TextBox 53"/>
          <p:cNvSpPr txBox="1"/>
          <p:nvPr/>
        </p:nvSpPr>
        <p:spPr>
          <a:xfrm>
            <a:off x="12102897" y="2591311"/>
            <a:ext cx="3254904" cy="42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68"/>
              </a:lnSpc>
            </a:pPr>
            <a:r>
              <a:rPr lang="en-US" sz="3168" b="1" spc="-63">
                <a:solidFill>
                  <a:srgbClr val="0062F8"/>
                </a:solidFill>
                <a:latin typeface="Microsoft Tai Le" panose="020B0502040204020203" pitchFamily="34" charset="0"/>
                <a:ea typeface="Inter Ultra-Bold"/>
                <a:cs typeface="Microsoft Tai Le" panose="020B0502040204020203" pitchFamily="34" charset="0"/>
                <a:sym typeface="Inter Ultra-Bold"/>
              </a:rPr>
              <a:t>MAKE SAFETY A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2091613" y="3028309"/>
            <a:ext cx="4383197" cy="42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68"/>
              </a:lnSpc>
            </a:pPr>
            <a:r>
              <a:rPr lang="en-US" sz="3168" b="1" spc="-63">
                <a:solidFill>
                  <a:srgbClr val="050A30"/>
                </a:solidFill>
                <a:latin typeface="Microsoft Tai Le" panose="020B0502040204020203" pitchFamily="34" charset="0"/>
                <a:ea typeface="Inter Ultra-Bold"/>
                <a:cs typeface="Microsoft Tai Le" panose="020B0502040204020203" pitchFamily="34" charset="0"/>
                <a:sym typeface="Inter Ultra-Bold"/>
              </a:rPr>
              <a:t>FASHION ACCESSORY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2081054" y="3535710"/>
            <a:ext cx="5439203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88"/>
              </a:lnSpc>
            </a:pPr>
            <a:r>
              <a:rPr lang="en-US" sz="1740" b="1" spc="-52">
                <a:solidFill>
                  <a:srgbClr val="51526C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A functional safety device that looks good and fits into everyday life.</a:t>
            </a:r>
          </a:p>
        </p:txBody>
      </p:sp>
      <p:sp>
        <p:nvSpPr>
          <p:cNvPr id="56" name="Freeform 56"/>
          <p:cNvSpPr/>
          <p:nvPr/>
        </p:nvSpPr>
        <p:spPr>
          <a:xfrm>
            <a:off x="11965952" y="4071596"/>
            <a:ext cx="3937608" cy="2154746"/>
          </a:xfrm>
          <a:custGeom>
            <a:avLst/>
            <a:gdLst/>
            <a:ahLst/>
            <a:cxnLst/>
            <a:rect l="l" t="t" r="r" b="b"/>
            <a:pathLst>
              <a:path w="3429000" h="1876425">
                <a:moveTo>
                  <a:pt x="0" y="0"/>
                </a:moveTo>
                <a:lnTo>
                  <a:pt x="3429000" y="0"/>
                </a:lnTo>
                <a:lnTo>
                  <a:pt x="3429000" y="1876425"/>
                </a:lnTo>
                <a:lnTo>
                  <a:pt x="0" y="187642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57" name="TextBox 57"/>
          <p:cNvSpPr txBox="1"/>
          <p:nvPr/>
        </p:nvSpPr>
        <p:spPr>
          <a:xfrm>
            <a:off x="12228414" y="4349429"/>
            <a:ext cx="1418867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6"/>
              </a:lnSpc>
            </a:pPr>
            <a:r>
              <a:rPr lang="en-US" sz="1863" b="1" spc="-55" dirty="0">
                <a:solidFill>
                  <a:srgbClr val="0062F8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Style options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2128622" y="4673243"/>
            <a:ext cx="3774938" cy="1118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7852" lvl="1" indent="-168925">
              <a:lnSpc>
                <a:spcPts val="2191"/>
              </a:lnSpc>
              <a:buFont typeface="Arial"/>
              <a:buChar char="•"/>
            </a:pPr>
            <a:r>
              <a:rPr lang="en-US" sz="1565" b="1" spc="-77" dirty="0">
                <a:solidFill>
                  <a:srgbClr val="51526C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keychain, bag charm and more.</a:t>
            </a:r>
          </a:p>
          <a:p>
            <a:pPr marL="337852" lvl="1" indent="-168925">
              <a:lnSpc>
                <a:spcPts val="2191"/>
              </a:lnSpc>
              <a:buFont typeface="Arial"/>
              <a:buChar char="•"/>
            </a:pPr>
            <a:r>
              <a:rPr lang="en-US" sz="1565" b="1" spc="-77" dirty="0">
                <a:solidFill>
                  <a:srgbClr val="51526C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Multiple </a:t>
            </a:r>
            <a:r>
              <a:rPr lang="en-US" sz="1565" b="1" spc="-77" dirty="0" err="1">
                <a:solidFill>
                  <a:srgbClr val="51526C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colours</a:t>
            </a:r>
            <a:r>
              <a:rPr lang="en-US" sz="1565" b="1" spc="-77" dirty="0">
                <a:solidFill>
                  <a:srgbClr val="51526C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 and replaceable shells.</a:t>
            </a:r>
          </a:p>
          <a:p>
            <a:pPr marL="337852" lvl="1" indent="-168925">
              <a:lnSpc>
                <a:spcPts val="2191"/>
              </a:lnSpc>
              <a:buFont typeface="Arial"/>
              <a:buChar char="•"/>
            </a:pPr>
            <a:r>
              <a:rPr lang="en-US" sz="1565" b="1" spc="-77" dirty="0">
                <a:solidFill>
                  <a:srgbClr val="51526C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Discreet, lightweight and comfortable design.</a:t>
            </a:r>
          </a:p>
        </p:txBody>
      </p:sp>
      <p:sp>
        <p:nvSpPr>
          <p:cNvPr id="59" name="Freeform 59"/>
          <p:cNvSpPr/>
          <p:nvPr/>
        </p:nvSpPr>
        <p:spPr>
          <a:xfrm>
            <a:off x="11965953" y="5996649"/>
            <a:ext cx="6114230" cy="2373502"/>
          </a:xfrm>
          <a:custGeom>
            <a:avLst/>
            <a:gdLst/>
            <a:ahLst/>
            <a:cxnLst/>
            <a:rect l="l" t="t" r="r" b="b"/>
            <a:pathLst>
              <a:path w="5324475" h="2066925">
                <a:moveTo>
                  <a:pt x="0" y="0"/>
                </a:moveTo>
                <a:lnTo>
                  <a:pt x="5324475" y="0"/>
                </a:lnTo>
                <a:lnTo>
                  <a:pt x="5324475" y="2066925"/>
                </a:lnTo>
                <a:lnTo>
                  <a:pt x="0" y="206692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60" name="TextBox 60"/>
          <p:cNvSpPr txBox="1"/>
          <p:nvPr/>
        </p:nvSpPr>
        <p:spPr>
          <a:xfrm>
            <a:off x="12164343" y="6278241"/>
            <a:ext cx="2468132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6"/>
              </a:lnSpc>
            </a:pPr>
            <a:r>
              <a:rPr lang="en-US" sz="1863" b="1" spc="-55">
                <a:solidFill>
                  <a:srgbClr val="0062F8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Go-to-market strategy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2087584" y="6591852"/>
            <a:ext cx="5890155" cy="182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1991" lvl="1" indent="-185996">
              <a:lnSpc>
                <a:spcPts val="2413"/>
              </a:lnSpc>
              <a:buFont typeface="Arial"/>
              <a:buChar char="•"/>
            </a:pPr>
            <a:r>
              <a:rPr lang="en-US" sz="1724" b="1" spc="-85">
                <a:solidFill>
                  <a:srgbClr val="51526C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Campus pilots and college partnerships.</a:t>
            </a:r>
          </a:p>
          <a:p>
            <a:pPr marL="371991" lvl="1" indent="-185996">
              <a:lnSpc>
                <a:spcPts val="2413"/>
              </a:lnSpc>
              <a:buFont typeface="Arial"/>
              <a:buChar char="•"/>
            </a:pPr>
            <a:r>
              <a:rPr lang="en-US" sz="1724" b="1" spc="-85">
                <a:solidFill>
                  <a:srgbClr val="51526C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Parent/family gifting as a safety essential.</a:t>
            </a:r>
          </a:p>
          <a:p>
            <a:pPr marL="371991" lvl="1" indent="-185996">
              <a:lnSpc>
                <a:spcPts val="2413"/>
              </a:lnSpc>
              <a:buFont typeface="Arial"/>
              <a:buChar char="•"/>
            </a:pPr>
            <a:r>
              <a:rPr lang="en-US" sz="1724" b="1" spc="-85">
                <a:solidFill>
                  <a:srgbClr val="51526C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Partnerships with schools, employers and NGOs.</a:t>
            </a:r>
          </a:p>
          <a:p>
            <a:pPr marL="371991" lvl="1" indent="-185996">
              <a:lnSpc>
                <a:spcPts val="2413"/>
              </a:lnSpc>
              <a:buFont typeface="Arial"/>
              <a:buChar char="•"/>
            </a:pPr>
            <a:r>
              <a:rPr lang="en-US" sz="1724" b="1" spc="-85">
                <a:solidFill>
                  <a:srgbClr val="51526C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Collaborations with women creators and influencers.</a:t>
            </a:r>
          </a:p>
          <a:p>
            <a:pPr marL="371991" lvl="1" indent="-185996">
              <a:lnSpc>
                <a:spcPts val="2413"/>
              </a:lnSpc>
              <a:buFont typeface="Arial"/>
              <a:buChar char="•"/>
            </a:pPr>
            <a:r>
              <a:rPr lang="en-US" sz="1724" b="1" spc="-85">
                <a:solidFill>
                  <a:srgbClr val="51526C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Direct-to-consumer website and online marketplaces.</a:t>
            </a:r>
          </a:p>
          <a:p>
            <a:pPr marL="371991" lvl="1" indent="-185996">
              <a:lnSpc>
                <a:spcPts val="2413"/>
              </a:lnSpc>
              <a:buFont typeface="Arial"/>
              <a:buChar char="•"/>
            </a:pPr>
            <a:r>
              <a:rPr lang="en-US" sz="1724" b="1" spc="-85">
                <a:solidFill>
                  <a:srgbClr val="51526C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Community safety workshops and awareness drives.</a:t>
            </a:r>
          </a:p>
        </p:txBody>
      </p:sp>
      <p:sp>
        <p:nvSpPr>
          <p:cNvPr id="62" name="Freeform 62"/>
          <p:cNvSpPr/>
          <p:nvPr/>
        </p:nvSpPr>
        <p:spPr>
          <a:xfrm>
            <a:off x="15673866" y="4071596"/>
            <a:ext cx="2406316" cy="1935990"/>
          </a:xfrm>
          <a:custGeom>
            <a:avLst/>
            <a:gdLst/>
            <a:ahLst/>
            <a:cxnLst/>
            <a:rect l="l" t="t" r="r" b="b"/>
            <a:pathLst>
              <a:path w="2095500" h="1685925">
                <a:moveTo>
                  <a:pt x="0" y="0"/>
                </a:moveTo>
                <a:lnTo>
                  <a:pt x="2095500" y="0"/>
                </a:lnTo>
                <a:lnTo>
                  <a:pt x="2095500" y="1685925"/>
                </a:lnTo>
                <a:lnTo>
                  <a:pt x="0" y="168592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63" name="Freeform 63"/>
          <p:cNvSpPr/>
          <p:nvPr/>
        </p:nvSpPr>
        <p:spPr>
          <a:xfrm>
            <a:off x="6748622" y="6215405"/>
            <a:ext cx="5009512" cy="2154746"/>
          </a:xfrm>
          <a:custGeom>
            <a:avLst/>
            <a:gdLst/>
            <a:ahLst/>
            <a:cxnLst/>
            <a:rect l="l" t="t" r="r" b="b"/>
            <a:pathLst>
              <a:path w="4362450" h="1876425">
                <a:moveTo>
                  <a:pt x="0" y="0"/>
                </a:moveTo>
                <a:lnTo>
                  <a:pt x="4362450" y="0"/>
                </a:lnTo>
                <a:lnTo>
                  <a:pt x="4362450" y="1876425"/>
                </a:lnTo>
                <a:lnTo>
                  <a:pt x="0" y="187642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64" name="Freeform 64"/>
          <p:cNvSpPr/>
          <p:nvPr/>
        </p:nvSpPr>
        <p:spPr>
          <a:xfrm>
            <a:off x="7175197" y="6434161"/>
            <a:ext cx="667206" cy="645330"/>
          </a:xfrm>
          <a:custGeom>
            <a:avLst/>
            <a:gdLst/>
            <a:ahLst/>
            <a:cxnLst/>
            <a:rect l="l" t="t" r="r" b="b"/>
            <a:pathLst>
              <a:path w="581025" h="561975">
                <a:moveTo>
                  <a:pt x="0" y="0"/>
                </a:moveTo>
                <a:lnTo>
                  <a:pt x="581025" y="0"/>
                </a:lnTo>
                <a:lnTo>
                  <a:pt x="581025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65" name="TextBox 65"/>
          <p:cNvSpPr txBox="1"/>
          <p:nvPr/>
        </p:nvSpPr>
        <p:spPr>
          <a:xfrm>
            <a:off x="8088371" y="6454151"/>
            <a:ext cx="2871498" cy="256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5"/>
              </a:lnSpc>
            </a:pPr>
            <a:r>
              <a:rPr lang="en-US" sz="1915" b="1" spc="-38">
                <a:solidFill>
                  <a:srgbClr val="0062F8"/>
                </a:solidFill>
                <a:latin typeface="Microsoft Tai Le" panose="020B0502040204020203" pitchFamily="34" charset="0"/>
                <a:ea typeface="Inter Ultra-Bold"/>
                <a:cs typeface="Microsoft Tai Le" panose="020B0502040204020203" pitchFamily="34" charset="0"/>
                <a:sym typeface="Inter Ultra-Bold"/>
              </a:rPr>
              <a:t>CONSUMER / END USER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003959" y="6753478"/>
            <a:ext cx="3275977" cy="1462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7210" lvl="1" indent="-173606">
              <a:lnSpc>
                <a:spcPts val="2252"/>
              </a:lnSpc>
              <a:buFont typeface="Arial"/>
              <a:buChar char="•"/>
            </a:pPr>
            <a:r>
              <a:rPr lang="en-US" sz="1609" b="1" spc="-79">
                <a:solidFill>
                  <a:srgbClr val="51526C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Women and girls.</a:t>
            </a:r>
          </a:p>
          <a:p>
            <a:pPr marL="347210" lvl="1" indent="-173606">
              <a:lnSpc>
                <a:spcPts val="2252"/>
              </a:lnSpc>
              <a:buFont typeface="Arial"/>
              <a:buChar char="•"/>
            </a:pPr>
            <a:r>
              <a:rPr lang="en-US" sz="1609" b="1" spc="-79">
                <a:solidFill>
                  <a:srgbClr val="51526C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Women and their professionals and travelers.</a:t>
            </a:r>
          </a:p>
          <a:p>
            <a:pPr marL="347210" lvl="1" indent="-173606">
              <a:lnSpc>
                <a:spcPts val="2252"/>
              </a:lnSpc>
              <a:buFont typeface="Arial"/>
              <a:buChar char="•"/>
            </a:pPr>
            <a:r>
              <a:rPr lang="en-US" sz="1609" b="1" spc="-79">
                <a:solidFill>
                  <a:srgbClr val="51526C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Wear and use the device in daily life for personal safety.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763658" y="5189152"/>
            <a:ext cx="479550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41"/>
              </a:lnSpc>
            </a:pPr>
            <a:r>
              <a:rPr lang="en-US" sz="1617" b="1" spc="-32">
                <a:solidFill>
                  <a:srgbClr val="050A30"/>
                </a:solidFill>
                <a:latin typeface="Microsoft Tai Le" panose="020B0502040204020203" pitchFamily="34" charset="0"/>
                <a:ea typeface="Inter Bold"/>
                <a:cs typeface="Microsoft Tai Le" panose="020B0502040204020203" pitchFamily="34" charset="0"/>
                <a:sym typeface="Inter Bold"/>
              </a:rPr>
              <a:t>SAM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763603" y="6605624"/>
            <a:ext cx="485049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41"/>
              </a:lnSpc>
            </a:pPr>
            <a:r>
              <a:rPr lang="en-US" sz="1617" b="1" spc="-32">
                <a:solidFill>
                  <a:srgbClr val="050A30"/>
                </a:solidFill>
                <a:latin typeface="Microsoft Tai Le" panose="020B0502040204020203" pitchFamily="34" charset="0"/>
                <a:ea typeface="Inter Bold"/>
                <a:cs typeface="Microsoft Tai Le" panose="020B0502040204020203" pitchFamily="34" charset="0"/>
                <a:sym typeface="Inter Bold"/>
              </a:rPr>
              <a:t>SOM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602910" y="3772681"/>
            <a:ext cx="480899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41"/>
              </a:lnSpc>
            </a:pPr>
            <a:r>
              <a:rPr lang="en-US" sz="1617" b="1" spc="-32">
                <a:solidFill>
                  <a:srgbClr val="050A30"/>
                </a:solidFill>
                <a:latin typeface="Microsoft Tai Le" panose="020B0502040204020203" pitchFamily="34" charset="0"/>
                <a:ea typeface="Inter Bold"/>
                <a:cs typeface="Microsoft Tai Le" panose="020B0502040204020203" pitchFamily="34" charset="0"/>
                <a:sym typeface="Inter Bold"/>
              </a:rPr>
              <a:t>TAM</a:t>
            </a:r>
          </a:p>
        </p:txBody>
      </p:sp>
      <p:sp>
        <p:nvSpPr>
          <p:cNvPr id="70" name="TextBox 6">
            <a:extLst>
              <a:ext uri="{FF2B5EF4-FFF2-40B4-BE49-F238E27FC236}">
                <a16:creationId xmlns:a16="http://schemas.microsoft.com/office/drawing/2014/main" id="{98095D57-1807-467D-AB33-6D676593108D}"/>
              </a:ext>
            </a:extLst>
          </p:cNvPr>
          <p:cNvSpPr txBox="1"/>
          <p:nvPr/>
        </p:nvSpPr>
        <p:spPr>
          <a:xfrm>
            <a:off x="14227669" y="295907"/>
            <a:ext cx="2841131" cy="4244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42"/>
              </a:lnSpc>
            </a:pPr>
            <a:r>
              <a:rPr lang="en-US" sz="2783" b="1" dirty="0">
                <a:solidFill>
                  <a:srgbClr val="0A74FF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Colossal-a-Pitch</a:t>
            </a:r>
          </a:p>
        </p:txBody>
      </p:sp>
      <p:sp>
        <p:nvSpPr>
          <p:cNvPr id="71" name="TextBox 37">
            <a:extLst>
              <a:ext uri="{FF2B5EF4-FFF2-40B4-BE49-F238E27FC236}">
                <a16:creationId xmlns:a16="http://schemas.microsoft.com/office/drawing/2014/main" id="{5251ECDB-FA63-4DA4-BB7C-D01BDB13913C}"/>
              </a:ext>
            </a:extLst>
          </p:cNvPr>
          <p:cNvSpPr txBox="1"/>
          <p:nvPr/>
        </p:nvSpPr>
        <p:spPr>
          <a:xfrm>
            <a:off x="14243709" y="763042"/>
            <a:ext cx="3486165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61"/>
              </a:lnSpc>
            </a:pPr>
            <a:r>
              <a:rPr lang="en-US" sz="1634" b="1" dirty="0" err="1">
                <a:solidFill>
                  <a:srgbClr val="292E4B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Avinya</a:t>
            </a:r>
            <a:r>
              <a:rPr lang="en-US" sz="1634" b="1" dirty="0">
                <a:solidFill>
                  <a:srgbClr val="292E4B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 26</a:t>
            </a:r>
          </a:p>
        </p:txBody>
      </p:sp>
      <p:sp>
        <p:nvSpPr>
          <p:cNvPr id="72" name="TextBox 6">
            <a:extLst>
              <a:ext uri="{FF2B5EF4-FFF2-40B4-BE49-F238E27FC236}">
                <a16:creationId xmlns:a16="http://schemas.microsoft.com/office/drawing/2014/main" id="{2B46AFAF-B8EA-4118-A8CA-1B3859058FA1}"/>
              </a:ext>
            </a:extLst>
          </p:cNvPr>
          <p:cNvSpPr txBox="1"/>
          <p:nvPr/>
        </p:nvSpPr>
        <p:spPr>
          <a:xfrm>
            <a:off x="405634" y="412330"/>
            <a:ext cx="2841131" cy="4244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42"/>
              </a:lnSpc>
            </a:pPr>
            <a:r>
              <a:rPr lang="en-US" sz="2783" b="1" dirty="0">
                <a:solidFill>
                  <a:srgbClr val="0A74FF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Team Gamma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/>
          <p:nvPr/>
        </p:nvSpPr>
        <p:spPr>
          <a:xfrm>
            <a:off x="0" y="1282457"/>
            <a:ext cx="18080182" cy="229694"/>
          </a:xfrm>
          <a:custGeom>
            <a:avLst/>
            <a:gdLst/>
            <a:ahLst/>
            <a:cxnLst/>
            <a:rect l="l" t="t" r="r" b="b"/>
            <a:pathLst>
              <a:path w="15744825" h="200025">
                <a:moveTo>
                  <a:pt x="0" y="0"/>
                </a:moveTo>
                <a:lnTo>
                  <a:pt x="15744825" y="0"/>
                </a:lnTo>
                <a:lnTo>
                  <a:pt x="15744825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42986" y="1596199"/>
            <a:ext cx="3921874" cy="793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68"/>
              </a:lnSpc>
            </a:pPr>
            <a:r>
              <a:rPr lang="en-US" sz="5868" b="1" spc="-175" dirty="0">
                <a:solidFill>
                  <a:srgbClr val="0062FF"/>
                </a:solidFill>
                <a:latin typeface="Microsoft Tai Le" panose="020B0502040204020203" pitchFamily="34" charset="0"/>
                <a:ea typeface="Public Sans Heavy"/>
                <a:cs typeface="Microsoft Tai Le" panose="020B0502040204020203" pitchFamily="34" charset="0"/>
                <a:sym typeface="Public Sans Heavy"/>
              </a:rPr>
              <a:t>BUSINESS</a:t>
            </a:r>
          </a:p>
        </p:txBody>
      </p:sp>
      <p:sp>
        <p:nvSpPr>
          <p:cNvPr id="9" name="Freeform 9"/>
          <p:cNvSpPr/>
          <p:nvPr/>
        </p:nvSpPr>
        <p:spPr>
          <a:xfrm>
            <a:off x="426574" y="2146543"/>
            <a:ext cx="3937608" cy="218756"/>
          </a:xfrm>
          <a:custGeom>
            <a:avLst/>
            <a:gdLst/>
            <a:ahLst/>
            <a:cxnLst/>
            <a:rect l="l" t="t" r="r" b="b"/>
            <a:pathLst>
              <a:path w="3429000" h="190500">
                <a:moveTo>
                  <a:pt x="0" y="0"/>
                </a:moveTo>
                <a:lnTo>
                  <a:pt x="3429000" y="0"/>
                </a:lnTo>
                <a:lnTo>
                  <a:pt x="342900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401548" y="1596199"/>
            <a:ext cx="7222614" cy="793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68"/>
              </a:lnSpc>
            </a:pPr>
            <a:r>
              <a:rPr lang="en-US" sz="5868" b="1" spc="-175">
                <a:solidFill>
                  <a:srgbClr val="050A30"/>
                </a:solidFill>
                <a:latin typeface="Microsoft Tai Le" panose="020B0502040204020203" pitchFamily="34" charset="0"/>
                <a:ea typeface="Public Sans Heavy"/>
                <a:cs typeface="Microsoft Tai Le" panose="020B0502040204020203" pitchFamily="34" charset="0"/>
                <a:sym typeface="Public Sans Heavy"/>
              </a:rPr>
              <a:t>MODEL &amp; REVENUE</a:t>
            </a:r>
          </a:p>
        </p:txBody>
      </p:sp>
      <p:sp>
        <p:nvSpPr>
          <p:cNvPr id="11" name="TextBox 11"/>
          <p:cNvSpPr txBox="1"/>
          <p:nvPr/>
        </p:nvSpPr>
        <p:spPr>
          <a:xfrm rot="-10546">
            <a:off x="430725" y="2355906"/>
            <a:ext cx="10503861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73"/>
              </a:lnSpc>
            </a:pPr>
            <a:r>
              <a:rPr lang="en-US" sz="2310" b="1" spc="-68">
                <a:solidFill>
                  <a:srgbClr val="2C2C5B"/>
                </a:solidFill>
                <a:latin typeface="Microsoft Tai Le" panose="020B0502040204020203" pitchFamily="34" charset="0"/>
                <a:ea typeface="Inter Medium"/>
                <a:cs typeface="Microsoft Tai Le" panose="020B0502040204020203" pitchFamily="34" charset="0"/>
                <a:sym typeface="Inter Medium"/>
              </a:rPr>
              <a:t>Affordable device with value-added services for long-term, recurring revenue.</a:t>
            </a:r>
          </a:p>
        </p:txBody>
      </p:sp>
      <p:sp>
        <p:nvSpPr>
          <p:cNvPr id="12" name="Freeform 12"/>
          <p:cNvSpPr/>
          <p:nvPr/>
        </p:nvSpPr>
        <p:spPr>
          <a:xfrm>
            <a:off x="426575" y="2780935"/>
            <a:ext cx="4582938" cy="875024"/>
          </a:xfrm>
          <a:custGeom>
            <a:avLst/>
            <a:gdLst/>
            <a:ahLst/>
            <a:cxnLst/>
            <a:rect l="l" t="t" r="r" b="b"/>
            <a:pathLst>
              <a:path w="3990975" h="762000">
                <a:moveTo>
                  <a:pt x="0" y="0"/>
                </a:moveTo>
                <a:lnTo>
                  <a:pt x="3990975" y="0"/>
                </a:lnTo>
                <a:lnTo>
                  <a:pt x="399097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49874" y="3068576"/>
            <a:ext cx="1985291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73"/>
              </a:lnSpc>
            </a:pPr>
            <a:r>
              <a:rPr lang="en-US" sz="2310" b="1" spc="-68">
                <a:solidFill>
                  <a:srgbClr val="FFFFFF"/>
                </a:solidFill>
                <a:latin typeface="Microsoft Tai Le" panose="020B0502040204020203" pitchFamily="34" charset="0"/>
                <a:ea typeface="Inter Bold"/>
                <a:cs typeface="Microsoft Tai Le" panose="020B0502040204020203" pitchFamily="34" charset="0"/>
                <a:sym typeface="Inter Bold"/>
              </a:rPr>
              <a:t>Device Pricing</a:t>
            </a:r>
          </a:p>
        </p:txBody>
      </p:sp>
      <p:sp>
        <p:nvSpPr>
          <p:cNvPr id="14" name="Freeform 14"/>
          <p:cNvSpPr/>
          <p:nvPr/>
        </p:nvSpPr>
        <p:spPr>
          <a:xfrm>
            <a:off x="426575" y="3426265"/>
            <a:ext cx="4582938" cy="4090737"/>
          </a:xfrm>
          <a:custGeom>
            <a:avLst/>
            <a:gdLst/>
            <a:ahLst/>
            <a:cxnLst/>
            <a:rect l="l" t="t" r="r" b="b"/>
            <a:pathLst>
              <a:path w="3990975" h="3562350">
                <a:moveTo>
                  <a:pt x="0" y="0"/>
                </a:moveTo>
                <a:lnTo>
                  <a:pt x="3990975" y="0"/>
                </a:lnTo>
                <a:lnTo>
                  <a:pt x="3990975" y="3562350"/>
                </a:lnTo>
                <a:lnTo>
                  <a:pt x="0" y="35623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645331" y="3645021"/>
            <a:ext cx="1323474" cy="2362565"/>
          </a:xfrm>
          <a:custGeom>
            <a:avLst/>
            <a:gdLst/>
            <a:ahLst/>
            <a:cxnLst/>
            <a:rect l="l" t="t" r="r" b="b"/>
            <a:pathLst>
              <a:path w="1152525" h="2057400">
                <a:moveTo>
                  <a:pt x="0" y="0"/>
                </a:moveTo>
                <a:lnTo>
                  <a:pt x="1152525" y="0"/>
                </a:lnTo>
                <a:lnTo>
                  <a:pt x="1152525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739110" y="3852840"/>
            <a:ext cx="1750048" cy="2373502"/>
          </a:xfrm>
          <a:custGeom>
            <a:avLst/>
            <a:gdLst/>
            <a:ahLst/>
            <a:cxnLst/>
            <a:rect l="l" t="t" r="r" b="b"/>
            <a:pathLst>
              <a:path w="1524000" h="2066925">
                <a:moveTo>
                  <a:pt x="0" y="0"/>
                </a:moveTo>
                <a:lnTo>
                  <a:pt x="1524000" y="0"/>
                </a:lnTo>
                <a:lnTo>
                  <a:pt x="1524000" y="2066925"/>
                </a:lnTo>
                <a:lnTo>
                  <a:pt x="0" y="20669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3259464" y="3645021"/>
            <a:ext cx="1312536" cy="2581321"/>
          </a:xfrm>
          <a:custGeom>
            <a:avLst/>
            <a:gdLst/>
            <a:ahLst/>
            <a:cxnLst/>
            <a:rect l="l" t="t" r="r" b="b"/>
            <a:pathLst>
              <a:path w="1143000" h="2247900">
                <a:moveTo>
                  <a:pt x="0" y="0"/>
                </a:moveTo>
                <a:lnTo>
                  <a:pt x="1143000" y="0"/>
                </a:lnTo>
                <a:lnTo>
                  <a:pt x="1143000" y="2247900"/>
                </a:lnTo>
                <a:lnTo>
                  <a:pt x="0" y="22479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731115" y="6093283"/>
            <a:ext cx="1473925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40"/>
              </a:lnSpc>
            </a:pPr>
            <a:r>
              <a:rPr lang="en-US" sz="3366" b="1" spc="-100">
                <a:solidFill>
                  <a:srgbClr val="0062FF"/>
                </a:solidFill>
                <a:latin typeface="Microsoft Tai Le" panose="020B0502040204020203" pitchFamily="34" charset="0"/>
                <a:ea typeface="Inter Bold"/>
                <a:cs typeface="Microsoft Tai Le" panose="020B0502040204020203" pitchFamily="34" charset="0"/>
                <a:sym typeface="Inter Bold"/>
              </a:rPr>
              <a:t>₹3,000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49954" y="6937139"/>
            <a:ext cx="2732151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1"/>
              </a:lnSpc>
            </a:pPr>
            <a:r>
              <a:rPr lang="en-US" sz="1617" spc="-80">
                <a:solidFill>
                  <a:srgbClr val="2C2C5B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Includes device, basic features and 1 year warranty.</a:t>
            </a:r>
          </a:p>
        </p:txBody>
      </p:sp>
      <p:sp>
        <p:nvSpPr>
          <p:cNvPr id="20" name="Freeform 20"/>
          <p:cNvSpPr/>
          <p:nvPr/>
        </p:nvSpPr>
        <p:spPr>
          <a:xfrm>
            <a:off x="4998574" y="2780935"/>
            <a:ext cx="7634584" cy="875024"/>
          </a:xfrm>
          <a:custGeom>
            <a:avLst/>
            <a:gdLst/>
            <a:ahLst/>
            <a:cxnLst/>
            <a:rect l="l" t="t" r="r" b="b"/>
            <a:pathLst>
              <a:path w="6648450" h="762000">
                <a:moveTo>
                  <a:pt x="0" y="0"/>
                </a:moveTo>
                <a:lnTo>
                  <a:pt x="6648450" y="0"/>
                </a:lnTo>
                <a:lnTo>
                  <a:pt x="664845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5317646" y="3068576"/>
            <a:ext cx="4016685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73"/>
              </a:lnSpc>
            </a:pPr>
            <a:r>
              <a:rPr lang="en-US" sz="2310" b="1" spc="-68">
                <a:solidFill>
                  <a:srgbClr val="FFFFFF"/>
                </a:solidFill>
                <a:latin typeface="Microsoft Tai Le" panose="020B0502040204020203" pitchFamily="34" charset="0"/>
                <a:ea typeface="Inter Bold"/>
                <a:cs typeface="Microsoft Tai Le" panose="020B0502040204020203" pitchFamily="34" charset="0"/>
                <a:sym typeface="Inter Bold"/>
              </a:rPr>
              <a:t>Subscription Plans (Optional)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252619" y="3595986"/>
            <a:ext cx="5161662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88"/>
              </a:lnSpc>
            </a:pPr>
            <a:r>
              <a:rPr lang="en-US" sz="1740" spc="-86">
                <a:solidFill>
                  <a:srgbClr val="2C2C5B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Advanced features for higher safety and convenience.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229818" y="4089127"/>
            <a:ext cx="4009959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09"/>
              </a:lnSpc>
            </a:pPr>
            <a:r>
              <a:rPr lang="en-US" sz="2507" b="1" spc="-75">
                <a:solidFill>
                  <a:srgbClr val="0062FF"/>
                </a:solidFill>
                <a:latin typeface="Microsoft Tai Le" panose="020B0502040204020203" pitchFamily="34" charset="0"/>
                <a:ea typeface="Inter Bold"/>
                <a:cs typeface="Microsoft Tai Le" panose="020B0502040204020203" pitchFamily="34" charset="0"/>
                <a:sym typeface="Inter Bold"/>
              </a:rPr>
              <a:t>Premium (Subscription)</a:t>
            </a:r>
          </a:p>
        </p:txBody>
      </p:sp>
      <p:sp>
        <p:nvSpPr>
          <p:cNvPr id="24" name="Freeform 24"/>
          <p:cNvSpPr/>
          <p:nvPr/>
        </p:nvSpPr>
        <p:spPr>
          <a:xfrm>
            <a:off x="5251905" y="4891502"/>
            <a:ext cx="1022593" cy="229694"/>
          </a:xfrm>
          <a:custGeom>
            <a:avLst/>
            <a:gdLst/>
            <a:ahLst/>
            <a:cxnLst/>
            <a:rect l="l" t="t" r="r" b="b"/>
            <a:pathLst>
              <a:path w="890508" h="200025">
                <a:moveTo>
                  <a:pt x="0" y="0"/>
                </a:moveTo>
                <a:lnTo>
                  <a:pt x="890508" y="0"/>
                </a:lnTo>
                <a:lnTo>
                  <a:pt x="890508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66864" b="-66864"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6183874" y="4914808"/>
            <a:ext cx="5936732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30"/>
              </a:lnSpc>
            </a:pPr>
            <a:r>
              <a:rPr lang="en-US" sz="2191" spc="-109" dirty="0">
                <a:solidFill>
                  <a:srgbClr val="2C2C5B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Server-based calling (even if phone not available)</a:t>
            </a:r>
          </a:p>
        </p:txBody>
      </p:sp>
      <p:sp>
        <p:nvSpPr>
          <p:cNvPr id="26" name="Freeform 26"/>
          <p:cNvSpPr/>
          <p:nvPr/>
        </p:nvSpPr>
        <p:spPr>
          <a:xfrm>
            <a:off x="5251905" y="5329013"/>
            <a:ext cx="1022593" cy="437512"/>
          </a:xfrm>
          <a:custGeom>
            <a:avLst/>
            <a:gdLst/>
            <a:ahLst/>
            <a:cxnLst/>
            <a:rect l="l" t="t" r="r" b="b"/>
            <a:pathLst>
              <a:path w="890508" h="381000">
                <a:moveTo>
                  <a:pt x="0" y="0"/>
                </a:moveTo>
                <a:lnTo>
                  <a:pt x="890508" y="0"/>
                </a:lnTo>
                <a:lnTo>
                  <a:pt x="890508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t="-66864" b="-66864"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6180911" y="5427150"/>
            <a:ext cx="6233097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30"/>
              </a:lnSpc>
            </a:pPr>
            <a:r>
              <a:rPr lang="en-US" sz="2191" spc="-109" dirty="0">
                <a:solidFill>
                  <a:srgbClr val="2C2C5B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Complete access to agent with hindsight</a:t>
            </a:r>
          </a:p>
        </p:txBody>
      </p:sp>
      <p:sp>
        <p:nvSpPr>
          <p:cNvPr id="28" name="Freeform 28"/>
          <p:cNvSpPr/>
          <p:nvPr/>
        </p:nvSpPr>
        <p:spPr>
          <a:xfrm>
            <a:off x="5251905" y="5963406"/>
            <a:ext cx="1022593" cy="229694"/>
          </a:xfrm>
          <a:custGeom>
            <a:avLst/>
            <a:gdLst/>
            <a:ahLst/>
            <a:cxnLst/>
            <a:rect l="l" t="t" r="r" b="b"/>
            <a:pathLst>
              <a:path w="890508" h="200025">
                <a:moveTo>
                  <a:pt x="0" y="0"/>
                </a:moveTo>
                <a:lnTo>
                  <a:pt x="890508" y="0"/>
                </a:lnTo>
                <a:lnTo>
                  <a:pt x="890508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t="-66864" b="-66864"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6176526" y="5939490"/>
            <a:ext cx="6671495" cy="667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30"/>
              </a:lnSpc>
            </a:pPr>
            <a:r>
              <a:rPr lang="en-US" sz="2191" spc="-109" dirty="0">
                <a:solidFill>
                  <a:srgbClr val="2C2C5B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Night travel &amp; travel-alone mode (smart alerts, check-ins with hindsight)</a:t>
            </a:r>
          </a:p>
        </p:txBody>
      </p:sp>
      <p:sp>
        <p:nvSpPr>
          <p:cNvPr id="30" name="Freeform 30"/>
          <p:cNvSpPr/>
          <p:nvPr/>
        </p:nvSpPr>
        <p:spPr>
          <a:xfrm>
            <a:off x="5251905" y="6523160"/>
            <a:ext cx="1022593" cy="437512"/>
          </a:xfrm>
          <a:custGeom>
            <a:avLst/>
            <a:gdLst/>
            <a:ahLst/>
            <a:cxnLst/>
            <a:rect l="l" t="t" r="r" b="b"/>
            <a:pathLst>
              <a:path w="890508" h="381000">
                <a:moveTo>
                  <a:pt x="0" y="0"/>
                </a:moveTo>
                <a:lnTo>
                  <a:pt x="890508" y="0"/>
                </a:lnTo>
                <a:lnTo>
                  <a:pt x="890508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t="-66864" b="-66864"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5260422" y="6964162"/>
            <a:ext cx="1022593" cy="218756"/>
          </a:xfrm>
          <a:custGeom>
            <a:avLst/>
            <a:gdLst/>
            <a:ahLst/>
            <a:cxnLst/>
            <a:rect l="l" t="t" r="r" b="b"/>
            <a:pathLst>
              <a:path w="890508" h="190500">
                <a:moveTo>
                  <a:pt x="0" y="0"/>
                </a:moveTo>
                <a:lnTo>
                  <a:pt x="890508" y="0"/>
                </a:lnTo>
                <a:lnTo>
                  <a:pt x="890508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t="-66864" b="-66864"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6174389" y="6939391"/>
            <a:ext cx="6885216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18"/>
              </a:lnSpc>
            </a:pPr>
            <a:r>
              <a:rPr lang="en-US" sz="2015" spc="-100" dirty="0">
                <a:solidFill>
                  <a:srgbClr val="2C2C5B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Priority support and additional features</a:t>
            </a:r>
          </a:p>
        </p:txBody>
      </p:sp>
      <p:sp>
        <p:nvSpPr>
          <p:cNvPr id="33" name="Freeform 33"/>
          <p:cNvSpPr/>
          <p:nvPr/>
        </p:nvSpPr>
        <p:spPr>
          <a:xfrm>
            <a:off x="12622221" y="2780935"/>
            <a:ext cx="5457962" cy="875024"/>
          </a:xfrm>
          <a:custGeom>
            <a:avLst/>
            <a:gdLst/>
            <a:ahLst/>
            <a:cxnLst/>
            <a:rect l="l" t="t" r="r" b="b"/>
            <a:pathLst>
              <a:path w="4752975" h="762000">
                <a:moveTo>
                  <a:pt x="0" y="0"/>
                </a:moveTo>
                <a:lnTo>
                  <a:pt x="4752975" y="0"/>
                </a:lnTo>
                <a:lnTo>
                  <a:pt x="475297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12994321" y="3083644"/>
            <a:ext cx="2516455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73"/>
              </a:lnSpc>
            </a:pPr>
            <a:r>
              <a:rPr lang="en-US" sz="2310" b="1" spc="-68">
                <a:solidFill>
                  <a:srgbClr val="FFFFFF"/>
                </a:solidFill>
                <a:latin typeface="Microsoft Tai Le" panose="020B0502040204020203" pitchFamily="34" charset="0"/>
                <a:ea typeface="Inter Bold"/>
                <a:cs typeface="Microsoft Tai Le" panose="020B0502040204020203" pitchFamily="34" charset="0"/>
                <a:sym typeface="Inter Bold"/>
              </a:rPr>
              <a:t>Target Customers</a:t>
            </a:r>
          </a:p>
        </p:txBody>
      </p:sp>
      <p:sp>
        <p:nvSpPr>
          <p:cNvPr id="35" name="Freeform 35"/>
          <p:cNvSpPr/>
          <p:nvPr/>
        </p:nvSpPr>
        <p:spPr>
          <a:xfrm>
            <a:off x="12622221" y="3645022"/>
            <a:ext cx="5239206" cy="1082842"/>
          </a:xfrm>
          <a:custGeom>
            <a:avLst/>
            <a:gdLst/>
            <a:ahLst/>
            <a:cxnLst/>
            <a:rect l="l" t="t" r="r" b="b"/>
            <a:pathLst>
              <a:path w="4562475" h="942975">
                <a:moveTo>
                  <a:pt x="0" y="0"/>
                </a:moveTo>
                <a:lnTo>
                  <a:pt x="4562475" y="0"/>
                </a:lnTo>
                <a:lnTo>
                  <a:pt x="456247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3059732" y="3852840"/>
            <a:ext cx="656268" cy="656268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14101262" y="3776811"/>
            <a:ext cx="1657482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88"/>
              </a:lnSpc>
            </a:pPr>
            <a:r>
              <a:rPr lang="en-US" sz="1740" b="1" spc="-52">
                <a:solidFill>
                  <a:srgbClr val="0062FF"/>
                </a:solidFill>
                <a:latin typeface="Microsoft Tai Le" panose="020B0502040204020203" pitchFamily="34" charset="0"/>
                <a:ea typeface="Inter Bold"/>
                <a:cs typeface="Microsoft Tai Le" panose="020B0502040204020203" pitchFamily="34" charset="0"/>
                <a:sym typeface="Inter Bold"/>
              </a:rPr>
              <a:t>Individual Users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085896" y="4089127"/>
            <a:ext cx="3194057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41"/>
              </a:lnSpc>
            </a:pPr>
            <a:r>
              <a:rPr lang="en-US" sz="1617" spc="-80">
                <a:solidFill>
                  <a:srgbClr val="2C2C5B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Women and girls (students, working professionals, travelers).</a:t>
            </a:r>
          </a:p>
        </p:txBody>
      </p:sp>
      <p:sp>
        <p:nvSpPr>
          <p:cNvPr id="39" name="Freeform 39"/>
          <p:cNvSpPr/>
          <p:nvPr/>
        </p:nvSpPr>
        <p:spPr>
          <a:xfrm>
            <a:off x="12622221" y="4716926"/>
            <a:ext cx="5239206" cy="1082842"/>
          </a:xfrm>
          <a:custGeom>
            <a:avLst/>
            <a:gdLst/>
            <a:ahLst/>
            <a:cxnLst/>
            <a:rect l="l" t="t" r="r" b="b"/>
            <a:pathLst>
              <a:path w="4562475" h="942975">
                <a:moveTo>
                  <a:pt x="0" y="0"/>
                </a:moveTo>
                <a:lnTo>
                  <a:pt x="4562475" y="0"/>
                </a:lnTo>
                <a:lnTo>
                  <a:pt x="456247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3059732" y="4924744"/>
            <a:ext cx="875024" cy="656268"/>
          </a:xfrm>
          <a:custGeom>
            <a:avLst/>
            <a:gdLst/>
            <a:ahLst/>
            <a:cxnLst/>
            <a:rect l="l" t="t" r="r" b="b"/>
            <a:pathLst>
              <a:path w="762000" h="571500">
                <a:moveTo>
                  <a:pt x="0" y="0"/>
                </a:moveTo>
                <a:lnTo>
                  <a:pt x="762000" y="0"/>
                </a:lnTo>
                <a:lnTo>
                  <a:pt x="7620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12622221" y="5788830"/>
            <a:ext cx="5239206" cy="1728172"/>
          </a:xfrm>
          <a:custGeom>
            <a:avLst/>
            <a:gdLst/>
            <a:ahLst/>
            <a:cxnLst/>
            <a:rect l="l" t="t" r="r" b="b"/>
            <a:pathLst>
              <a:path w="4562475" h="1504950">
                <a:moveTo>
                  <a:pt x="0" y="0"/>
                </a:moveTo>
                <a:lnTo>
                  <a:pt x="4562475" y="0"/>
                </a:lnTo>
                <a:lnTo>
                  <a:pt x="45624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13059732" y="5996648"/>
            <a:ext cx="875024" cy="875024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14082876" y="6409729"/>
            <a:ext cx="3496135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92"/>
              </a:lnSpc>
            </a:pPr>
            <a:r>
              <a:rPr lang="en-US" sz="1494" spc="-73">
                <a:solidFill>
                  <a:srgbClr val="2C2C5B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Schools, colleges, hostels, companies (employee safety), NGOs and government programs.</a:t>
            </a:r>
          </a:p>
        </p:txBody>
      </p:sp>
      <p:sp>
        <p:nvSpPr>
          <p:cNvPr id="44" name="Freeform 44"/>
          <p:cNvSpPr/>
          <p:nvPr/>
        </p:nvSpPr>
        <p:spPr>
          <a:xfrm>
            <a:off x="426574" y="7506065"/>
            <a:ext cx="17653608" cy="864086"/>
          </a:xfrm>
          <a:custGeom>
            <a:avLst/>
            <a:gdLst/>
            <a:ahLst/>
            <a:cxnLst/>
            <a:rect l="l" t="t" r="r" b="b"/>
            <a:pathLst>
              <a:path w="15373350" h="752475">
                <a:moveTo>
                  <a:pt x="0" y="0"/>
                </a:moveTo>
                <a:lnTo>
                  <a:pt x="15373350" y="0"/>
                </a:lnTo>
                <a:lnTo>
                  <a:pt x="15373350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45" name="TextBox 45"/>
          <p:cNvSpPr txBox="1"/>
          <p:nvPr/>
        </p:nvSpPr>
        <p:spPr>
          <a:xfrm>
            <a:off x="636788" y="7739919"/>
            <a:ext cx="3293851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73"/>
              </a:lnSpc>
            </a:pPr>
            <a:r>
              <a:rPr lang="en-US" sz="2310" b="1" spc="-68">
                <a:solidFill>
                  <a:srgbClr val="0062FF"/>
                </a:solidFill>
                <a:latin typeface="Microsoft Tai Le" panose="020B0502040204020203" pitchFamily="34" charset="0"/>
                <a:ea typeface="Inter Bold"/>
                <a:cs typeface="Microsoft Tai Le" panose="020B0502040204020203" pitchFamily="34" charset="0"/>
                <a:sym typeface="Inter Bold"/>
              </a:rPr>
              <a:t>Other Revenue Streams</a:t>
            </a:r>
          </a:p>
        </p:txBody>
      </p:sp>
      <p:sp>
        <p:nvSpPr>
          <p:cNvPr id="46" name="Freeform 46"/>
          <p:cNvSpPr/>
          <p:nvPr/>
        </p:nvSpPr>
        <p:spPr>
          <a:xfrm>
            <a:off x="426574" y="8140457"/>
            <a:ext cx="17653608" cy="1728172"/>
          </a:xfrm>
          <a:custGeom>
            <a:avLst/>
            <a:gdLst/>
            <a:ahLst/>
            <a:cxnLst/>
            <a:rect l="l" t="t" r="r" b="b"/>
            <a:pathLst>
              <a:path w="15373350" h="1504950">
                <a:moveTo>
                  <a:pt x="0" y="0"/>
                </a:moveTo>
                <a:lnTo>
                  <a:pt x="15373350" y="0"/>
                </a:lnTo>
                <a:lnTo>
                  <a:pt x="153733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645331" y="8359214"/>
            <a:ext cx="667206" cy="864086"/>
          </a:xfrm>
          <a:custGeom>
            <a:avLst/>
            <a:gdLst/>
            <a:ahLst/>
            <a:cxnLst/>
            <a:rect l="l" t="t" r="r" b="b"/>
            <a:pathLst>
              <a:path w="581025" h="752475">
                <a:moveTo>
                  <a:pt x="0" y="0"/>
                </a:moveTo>
                <a:lnTo>
                  <a:pt x="581025" y="0"/>
                </a:lnTo>
                <a:lnTo>
                  <a:pt x="5810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48" name="TextBox 48"/>
          <p:cNvSpPr txBox="1"/>
          <p:nvPr/>
        </p:nvSpPr>
        <p:spPr>
          <a:xfrm>
            <a:off x="1397596" y="8689257"/>
            <a:ext cx="2533043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68"/>
              </a:lnSpc>
            </a:pPr>
            <a:r>
              <a:rPr lang="en-US" sz="1724" spc="-85">
                <a:solidFill>
                  <a:srgbClr val="2C2C5B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Supply to schools, colleges, corporate and NGOs for large-scale deployment.</a:t>
            </a:r>
          </a:p>
        </p:txBody>
      </p:sp>
      <p:sp>
        <p:nvSpPr>
          <p:cNvPr id="49" name="Freeform 49"/>
          <p:cNvSpPr/>
          <p:nvPr/>
        </p:nvSpPr>
        <p:spPr>
          <a:xfrm>
            <a:off x="3915733" y="8359214"/>
            <a:ext cx="229694" cy="1301598"/>
          </a:xfrm>
          <a:custGeom>
            <a:avLst/>
            <a:gdLst/>
            <a:ahLst/>
            <a:cxnLst/>
            <a:rect l="l" t="t" r="r" b="b"/>
            <a:pathLst>
              <a:path w="200025" h="1133475">
                <a:moveTo>
                  <a:pt x="0" y="0"/>
                </a:moveTo>
                <a:lnTo>
                  <a:pt x="200025" y="0"/>
                </a:lnTo>
                <a:lnTo>
                  <a:pt x="200025" y="1133475"/>
                </a:lnTo>
                <a:lnTo>
                  <a:pt x="0" y="113347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4134488" y="8359214"/>
            <a:ext cx="875024" cy="864086"/>
          </a:xfrm>
          <a:custGeom>
            <a:avLst/>
            <a:gdLst/>
            <a:ahLst/>
            <a:cxnLst/>
            <a:rect l="l" t="t" r="r" b="b"/>
            <a:pathLst>
              <a:path w="762000" h="752475">
                <a:moveTo>
                  <a:pt x="0" y="0"/>
                </a:moveTo>
                <a:lnTo>
                  <a:pt x="762000" y="0"/>
                </a:lnTo>
                <a:lnTo>
                  <a:pt x="762000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51" name="TextBox 51"/>
          <p:cNvSpPr txBox="1"/>
          <p:nvPr/>
        </p:nvSpPr>
        <p:spPr>
          <a:xfrm>
            <a:off x="5041807" y="8689256"/>
            <a:ext cx="2466991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68"/>
              </a:lnSpc>
            </a:pPr>
            <a:r>
              <a:rPr lang="en-US" sz="1724" spc="-85">
                <a:solidFill>
                  <a:srgbClr val="2C2C5B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Recurring revenue from premium features (calling, messaging, night travel mode, location history).</a:t>
            </a:r>
          </a:p>
        </p:txBody>
      </p:sp>
      <p:sp>
        <p:nvSpPr>
          <p:cNvPr id="52" name="Freeform 52"/>
          <p:cNvSpPr/>
          <p:nvPr/>
        </p:nvSpPr>
        <p:spPr>
          <a:xfrm>
            <a:off x="7393953" y="8359214"/>
            <a:ext cx="229694" cy="1301598"/>
          </a:xfrm>
          <a:custGeom>
            <a:avLst/>
            <a:gdLst/>
            <a:ahLst/>
            <a:cxnLst/>
            <a:rect l="l" t="t" r="r" b="b"/>
            <a:pathLst>
              <a:path w="200025" h="1133475">
                <a:moveTo>
                  <a:pt x="0" y="0"/>
                </a:moveTo>
                <a:lnTo>
                  <a:pt x="200025" y="0"/>
                </a:lnTo>
                <a:lnTo>
                  <a:pt x="200025" y="1133475"/>
                </a:lnTo>
                <a:lnTo>
                  <a:pt x="0" y="113347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>
            <a:off x="7612709" y="8359213"/>
            <a:ext cx="885962" cy="656268"/>
          </a:xfrm>
          <a:custGeom>
            <a:avLst/>
            <a:gdLst/>
            <a:ahLst/>
            <a:cxnLst/>
            <a:rect l="l" t="t" r="r" b="b"/>
            <a:pathLst>
              <a:path w="771525" h="571500">
                <a:moveTo>
                  <a:pt x="0" y="0"/>
                </a:moveTo>
                <a:lnTo>
                  <a:pt x="771525" y="0"/>
                </a:lnTo>
                <a:lnTo>
                  <a:pt x="7715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54" name="TextBox 54"/>
          <p:cNvSpPr txBox="1"/>
          <p:nvPr/>
        </p:nvSpPr>
        <p:spPr>
          <a:xfrm>
            <a:off x="8497165" y="8689256"/>
            <a:ext cx="2242281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68"/>
              </a:lnSpc>
            </a:pPr>
            <a:r>
              <a:rPr lang="en-US" sz="1724" spc="-85">
                <a:solidFill>
                  <a:srgbClr val="2C2C5B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For institutions to monitor safety (with user consent), manage devices and get reports.</a:t>
            </a:r>
          </a:p>
        </p:txBody>
      </p:sp>
      <p:sp>
        <p:nvSpPr>
          <p:cNvPr id="55" name="Freeform 55"/>
          <p:cNvSpPr/>
          <p:nvPr/>
        </p:nvSpPr>
        <p:spPr>
          <a:xfrm>
            <a:off x="10664355" y="8359214"/>
            <a:ext cx="448450" cy="1301598"/>
          </a:xfrm>
          <a:custGeom>
            <a:avLst/>
            <a:gdLst/>
            <a:ahLst/>
            <a:cxnLst/>
            <a:rect l="l" t="t" r="r" b="b"/>
            <a:pathLst>
              <a:path w="390525" h="1133475">
                <a:moveTo>
                  <a:pt x="0" y="0"/>
                </a:moveTo>
                <a:lnTo>
                  <a:pt x="390525" y="0"/>
                </a:lnTo>
                <a:lnTo>
                  <a:pt x="390525" y="1133475"/>
                </a:lnTo>
                <a:lnTo>
                  <a:pt x="0" y="1133475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</p:sp>
      <p:sp>
        <p:nvSpPr>
          <p:cNvPr id="56" name="Freeform 56"/>
          <p:cNvSpPr/>
          <p:nvPr/>
        </p:nvSpPr>
        <p:spPr>
          <a:xfrm>
            <a:off x="11101866" y="8359213"/>
            <a:ext cx="656268" cy="656268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</p:sp>
      <p:sp>
        <p:nvSpPr>
          <p:cNvPr id="57" name="TextBox 57"/>
          <p:cNvSpPr txBox="1"/>
          <p:nvPr/>
        </p:nvSpPr>
        <p:spPr>
          <a:xfrm>
            <a:off x="11903777" y="8689256"/>
            <a:ext cx="2030979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68"/>
              </a:lnSpc>
            </a:pPr>
            <a:r>
              <a:rPr lang="en-US" sz="1724" spc="-85">
                <a:solidFill>
                  <a:srgbClr val="2C2C5B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Fashionable straps, pendants, bands and customizable shells.</a:t>
            </a:r>
          </a:p>
        </p:txBody>
      </p:sp>
      <p:sp>
        <p:nvSpPr>
          <p:cNvPr id="58" name="Freeform 58"/>
          <p:cNvSpPr/>
          <p:nvPr/>
        </p:nvSpPr>
        <p:spPr>
          <a:xfrm>
            <a:off x="14361331" y="8359214"/>
            <a:ext cx="229694" cy="1301598"/>
          </a:xfrm>
          <a:custGeom>
            <a:avLst/>
            <a:gdLst/>
            <a:ahLst/>
            <a:cxnLst/>
            <a:rect l="l" t="t" r="r" b="b"/>
            <a:pathLst>
              <a:path w="200025" h="1133475">
                <a:moveTo>
                  <a:pt x="0" y="0"/>
                </a:moveTo>
                <a:lnTo>
                  <a:pt x="200025" y="0"/>
                </a:lnTo>
                <a:lnTo>
                  <a:pt x="200025" y="1133475"/>
                </a:lnTo>
                <a:lnTo>
                  <a:pt x="0" y="113347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</p:sp>
      <p:sp>
        <p:nvSpPr>
          <p:cNvPr id="59" name="Freeform 59"/>
          <p:cNvSpPr/>
          <p:nvPr/>
        </p:nvSpPr>
        <p:spPr>
          <a:xfrm>
            <a:off x="14580087" y="8359213"/>
            <a:ext cx="667206" cy="656268"/>
          </a:xfrm>
          <a:custGeom>
            <a:avLst/>
            <a:gdLst/>
            <a:ahLst/>
            <a:cxnLst/>
            <a:rect l="l" t="t" r="r" b="b"/>
            <a:pathLst>
              <a:path w="581025" h="571500">
                <a:moveTo>
                  <a:pt x="0" y="0"/>
                </a:moveTo>
                <a:lnTo>
                  <a:pt x="581025" y="0"/>
                </a:lnTo>
                <a:lnTo>
                  <a:pt x="5810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</p:sp>
      <p:sp>
        <p:nvSpPr>
          <p:cNvPr id="60" name="TextBox 60"/>
          <p:cNvSpPr txBox="1"/>
          <p:nvPr/>
        </p:nvSpPr>
        <p:spPr>
          <a:xfrm>
            <a:off x="15380144" y="8689256"/>
            <a:ext cx="2356660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67"/>
              </a:lnSpc>
            </a:pPr>
            <a:r>
              <a:rPr lang="en-US" sz="1722" spc="-85">
                <a:solidFill>
                  <a:srgbClr val="2C2C5B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Paid extended warranty, companies accidental damage cover and priority customer support.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180911" y="6577807"/>
            <a:ext cx="6885344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81"/>
              </a:lnSpc>
            </a:pPr>
            <a:r>
              <a:rPr lang="en-US" sz="2068" spc="-102" dirty="0">
                <a:solidFill>
                  <a:srgbClr val="2C2C5B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Location history and safe-zone alerts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515941" y="6609755"/>
            <a:ext cx="1904271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 b="1" spc="-86">
                <a:solidFill>
                  <a:srgbClr val="2C2C5B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One-time purchase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5378821" y="8418018"/>
            <a:ext cx="2909180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68"/>
              </a:lnSpc>
            </a:pPr>
            <a:r>
              <a:rPr lang="en-US" sz="1724" b="1" spc="-85">
                <a:solidFill>
                  <a:srgbClr val="0062FF"/>
                </a:solidFill>
                <a:latin typeface="Microsoft Tai Le" panose="020B0502040204020203" pitchFamily="34" charset="0"/>
                <a:ea typeface="Inter Bold"/>
                <a:cs typeface="Microsoft Tai Le" panose="020B0502040204020203" pitchFamily="34" charset="0"/>
                <a:sym typeface="Inter Bold"/>
              </a:rPr>
              <a:t>Extended Warranty &amp; Support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498157" y="8402948"/>
            <a:ext cx="2390423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68"/>
              </a:lnSpc>
            </a:pPr>
            <a:r>
              <a:rPr lang="en-US" sz="1724" b="1" spc="-85">
                <a:solidFill>
                  <a:srgbClr val="0062FF"/>
                </a:solidFill>
                <a:latin typeface="Microsoft Tai Le" panose="020B0502040204020203" pitchFamily="34" charset="0"/>
                <a:ea typeface="Inter Bold"/>
                <a:cs typeface="Microsoft Tai Le" panose="020B0502040204020203" pitchFamily="34" charset="0"/>
                <a:sym typeface="Inter Bold"/>
              </a:rPr>
              <a:t>Admin Dashboard (B2B)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4097901" y="5309703"/>
            <a:ext cx="1993461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92"/>
              </a:lnSpc>
            </a:pPr>
            <a:r>
              <a:rPr lang="en-US" sz="1494" spc="-73">
                <a:solidFill>
                  <a:srgbClr val="2C2C5B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Buy for their loved ones.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398983" y="8402948"/>
            <a:ext cx="2531656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68"/>
              </a:lnSpc>
            </a:pPr>
            <a:r>
              <a:rPr lang="en-US" sz="1724" b="1" spc="-85">
                <a:solidFill>
                  <a:srgbClr val="0062FF"/>
                </a:solidFill>
                <a:latin typeface="Microsoft Tai Le" panose="020B0502040204020203" pitchFamily="34" charset="0"/>
                <a:ea typeface="Inter Bold"/>
                <a:cs typeface="Microsoft Tai Le" panose="020B0502040204020203" pitchFamily="34" charset="0"/>
                <a:sym typeface="Inter Bold"/>
              </a:rPr>
              <a:t>Bulk &amp; Institutional Sales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044249" y="8402948"/>
            <a:ext cx="2349703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68"/>
              </a:lnSpc>
            </a:pPr>
            <a:r>
              <a:rPr lang="en-US" sz="1724" b="1" spc="-85">
                <a:solidFill>
                  <a:srgbClr val="0062FF"/>
                </a:solidFill>
                <a:latin typeface="Microsoft Tai Le" panose="020B0502040204020203" pitchFamily="34" charset="0"/>
                <a:ea typeface="Inter Bold"/>
                <a:cs typeface="Microsoft Tai Le" panose="020B0502040204020203" pitchFamily="34" charset="0"/>
                <a:sym typeface="Inter Bold"/>
              </a:rPr>
              <a:t>Subscription Services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4098866" y="4997388"/>
            <a:ext cx="1896981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88"/>
              </a:lnSpc>
            </a:pPr>
            <a:r>
              <a:rPr lang="en-US" sz="1740" b="1" spc="-52">
                <a:solidFill>
                  <a:srgbClr val="0062FF"/>
                </a:solidFill>
                <a:latin typeface="Microsoft Tai Le" panose="020B0502040204020203" pitchFamily="34" charset="0"/>
                <a:ea typeface="Inter Bold"/>
                <a:cs typeface="Microsoft Tai Le" panose="020B0502040204020203" pitchFamily="34" charset="0"/>
                <a:sym typeface="Inter Bold"/>
              </a:rPr>
              <a:t>Parents &amp; Families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1903358" y="8418017"/>
            <a:ext cx="2457972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68"/>
              </a:lnSpc>
            </a:pPr>
            <a:r>
              <a:rPr lang="en-US" sz="1724" b="1" spc="-85">
                <a:solidFill>
                  <a:srgbClr val="0062FF"/>
                </a:solidFill>
                <a:latin typeface="Microsoft Tai Le" panose="020B0502040204020203" pitchFamily="34" charset="0"/>
                <a:ea typeface="Inter Bold"/>
                <a:cs typeface="Microsoft Tai Le" panose="020B0502040204020203" pitchFamily="34" charset="0"/>
                <a:sym typeface="Inter Bold"/>
              </a:rPr>
              <a:t>Add-on Accessories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9285988" y="4542218"/>
            <a:ext cx="2533166" cy="358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77"/>
              </a:lnSpc>
            </a:pPr>
            <a:r>
              <a:rPr lang="en-US" sz="2314" b="1" spc="-69">
                <a:solidFill>
                  <a:srgbClr val="0062FF"/>
                </a:solidFill>
                <a:latin typeface="Microsoft Tai Le" panose="020B0502040204020203" pitchFamily="34" charset="0"/>
                <a:ea typeface="Inter Bold"/>
                <a:cs typeface="Microsoft Tai Le" panose="020B0502040204020203" pitchFamily="34" charset="0"/>
                <a:sym typeface="Inter Bold"/>
              </a:rPr>
              <a:t>₹999/year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5466208" y="4562085"/>
            <a:ext cx="2566811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30"/>
              </a:lnSpc>
            </a:pPr>
            <a:r>
              <a:rPr lang="en-US" sz="2191" b="1" spc="-64">
                <a:solidFill>
                  <a:srgbClr val="0062FF"/>
                </a:solidFill>
                <a:latin typeface="Microsoft Tai Le" panose="020B0502040204020203" pitchFamily="34" charset="0"/>
                <a:ea typeface="Inter Bold"/>
                <a:cs typeface="Microsoft Tai Le" panose="020B0502040204020203" pitchFamily="34" charset="0"/>
                <a:sym typeface="Inter Bold"/>
              </a:rPr>
              <a:t>₹99/month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4106226" y="6082345"/>
            <a:ext cx="1161034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88"/>
              </a:lnSpc>
            </a:pPr>
            <a:r>
              <a:rPr lang="en-US" sz="1740" b="1" spc="-52">
                <a:solidFill>
                  <a:srgbClr val="0062FF"/>
                </a:solidFill>
                <a:latin typeface="Microsoft Tai Le" panose="020B0502040204020203" pitchFamily="34" charset="0"/>
                <a:ea typeface="Inter Bold"/>
                <a:cs typeface="Microsoft Tai Le" panose="020B0502040204020203" pitchFamily="34" charset="0"/>
                <a:sym typeface="Inter Bold"/>
              </a:rPr>
              <a:t>Institutions</a:t>
            </a:r>
          </a:p>
        </p:txBody>
      </p:sp>
      <p:sp>
        <p:nvSpPr>
          <p:cNvPr id="73" name="TextBox 6">
            <a:extLst>
              <a:ext uri="{FF2B5EF4-FFF2-40B4-BE49-F238E27FC236}">
                <a16:creationId xmlns:a16="http://schemas.microsoft.com/office/drawing/2014/main" id="{AC780A4E-1B13-451F-808B-D31E820DD4F4}"/>
              </a:ext>
            </a:extLst>
          </p:cNvPr>
          <p:cNvSpPr txBox="1"/>
          <p:nvPr/>
        </p:nvSpPr>
        <p:spPr>
          <a:xfrm>
            <a:off x="14227669" y="295907"/>
            <a:ext cx="2841131" cy="4244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42"/>
              </a:lnSpc>
            </a:pPr>
            <a:r>
              <a:rPr lang="en-US" sz="2783" b="1" dirty="0">
                <a:solidFill>
                  <a:srgbClr val="0A74FF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Colossal-a-Pitch</a:t>
            </a:r>
          </a:p>
        </p:txBody>
      </p:sp>
      <p:sp>
        <p:nvSpPr>
          <p:cNvPr id="74" name="TextBox 37">
            <a:extLst>
              <a:ext uri="{FF2B5EF4-FFF2-40B4-BE49-F238E27FC236}">
                <a16:creationId xmlns:a16="http://schemas.microsoft.com/office/drawing/2014/main" id="{4F79C88B-020C-42CF-806F-2B1BD8AE038A}"/>
              </a:ext>
            </a:extLst>
          </p:cNvPr>
          <p:cNvSpPr txBox="1"/>
          <p:nvPr/>
        </p:nvSpPr>
        <p:spPr>
          <a:xfrm>
            <a:off x="14243709" y="763042"/>
            <a:ext cx="3486165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61"/>
              </a:lnSpc>
            </a:pPr>
            <a:r>
              <a:rPr lang="en-US" sz="1634" b="1" dirty="0" err="1">
                <a:solidFill>
                  <a:srgbClr val="292E4B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Avinya</a:t>
            </a:r>
            <a:r>
              <a:rPr lang="en-US" sz="1634" b="1" dirty="0">
                <a:solidFill>
                  <a:srgbClr val="292E4B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 26</a:t>
            </a:r>
          </a:p>
        </p:txBody>
      </p:sp>
      <p:sp>
        <p:nvSpPr>
          <p:cNvPr id="75" name="TextBox 6">
            <a:extLst>
              <a:ext uri="{FF2B5EF4-FFF2-40B4-BE49-F238E27FC236}">
                <a16:creationId xmlns:a16="http://schemas.microsoft.com/office/drawing/2014/main" id="{18606AA2-F04E-446E-8002-5A0D78F0B52A}"/>
              </a:ext>
            </a:extLst>
          </p:cNvPr>
          <p:cNvSpPr txBox="1"/>
          <p:nvPr/>
        </p:nvSpPr>
        <p:spPr>
          <a:xfrm>
            <a:off x="405634" y="412330"/>
            <a:ext cx="2841131" cy="4244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42"/>
              </a:lnSpc>
            </a:pPr>
            <a:r>
              <a:rPr lang="en-US" sz="2783" b="1" dirty="0">
                <a:solidFill>
                  <a:srgbClr val="0A74FF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Team Gamma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0" y="1282457"/>
            <a:ext cx="18080182" cy="229694"/>
          </a:xfrm>
          <a:custGeom>
            <a:avLst/>
            <a:gdLst/>
            <a:ahLst/>
            <a:cxnLst/>
            <a:rect l="l" t="t" r="r" b="b"/>
            <a:pathLst>
              <a:path w="15744825" h="200025">
                <a:moveTo>
                  <a:pt x="0" y="0"/>
                </a:moveTo>
                <a:lnTo>
                  <a:pt x="15744825" y="0"/>
                </a:lnTo>
                <a:lnTo>
                  <a:pt x="15744825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64499" y="1588007"/>
            <a:ext cx="4449308" cy="887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566"/>
              </a:lnSpc>
            </a:pPr>
            <a:r>
              <a:rPr lang="en-US" sz="5870" b="1" u="sng" spc="-262" dirty="0">
                <a:solidFill>
                  <a:srgbClr val="0062FF"/>
                </a:solidFill>
                <a:latin typeface="Microsoft Tai Le" panose="020B0502040204020203" pitchFamily="34" charset="0"/>
                <a:ea typeface="Inter Heavy"/>
                <a:cs typeface="Microsoft Tai Le" panose="020B0502040204020203" pitchFamily="34" charset="0"/>
                <a:sym typeface="Inter Heavy"/>
              </a:rPr>
              <a:t>RESEARCH</a:t>
            </a:r>
          </a:p>
        </p:txBody>
      </p:sp>
      <p:sp>
        <p:nvSpPr>
          <p:cNvPr id="10" name="Freeform 10"/>
          <p:cNvSpPr/>
          <p:nvPr/>
        </p:nvSpPr>
        <p:spPr>
          <a:xfrm>
            <a:off x="426574" y="2146543"/>
            <a:ext cx="2843828" cy="437512"/>
          </a:xfrm>
          <a:custGeom>
            <a:avLst/>
            <a:gdLst/>
            <a:ahLst/>
            <a:cxnLst/>
            <a:rect l="l" t="t" r="r" b="b"/>
            <a:pathLst>
              <a:path w="2476500" h="381000">
                <a:moveTo>
                  <a:pt x="0" y="0"/>
                </a:moveTo>
                <a:lnTo>
                  <a:pt x="2476500" y="0"/>
                </a:lnTo>
                <a:lnTo>
                  <a:pt x="24765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137336" y="1588007"/>
            <a:ext cx="5974214" cy="887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566"/>
              </a:lnSpc>
            </a:pPr>
            <a:r>
              <a:rPr lang="en-US" sz="6566" b="1" spc="-262" dirty="0">
                <a:solidFill>
                  <a:srgbClr val="050A3B"/>
                </a:solidFill>
                <a:latin typeface="Microsoft Tai Le" panose="020B0502040204020203" pitchFamily="34" charset="0"/>
                <a:ea typeface="Inter Heavy"/>
                <a:cs typeface="Microsoft Tai Le" panose="020B0502040204020203" pitchFamily="34" charset="0"/>
                <a:sym typeface="Inter Heavy"/>
              </a:rPr>
              <a:t>&amp; REFERENCES</a:t>
            </a:r>
          </a:p>
        </p:txBody>
      </p:sp>
      <p:sp>
        <p:nvSpPr>
          <p:cNvPr id="12" name="Freeform 12"/>
          <p:cNvSpPr/>
          <p:nvPr/>
        </p:nvSpPr>
        <p:spPr>
          <a:xfrm>
            <a:off x="207819" y="2999691"/>
            <a:ext cx="10467474" cy="7087694"/>
          </a:xfrm>
          <a:custGeom>
            <a:avLst/>
            <a:gdLst/>
            <a:ahLst/>
            <a:cxnLst/>
            <a:rect l="l" t="t" r="r" b="b"/>
            <a:pathLst>
              <a:path w="9115425" h="6172200">
                <a:moveTo>
                  <a:pt x="0" y="0"/>
                </a:moveTo>
                <a:lnTo>
                  <a:pt x="9115425" y="0"/>
                </a:lnTo>
                <a:lnTo>
                  <a:pt x="9115425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14006" y="3285784"/>
            <a:ext cx="2893096" cy="444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4"/>
              </a:lnSpc>
            </a:pPr>
            <a:r>
              <a:rPr lang="en-US" sz="3304" b="1" spc="-132">
                <a:solidFill>
                  <a:srgbClr val="0050FB"/>
                </a:solidFill>
                <a:latin typeface="Microsoft Tai Le" panose="020B0502040204020203" pitchFamily="34" charset="0"/>
                <a:ea typeface="Inter Ultra-Bold"/>
                <a:cs typeface="Microsoft Tai Le" panose="020B0502040204020203" pitchFamily="34" charset="0"/>
                <a:sym typeface="Inter Ultra-Bold"/>
              </a:rPr>
              <a:t>KEY FINDINGS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61410" y="4052133"/>
            <a:ext cx="9051973" cy="684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61"/>
              </a:lnSpc>
            </a:pPr>
            <a:r>
              <a:rPr lang="en-US" sz="2047" b="1" spc="-82" dirty="0">
                <a:solidFill>
                  <a:srgbClr val="0050FB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High safety concerns</a:t>
            </a:r>
            <a:r>
              <a:rPr lang="en-US" sz="2047" spc="-82" dirty="0">
                <a:solidFill>
                  <a:srgbClr val="3A3A66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 – Women, especially students and working professionals, face safety risks in public spaces, during travel and when alone at night. (NCRB, 2022)</a:t>
            </a:r>
          </a:p>
        </p:txBody>
      </p:sp>
      <p:sp>
        <p:nvSpPr>
          <p:cNvPr id="15" name="Freeform 15"/>
          <p:cNvSpPr/>
          <p:nvPr/>
        </p:nvSpPr>
        <p:spPr>
          <a:xfrm>
            <a:off x="645331" y="5143500"/>
            <a:ext cx="9592450" cy="229694"/>
          </a:xfrm>
          <a:custGeom>
            <a:avLst/>
            <a:gdLst/>
            <a:ahLst/>
            <a:cxnLst/>
            <a:rect l="l" t="t" r="r" b="b"/>
            <a:pathLst>
              <a:path w="8353425" h="200025">
                <a:moveTo>
                  <a:pt x="0" y="0"/>
                </a:moveTo>
                <a:lnTo>
                  <a:pt x="8353425" y="0"/>
                </a:lnTo>
                <a:lnTo>
                  <a:pt x="8353425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62803" y="5363124"/>
            <a:ext cx="8912739" cy="684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61"/>
              </a:lnSpc>
            </a:pPr>
            <a:r>
              <a:rPr lang="en-US" sz="2047" b="1" spc="-82">
                <a:solidFill>
                  <a:srgbClr val="0050FB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Need for non-phone solutions</a:t>
            </a:r>
            <a:r>
              <a:rPr lang="en-US" sz="2047" spc="-82">
                <a:solidFill>
                  <a:srgbClr val="3A3A66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 – Many users prefer a simple, dedicated device that works without a smartphone. (User studies, 2024)</a:t>
            </a:r>
          </a:p>
        </p:txBody>
      </p:sp>
      <p:sp>
        <p:nvSpPr>
          <p:cNvPr id="17" name="Freeform 17"/>
          <p:cNvSpPr/>
          <p:nvPr/>
        </p:nvSpPr>
        <p:spPr>
          <a:xfrm>
            <a:off x="645331" y="6215405"/>
            <a:ext cx="9592450" cy="229694"/>
          </a:xfrm>
          <a:custGeom>
            <a:avLst/>
            <a:gdLst/>
            <a:ahLst/>
            <a:cxnLst/>
            <a:rect l="l" t="t" r="r" b="b"/>
            <a:pathLst>
              <a:path w="8353425" h="200025">
                <a:moveTo>
                  <a:pt x="0" y="0"/>
                </a:moveTo>
                <a:lnTo>
                  <a:pt x="8353425" y="0"/>
                </a:lnTo>
                <a:lnTo>
                  <a:pt x="8353425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064003" y="6417942"/>
            <a:ext cx="8792716" cy="684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61"/>
              </a:lnSpc>
            </a:pPr>
            <a:r>
              <a:rPr lang="en-US" sz="2047" b="1" spc="-82">
                <a:solidFill>
                  <a:srgbClr val="0050FB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Importance of quick alerts</a:t>
            </a:r>
            <a:r>
              <a:rPr lang="en-US" sz="2047" spc="-82">
                <a:solidFill>
                  <a:srgbClr val="3A3A66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 – Fast alerting with live location to trusted contacts can significantly reduce response time. (Existing solutions research)</a:t>
            </a:r>
          </a:p>
        </p:txBody>
      </p:sp>
      <p:sp>
        <p:nvSpPr>
          <p:cNvPr id="19" name="Freeform 19"/>
          <p:cNvSpPr/>
          <p:nvPr/>
        </p:nvSpPr>
        <p:spPr>
          <a:xfrm>
            <a:off x="645331" y="7068553"/>
            <a:ext cx="9592450" cy="448450"/>
          </a:xfrm>
          <a:custGeom>
            <a:avLst/>
            <a:gdLst/>
            <a:ahLst/>
            <a:cxnLst/>
            <a:rect l="l" t="t" r="r" b="b"/>
            <a:pathLst>
              <a:path w="8353425" h="390525">
                <a:moveTo>
                  <a:pt x="0" y="0"/>
                </a:moveTo>
                <a:lnTo>
                  <a:pt x="8353425" y="0"/>
                </a:lnTo>
                <a:lnTo>
                  <a:pt x="8353425" y="390525"/>
                </a:lnTo>
                <a:lnTo>
                  <a:pt x="0" y="3905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061791" y="7472763"/>
            <a:ext cx="9013878" cy="684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61"/>
              </a:lnSpc>
            </a:pPr>
            <a:r>
              <a:rPr lang="en-US" sz="2047" b="1" spc="-82" dirty="0">
                <a:solidFill>
                  <a:srgbClr val="0050FB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Demand for wearable and discreet designs</a:t>
            </a:r>
            <a:r>
              <a:rPr lang="en-US" sz="2047" spc="-82" dirty="0">
                <a:solidFill>
                  <a:srgbClr val="3A3A66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 – Users prefer accessories that are stylish, lightweight and easy to carry daily. (Market research, 2023)</a:t>
            </a:r>
          </a:p>
        </p:txBody>
      </p:sp>
      <p:sp>
        <p:nvSpPr>
          <p:cNvPr id="21" name="Freeform 21"/>
          <p:cNvSpPr/>
          <p:nvPr/>
        </p:nvSpPr>
        <p:spPr>
          <a:xfrm>
            <a:off x="645331" y="8359213"/>
            <a:ext cx="9592450" cy="229694"/>
          </a:xfrm>
          <a:custGeom>
            <a:avLst/>
            <a:gdLst/>
            <a:ahLst/>
            <a:cxnLst/>
            <a:rect l="l" t="t" r="r" b="b"/>
            <a:pathLst>
              <a:path w="8353425" h="200025">
                <a:moveTo>
                  <a:pt x="0" y="0"/>
                </a:moveTo>
                <a:lnTo>
                  <a:pt x="8353425" y="0"/>
                </a:lnTo>
                <a:lnTo>
                  <a:pt x="8353425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063241" y="8527581"/>
            <a:ext cx="8868920" cy="1030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61"/>
              </a:lnSpc>
            </a:pPr>
            <a:r>
              <a:rPr lang="en-US" sz="2047" b="1" spc="-82" dirty="0">
                <a:solidFill>
                  <a:srgbClr val="0050FB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Scope for growth</a:t>
            </a:r>
            <a:r>
              <a:rPr lang="en-US" sz="2047" spc="-82" dirty="0">
                <a:solidFill>
                  <a:srgbClr val="0050FB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 </a:t>
            </a:r>
            <a:r>
              <a:rPr lang="en-US" sz="2047" spc="-82" dirty="0">
                <a:solidFill>
                  <a:srgbClr val="3A3A66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– The women's safety device market in India is growing due to increasing awareness, government initiatives and adoption in schools, colleges and workplaces. (Market reports, 2023-2024)</a:t>
            </a:r>
          </a:p>
        </p:txBody>
      </p:sp>
      <p:sp>
        <p:nvSpPr>
          <p:cNvPr id="23" name="Freeform 23"/>
          <p:cNvSpPr/>
          <p:nvPr/>
        </p:nvSpPr>
        <p:spPr>
          <a:xfrm>
            <a:off x="10664354" y="2999691"/>
            <a:ext cx="7415828" cy="7087694"/>
          </a:xfrm>
          <a:custGeom>
            <a:avLst/>
            <a:gdLst/>
            <a:ahLst/>
            <a:cxnLst/>
            <a:rect l="l" t="t" r="r" b="b"/>
            <a:pathLst>
              <a:path w="6457950" h="6172200">
                <a:moveTo>
                  <a:pt x="0" y="0"/>
                </a:moveTo>
                <a:lnTo>
                  <a:pt x="6457950" y="0"/>
                </a:lnTo>
                <a:lnTo>
                  <a:pt x="645795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0985449" y="3329686"/>
            <a:ext cx="2485577" cy="42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68"/>
              </a:lnSpc>
            </a:pPr>
            <a:r>
              <a:rPr lang="en-US" sz="3168" b="1" spc="-126">
                <a:solidFill>
                  <a:srgbClr val="0050FB"/>
                </a:solidFill>
                <a:latin typeface="Microsoft Tai Le" panose="020B0502040204020203" pitchFamily="34" charset="0"/>
                <a:ea typeface="Inter Ultra-Bold"/>
                <a:cs typeface="Microsoft Tai Le" panose="020B0502040204020203" pitchFamily="34" charset="0"/>
                <a:sym typeface="Inter Ultra-Bold"/>
              </a:rPr>
              <a:t>REFERENCES</a:t>
            </a:r>
          </a:p>
        </p:txBody>
      </p:sp>
      <p:sp>
        <p:nvSpPr>
          <p:cNvPr id="25" name="Freeform 25"/>
          <p:cNvSpPr/>
          <p:nvPr/>
        </p:nvSpPr>
        <p:spPr>
          <a:xfrm>
            <a:off x="10883110" y="3852840"/>
            <a:ext cx="875024" cy="875024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2032805" y="3912431"/>
            <a:ext cx="4906249" cy="5706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36"/>
              </a:lnSpc>
            </a:pPr>
            <a:r>
              <a:rPr lang="en-US" sz="2000" spc="-73" dirty="0">
                <a:solidFill>
                  <a:srgbClr val="3A3A66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National Crime Records Bureau (NCRB). (2022) Crime in India 2022: Crimes Against Women.</a:t>
            </a:r>
          </a:p>
        </p:txBody>
      </p:sp>
      <p:sp>
        <p:nvSpPr>
          <p:cNvPr id="27" name="Freeform 27"/>
          <p:cNvSpPr/>
          <p:nvPr/>
        </p:nvSpPr>
        <p:spPr>
          <a:xfrm>
            <a:off x="10883110" y="4716926"/>
            <a:ext cx="6978316" cy="218756"/>
          </a:xfrm>
          <a:custGeom>
            <a:avLst/>
            <a:gdLst/>
            <a:ahLst/>
            <a:cxnLst/>
            <a:rect l="l" t="t" r="r" b="b"/>
            <a:pathLst>
              <a:path w="6076950" h="190500">
                <a:moveTo>
                  <a:pt x="0" y="0"/>
                </a:moveTo>
                <a:lnTo>
                  <a:pt x="6076950" y="0"/>
                </a:lnTo>
                <a:lnTo>
                  <a:pt x="607695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0883110" y="4924744"/>
            <a:ext cx="875024" cy="656268"/>
          </a:xfrm>
          <a:custGeom>
            <a:avLst/>
            <a:gdLst/>
            <a:ahLst/>
            <a:cxnLst/>
            <a:rect l="l" t="t" r="r" b="b"/>
            <a:pathLst>
              <a:path w="762000" h="571500">
                <a:moveTo>
                  <a:pt x="0" y="0"/>
                </a:moveTo>
                <a:lnTo>
                  <a:pt x="762000" y="0"/>
                </a:lnTo>
                <a:lnTo>
                  <a:pt x="7620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2028582" y="4922045"/>
            <a:ext cx="5328514" cy="5706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36"/>
              </a:lnSpc>
            </a:pPr>
            <a:r>
              <a:rPr lang="en-US" sz="2000" spc="-73" dirty="0">
                <a:solidFill>
                  <a:srgbClr val="3A3A66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Ministry of Women and Child Development. (2023). Women Safety Initiatives in India.</a:t>
            </a:r>
          </a:p>
        </p:txBody>
      </p:sp>
      <p:sp>
        <p:nvSpPr>
          <p:cNvPr id="31" name="Freeform 31"/>
          <p:cNvSpPr/>
          <p:nvPr/>
        </p:nvSpPr>
        <p:spPr>
          <a:xfrm>
            <a:off x="10883110" y="5788830"/>
            <a:ext cx="6978316" cy="218756"/>
          </a:xfrm>
          <a:custGeom>
            <a:avLst/>
            <a:gdLst/>
            <a:ahLst/>
            <a:cxnLst/>
            <a:rect l="l" t="t" r="r" b="b"/>
            <a:pathLst>
              <a:path w="6076950" h="190500">
                <a:moveTo>
                  <a:pt x="0" y="0"/>
                </a:moveTo>
                <a:lnTo>
                  <a:pt x="6076950" y="0"/>
                </a:lnTo>
                <a:lnTo>
                  <a:pt x="607695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0883110" y="5788831"/>
            <a:ext cx="875024" cy="864086"/>
          </a:xfrm>
          <a:custGeom>
            <a:avLst/>
            <a:gdLst/>
            <a:ahLst/>
            <a:cxnLst/>
            <a:rect l="l" t="t" r="r" b="b"/>
            <a:pathLst>
              <a:path w="762000" h="752475">
                <a:moveTo>
                  <a:pt x="0" y="0"/>
                </a:moveTo>
                <a:lnTo>
                  <a:pt x="762000" y="0"/>
                </a:lnTo>
                <a:lnTo>
                  <a:pt x="762000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0883110" y="6641979"/>
            <a:ext cx="6978316" cy="229694"/>
          </a:xfrm>
          <a:custGeom>
            <a:avLst/>
            <a:gdLst/>
            <a:ahLst/>
            <a:cxnLst/>
            <a:rect l="l" t="t" r="r" b="b"/>
            <a:pathLst>
              <a:path w="6076950" h="200025">
                <a:moveTo>
                  <a:pt x="0" y="0"/>
                </a:moveTo>
                <a:lnTo>
                  <a:pt x="6076950" y="0"/>
                </a:lnTo>
                <a:lnTo>
                  <a:pt x="6076950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0883110" y="6860735"/>
            <a:ext cx="875024" cy="864086"/>
          </a:xfrm>
          <a:custGeom>
            <a:avLst/>
            <a:gdLst/>
            <a:ahLst/>
            <a:cxnLst/>
            <a:rect l="l" t="t" r="r" b="b"/>
            <a:pathLst>
              <a:path w="762000" h="752475">
                <a:moveTo>
                  <a:pt x="0" y="0"/>
                </a:moveTo>
                <a:lnTo>
                  <a:pt x="762000" y="0"/>
                </a:lnTo>
                <a:lnTo>
                  <a:pt x="762000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12027532" y="6896063"/>
            <a:ext cx="5433606" cy="5706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36"/>
              </a:lnSpc>
            </a:pPr>
            <a:r>
              <a:rPr lang="en-US" sz="2000" spc="-73" dirty="0" err="1">
                <a:solidFill>
                  <a:srgbClr val="3A3A66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RedSeer</a:t>
            </a:r>
            <a:r>
              <a:rPr lang="en-US" sz="2000" spc="-73" dirty="0">
                <a:solidFill>
                  <a:srgbClr val="3A3A66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 Consulting. (2023). Women Safety Devices and Apps Market in India.</a:t>
            </a:r>
          </a:p>
        </p:txBody>
      </p:sp>
      <p:sp>
        <p:nvSpPr>
          <p:cNvPr id="37" name="Freeform 37"/>
          <p:cNvSpPr/>
          <p:nvPr/>
        </p:nvSpPr>
        <p:spPr>
          <a:xfrm>
            <a:off x="10883110" y="7713883"/>
            <a:ext cx="6978316" cy="229694"/>
          </a:xfrm>
          <a:custGeom>
            <a:avLst/>
            <a:gdLst/>
            <a:ahLst/>
            <a:cxnLst/>
            <a:rect l="l" t="t" r="r" b="b"/>
            <a:pathLst>
              <a:path w="6076950" h="200025">
                <a:moveTo>
                  <a:pt x="0" y="0"/>
                </a:moveTo>
                <a:lnTo>
                  <a:pt x="6076950" y="0"/>
                </a:lnTo>
                <a:lnTo>
                  <a:pt x="6076950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10883110" y="7932639"/>
            <a:ext cx="875024" cy="864086"/>
          </a:xfrm>
          <a:custGeom>
            <a:avLst/>
            <a:gdLst/>
            <a:ahLst/>
            <a:cxnLst/>
            <a:rect l="l" t="t" r="r" b="b"/>
            <a:pathLst>
              <a:path w="762000" h="752475">
                <a:moveTo>
                  <a:pt x="0" y="0"/>
                </a:moveTo>
                <a:lnTo>
                  <a:pt x="762000" y="0"/>
                </a:lnTo>
                <a:lnTo>
                  <a:pt x="762000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12030823" y="7996090"/>
            <a:ext cx="5104452" cy="5706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36"/>
              </a:lnSpc>
            </a:pPr>
            <a:r>
              <a:rPr lang="en-US" sz="2000" spc="-73">
                <a:solidFill>
                  <a:srgbClr val="3A3A66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Statista. (2024). Women's Safety Devices Market Growth (India).</a:t>
            </a:r>
          </a:p>
        </p:txBody>
      </p:sp>
      <p:sp>
        <p:nvSpPr>
          <p:cNvPr id="40" name="Freeform 40"/>
          <p:cNvSpPr/>
          <p:nvPr/>
        </p:nvSpPr>
        <p:spPr>
          <a:xfrm>
            <a:off x="10883110" y="8785788"/>
            <a:ext cx="6978316" cy="229694"/>
          </a:xfrm>
          <a:custGeom>
            <a:avLst/>
            <a:gdLst/>
            <a:ahLst/>
            <a:cxnLst/>
            <a:rect l="l" t="t" r="r" b="b"/>
            <a:pathLst>
              <a:path w="6076950" h="200025">
                <a:moveTo>
                  <a:pt x="0" y="0"/>
                </a:moveTo>
                <a:lnTo>
                  <a:pt x="6076950" y="0"/>
                </a:lnTo>
                <a:lnTo>
                  <a:pt x="6076950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10883110" y="9004544"/>
            <a:ext cx="875024" cy="864086"/>
          </a:xfrm>
          <a:custGeom>
            <a:avLst/>
            <a:gdLst/>
            <a:ahLst/>
            <a:cxnLst/>
            <a:rect l="l" t="t" r="r" b="b"/>
            <a:pathLst>
              <a:path w="762000" h="752475">
                <a:moveTo>
                  <a:pt x="0" y="0"/>
                </a:moveTo>
                <a:lnTo>
                  <a:pt x="762000" y="0"/>
                </a:lnTo>
                <a:lnTo>
                  <a:pt x="762000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42" name="TextBox 42"/>
          <p:cNvSpPr txBox="1"/>
          <p:nvPr/>
        </p:nvSpPr>
        <p:spPr>
          <a:xfrm>
            <a:off x="12037710" y="9065977"/>
            <a:ext cx="5945490" cy="5706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36"/>
              </a:lnSpc>
            </a:pPr>
            <a:r>
              <a:rPr lang="en-US" sz="2000" spc="-73" dirty="0">
                <a:solidFill>
                  <a:srgbClr val="3A3A66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World Health Organization (WHO). (2021). </a:t>
            </a:r>
          </a:p>
          <a:p>
            <a:pPr>
              <a:lnSpc>
                <a:spcPts val="2236"/>
              </a:lnSpc>
            </a:pPr>
            <a:r>
              <a:rPr lang="en-US" sz="2000" spc="-73" dirty="0">
                <a:solidFill>
                  <a:srgbClr val="3A3A66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Violence Against Women – Global Insights.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25405" y="2465821"/>
            <a:ext cx="8358704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73"/>
              </a:lnSpc>
            </a:pPr>
            <a:r>
              <a:rPr lang="en-US" sz="2310" spc="-92">
                <a:solidFill>
                  <a:srgbClr val="3A3A66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Insights from real-world data, user studies and existing solutions.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031495" y="6007001"/>
            <a:ext cx="5037264" cy="5520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88"/>
              </a:lnSpc>
            </a:pPr>
            <a:r>
              <a:rPr lang="en-US" sz="2000" spc="-69" dirty="0" err="1">
                <a:solidFill>
                  <a:srgbClr val="3A3A66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LocalCircles</a:t>
            </a:r>
            <a:r>
              <a:rPr lang="en-US" sz="2000" spc="-69" dirty="0">
                <a:solidFill>
                  <a:srgbClr val="3A3A66"/>
                </a:solidFill>
                <a:latin typeface="Microsoft Tai Le" panose="020B0502040204020203" pitchFamily="34" charset="0"/>
                <a:ea typeface="Inter"/>
                <a:cs typeface="Microsoft Tai Le" panose="020B0502040204020203" pitchFamily="34" charset="0"/>
                <a:sym typeface="Inter"/>
              </a:rPr>
              <a:t>. (2022). Women Safety Survey in India.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233001" y="6152774"/>
            <a:ext cx="215226" cy="375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 b="1" spc="-110">
                <a:solidFill>
                  <a:srgbClr val="0050FB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3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237182" y="8187068"/>
            <a:ext cx="206865" cy="375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 b="1" spc="-110">
                <a:solidFill>
                  <a:srgbClr val="0050FB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5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232734" y="9256956"/>
            <a:ext cx="215759" cy="375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 b="1" spc="-110">
                <a:solidFill>
                  <a:srgbClr val="0050FB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6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235936" y="5113023"/>
            <a:ext cx="209356" cy="375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 b="1" spc="-110">
                <a:solidFill>
                  <a:srgbClr val="0050FB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2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227488" y="7087042"/>
            <a:ext cx="226253" cy="375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 b="1" spc="-110">
                <a:solidFill>
                  <a:srgbClr val="0050FB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4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272579" y="4133548"/>
            <a:ext cx="136070" cy="375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 b="1" spc="-110">
                <a:solidFill>
                  <a:srgbClr val="0050FB"/>
                </a:solidFill>
                <a:latin typeface="Microsoft Tai Le" panose="020B0502040204020203" pitchFamily="34" charset="0"/>
                <a:ea typeface="Inter Semi-Bold"/>
                <a:cs typeface="Microsoft Tai Le" panose="020B0502040204020203" pitchFamily="34" charset="0"/>
                <a:sym typeface="Inter Semi-Bold"/>
              </a:rPr>
              <a:t>1</a:t>
            </a:r>
          </a:p>
        </p:txBody>
      </p:sp>
      <p:sp>
        <p:nvSpPr>
          <p:cNvPr id="55" name="TextBox 6">
            <a:extLst>
              <a:ext uri="{FF2B5EF4-FFF2-40B4-BE49-F238E27FC236}">
                <a16:creationId xmlns:a16="http://schemas.microsoft.com/office/drawing/2014/main" id="{4B69C195-AD19-4A85-BB0C-244AF7A25B68}"/>
              </a:ext>
            </a:extLst>
          </p:cNvPr>
          <p:cNvSpPr txBox="1"/>
          <p:nvPr/>
        </p:nvSpPr>
        <p:spPr>
          <a:xfrm>
            <a:off x="14227669" y="295907"/>
            <a:ext cx="2841131" cy="4244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42"/>
              </a:lnSpc>
            </a:pPr>
            <a:r>
              <a:rPr lang="en-US" sz="2783" b="1" dirty="0">
                <a:solidFill>
                  <a:srgbClr val="0A74FF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Colossal-a-Pitch</a:t>
            </a:r>
          </a:p>
        </p:txBody>
      </p:sp>
      <p:sp>
        <p:nvSpPr>
          <p:cNvPr id="56" name="TextBox 37">
            <a:extLst>
              <a:ext uri="{FF2B5EF4-FFF2-40B4-BE49-F238E27FC236}">
                <a16:creationId xmlns:a16="http://schemas.microsoft.com/office/drawing/2014/main" id="{4FA4C86A-0DA2-4D10-A987-C7273026EAF7}"/>
              </a:ext>
            </a:extLst>
          </p:cNvPr>
          <p:cNvSpPr txBox="1"/>
          <p:nvPr/>
        </p:nvSpPr>
        <p:spPr>
          <a:xfrm>
            <a:off x="14243709" y="763042"/>
            <a:ext cx="3486165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61"/>
              </a:lnSpc>
            </a:pPr>
            <a:r>
              <a:rPr lang="en-US" sz="1634" b="1" dirty="0" err="1">
                <a:solidFill>
                  <a:srgbClr val="292E4B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Avinya</a:t>
            </a:r>
            <a:r>
              <a:rPr lang="en-US" sz="1634" b="1" dirty="0">
                <a:solidFill>
                  <a:srgbClr val="292E4B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 26</a:t>
            </a:r>
          </a:p>
        </p:txBody>
      </p:sp>
      <p:sp>
        <p:nvSpPr>
          <p:cNvPr id="57" name="TextBox 6">
            <a:extLst>
              <a:ext uri="{FF2B5EF4-FFF2-40B4-BE49-F238E27FC236}">
                <a16:creationId xmlns:a16="http://schemas.microsoft.com/office/drawing/2014/main" id="{D974D5F9-239C-42EF-AD69-181A82A2DDBE}"/>
              </a:ext>
            </a:extLst>
          </p:cNvPr>
          <p:cNvSpPr txBox="1"/>
          <p:nvPr/>
        </p:nvSpPr>
        <p:spPr>
          <a:xfrm>
            <a:off x="405634" y="412330"/>
            <a:ext cx="2841131" cy="4244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42"/>
              </a:lnSpc>
            </a:pPr>
            <a:r>
              <a:rPr lang="en-US" sz="2783" b="1" dirty="0">
                <a:solidFill>
                  <a:srgbClr val="0A74FF"/>
                </a:solidFill>
                <a:latin typeface="Microsoft New Tai Lue" panose="020B0502040204020203" pitchFamily="34" charset="0"/>
                <a:ea typeface="Inter Semi-Bold"/>
                <a:cs typeface="Microsoft New Tai Lue" panose="020B0502040204020203" pitchFamily="34" charset="0"/>
                <a:sym typeface="Inter Semi-Bold"/>
              </a:rPr>
              <a:t>Team Gamma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1065</TotalTime>
  <Words>2153</Words>
  <Application>Microsoft Office PowerPoint</Application>
  <PresentationFormat>Custom</PresentationFormat>
  <Paragraphs>355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Microsoft Tai Le</vt:lpstr>
      <vt:lpstr>Inter Bold</vt:lpstr>
      <vt:lpstr>Inter</vt:lpstr>
      <vt:lpstr>Arial</vt:lpstr>
      <vt:lpstr>Inter Ultra-Bold</vt:lpstr>
      <vt:lpstr>Calibri</vt:lpstr>
      <vt:lpstr>Inter Semi-Bold</vt:lpstr>
      <vt:lpstr>Microsoft New Tai Lue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Navonmesh26' PPT template</dc:title>
  <dc:creator>Mayukh Mondal</dc:creator>
  <cp:lastModifiedBy>Aditya Rana</cp:lastModifiedBy>
  <cp:revision>52</cp:revision>
  <dcterms:created xsi:type="dcterms:W3CDTF">2006-08-16T00:00:00Z</dcterms:created>
  <dcterms:modified xsi:type="dcterms:W3CDTF">2026-10-26T15:12:39Z</dcterms:modified>
  <dc:identifier>DAHVQ8M4lqs</dc:identifier>
</cp:coreProperties>
</file>